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asteWise AI" id="{0893b055-2024-6e56-af8a-270970858fd2}">
          <p14:sldIdLst>
            <p14:sldId id="256"/>
            <p14:sldId id="257"/>
            <p14:sldId id="258"/>
            <p14:sldId id="259"/>
            <p14:sldId id="260"/>
            <p14:sldId id="261"/>
            <p14:sldId id="262"/>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WHAT TO SAY
Good morning. We are presenting WasteWise AI, an AI pipeline that detects waste objects, classifies them into nineteen categories, and refuses to guess when a prediction cannot be trusted. Five of us built it, and each owns one stage: Drashtant the AI pipeline and backend, Nirav the data engineering, Krish the YOLO detector, Smit the OOD and reliability layer, and Ronak the frontend with the live camera. The screenshot you see is our real application.
B. TECHNICAL EXPLANATION
Title and team are exactly as in the final OEP report. The screenshot was captured from the project's own React frontend (idle state, no results shown). There is no institutional logo in the repository, so none is used.
C. LIKELY VIVA QUESTIONS
1. What is WasteWise AI in one sentence?
2. Who did what?
3. Is it a deployed product?
D. SHORT ANSWERS
1. A multi-stage pipeline that detects, classifies and filters waste in images, and gives disposal guidance only for predictions it accepts.
2. Drashtant: AI/ML pipeline, training, backend, architecture. Nirav: datasets and audits. Krish: YOLO11s. Smit: OOD, compatibility, reliability. Ronak: frontend and live camera.
3. No. It is a working local prototype: FastAPI backend plus a React web app.
E. TRANSITION
Let us first look at the problem that motivated this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WHAT TO SAY
Waste segregation is hard because images can contain look-alike materials, mixed objects, medical waste, or things our model never saw. The dangerous part is that a standard classifier always answers. So we set four objectives: detect objects, classify them in detail, reject what we cannot trust, and give disposal guidance only after acceptance. Our principle is that a prediction does not automatically mean acceptance.
B. TECHNICAL EXPLANATION
The four objectives map to four stages: YOLO11s detects, ResNet50 classifies, OOD and semantic compatibility reject, and a rule-based lookup provides guidance for accepted objects only. Rejected objects are still returned by the API with a rejection reason, so nothing disappears silently.
C. LIKELY VIVA QUESTIONS
1. Why not just train a better classifier?
2. What does 'reject' mean in your system?
3. Is this solving waste management?
D. SHORT ANSWERS
1. A softmax classifier ranks its own classes; it has no notion of 'none of the above'. We add independent checks.
2. The object is placed in the rejected list with a reason (OOD or compatibility) and receives no disposal advice.
3. No. It is an academic prototype for one step: recognising waste and refusing untrustworthy cases.
E. TRANSITION
To see how the data supports two different taxonomies, I hand over to Nirav.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WHAT TO SAY
Our system speaks two vocabularies on purpose. The detector uses six practical classes because box-annotated waste data is coarse. The classifier uses nineteen detailed classes, including medical items like gauze, gloves and test tubes. Before any model saw the data, we cleaned it, mapped every source label into one canonical taxonomy, validated annotations, and audited duplicates and provenance, so that the data we train on is traceable.
B. TECHNICAL EXPLANATION
Repository evidence: a canonical manifest of 27,427 images across three classification datasets, validated with zero missing files, zero invalid images and zero cross-dataset exact-duplicate groups. Splits are group-aware and stratified by SHA-256 with seed 42 (train 21,155, validation 2,645, test 2,646), and hash disjointness is asserted in code. Medical Waste 4.0 was split into Dataset A (training/validation pool) and Dataset B (isolated, 801 images). Perceptual-hash candidates were audited but require visual review, so we do not claim all leakage is eliminated. Raw datasets are not in the repository because of licensing.
C. LIKELY VIVA QUESTIONS
1. Why two taxonomies?
2. How did you prevent data leakage?
3. Why are raw datasets not on GitHub?
D. SHORT ANSWERS
1. Detection data is labelled coarsely; classification data supports fine classes. Separating them lets each stage be improved independently and gives us a consistency check.
2. SHA-256 grouping so identical files stay in one split, with an assertion that splits share no hashes. Near-duplicates were audited but not proven absent.
3. Third-party licences and size. We publish code, manifests and audit outputs.
E. TRANSITION
With the taxonomy clear, Drashtant will show how all stages connect in the complete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WHAT TO SAY
This is the whole system. An image goes to YOLO11s, which finds objects. Each box is cropped and classified by the expanded ResNet50 into one of nineteen classes. Then two guardrails: the OOD detector asks whether the crop looks like anything we trained on, and the compatibility gate asks whether the detailed class fits what YOLO saw. Only when both pass is the object accepted and given disposal guidance. FastAPI serves all of this to the React frontend. The core idea is that the system can reject instead of forcing a label.
B. TECHNICAL EXPLANATION
Implemented in src/inference/predict.py (WasteWisePredictor): YOLO at imgsz 640 with default confidence 0.35; the crop is the detected box clamped to image bounds; ResNet preprocessing is Resize 256, CenterCrop 224, ToTensor, ImageNet normalisation; OOD compares the normalised 2048-d embedding with 19 class centroids by cosine similarity; compatibility uses a dictionary of allowed ResNet classes per YOLO class. Accounting: raw = accepted + OOD rejected + compatibility rejected + other rejected. Note: the report's methodology table says 'crop expansion', but the code crops the exact clamped box with no padding; we describe it as a bounding-box crop.
C. LIKELY VIVA QUESTIONS
1. Where is each step in the code?
2. Why two guardrails?
3. Is the crop padded?
D. SHORT ANSWERS
1. predict.py holds detection, crop, classification, OOD and compatibility; ood_detector.py holds the OOD maths; backend/main.py is the API; frontend/src holds the UI.
2. They catch different failures: OOD catches unfamiliar crops; compatibility catches detector–classifier contradictions.
3. No. The detected box is clamped to the image and cropped exactly.
E. TRANSITION
Nirav and Krish will now show how the data and the detector feed this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WHAT TO SAY
Nirav's work and Krish's work meet here. On the left, the data engineering: every dataset was checked for integrity, mapped to our canonical taxonomy, validated for annotation quality, and audited for duplicates and provenance. On the right, the detector trained on that prepared data: YOLO11s localises objects with boxes and confidence scores, and those boxes are handed to the classifier as crops. The image is a real annotation-QA sample from TACO showing a ground-truth box, which is how we verified annotation correctness.
B. TECHNICAL EXPLANATION
The detector was fine-tuned from yolo11s.pt on TACO plus an external garbage-detection set (E4: 90 epochs, imgsz 640, batch 16, patience 20, class-balancing cls_pw 0.5). TACO annotations needed repairs (orientation, clipping) which the repository's QA scripts document. The picture is ground truth from results/dataset_audit/taco/yolo_visual_qa, not a prediction; the stored inference images in the repository come from an older YOLO11n baseline and show no detections, so we do not present them.
C. LIKELY VIVA QUESTIONS
1. What is IoU and why does it matter?
2. How does a detection become a classifier input?
3. Is this image a YOLO prediction?
D. SHORT ANSWERS
1. Intersection over union of two boxes; mAP at 0.50 counts a detection correct when IoU is at least 0.50.
2. The box is rounded and clamped to the image, cropped, then preprocessed (256 → 224 centre crop → normalise).
3. No — it is a ground-truth annotation overlay used for quality assurance.
E. TRANSITION
Krish will now show how well the detector actually performs.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WHAT TO SAY
We want to be honest about this slide. On our E4 validation set of 149 images and 407 instances, the detector reaches precision 0.216, recall 0.261, mAP at 0.50 of 0.232 and mAP at 0.50 to 0.95 of 0.188. Plastic is our best class at 0.443; glass is almost failing at 0.0158. The TACO practical baseline is a separate evaluation setting, so we show it only for context. The conclusion is clear: object detection is our current bottleneck, and this is where future work should start.
B. TECHNICAL EXPLANATION
These are detector metrics (precision, recall, mean average precision), not classification accuracy. mAP@0.50 counts a box correct at IoU ≥ 0.50; mAP@0.50:0.95 averages over stricter IoU thresholds, so it is lower. The E4 table and TACO baseline come from the final report; the raw detector validation output is not stored in the repository (runs/ is git-ignored), so we cannot re-derive it from committed files. Recall 0.261 means most real objects are missed, and those can never reach the classifier.
C. LIKELY VIVA QUESTIONS
1. Is 0.232 an accuracy?
2. Why is the TACO baseline higher than E4?
3. Why is glass so low?
D. SHORT ANSWERS
1. No. It is mean average precision at IoU 0.50 — a detection metric.
2. It is a different evaluation setting, so the two cannot be compared directly; we show it for context only.
3. Glass is transparent and reflective and hard to localise; the exact cause was not proven in our experiments.
E. TRANSITION
Despite this weak detector, the classifier is strong — Drashtant will explain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WHAT TO SAY
The classifier is an ImageNet-pretrained ResNet50 with a small head: 2048 features, dropout, a 256-unit layer, ReLU, dropout, and 19 outputs. Crops are resized to 256, centre-cropped to 224 and normalised with ImageNet statistics. We trained in two stages. Stage 1 trained the head: 25 epochs, batch 32, learning rate 0.0005, best validation Macro-F1 95.75 percent. Stage 2 fine-tuned the last block and reached 96.80 percent validation Macro-F1. On a held-out test split of 2,646 images, Stage 2 scored 95.73 percent accuracy and 95.99 percent Macro-F1. These are classifier metrics, not end-to-end accuracy.
B. TECHNICAL EXPLANATION
Head and training verified in src/models/resnet50_model.py and scripts/train_expanded_resnet50_stage1/2.py: Stage 1 trains only the head (AdamW, class-weighted cross-entropy, ReduceLROnPlateau); Stage 2 unfreezes layer4 with backbone LR 5e-5 and head LR 5e-4. Checkpoints are chosen by validation Macro-F1. The 96.80 % (epoch 6) comes from checkpoint metadata in the report and is not stored in a committed history file. The held-out numbers (95.73 % accuracy, 95.99 % Macro-F1, 2,646 images) are verified in results/metrics/expanded/expanded_resnet50_stage2_test_metrics.json, and the confusion matrix image is rendered from the saved matrix (2,533 of 2,646 correct). Common confusions: glass→plastic 15, clothes→shoes 12, paper→cardboard 9.
C. LIKELY VIVA QUESTIONS
1. Why two training stages?
2. Is 95.99 % your system accuracy?
3. Why Macro-F1?
D. SHORT ANSWERS
1. Train the new head first so random head gradients do not damage pretrained features; then fine-tune layer4 at a lower learning rate.
2. No. It is Macro-F1 of the classifier on a held-out split of labelled images; no end-to-end accuracy was measured.
3. It averages per-class F1 equally, so rare classes such as cable count as much as common ones.
E. TRANSITION
Now Smit will explain the guardrails that decide whether a prediction is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WHAT TO SAY
This is the trust layer. For OOD, we take the 2048-number embedding from ResNet, normalise it, and compare it with the stored centroid of each of the 19 classes using cosine similarity. If the best similarity is below the calibrated threshold, 0.230447, the crop is unsupported. In our recorded example the classifier said cardboard, but the best similarity was 0.1996, below 0.2304, so the object was rejected. The second gate checks semantic consistency: each YOLO class allows only certain ResNet classes, so a battery under a paper detection is rejected. OOD checks whether the crop looks familiar; compatibility checks whether the two models agree.
B. TECHNICAL EXPLANATION
Formulas: f_hat = f/||f||; mu_c = normalise(mean of class-c normalised validation embeddings); s_c = f_hat · mu_c; supported if max_c s_c ≥ 0.230447. The threshold is the 1st percentile of correct-class cosine similarities on the expanded validation set (2,645 samples in models/expanded_ood_calibration.json), so about 1 % of known validation images fall below it by construction. Compatibility is the dictionary DETECTOR_CLASS_COMPATIBILITY in predict.py (other_trash allows ten classes; biological allows one). Rejections are checked in order: OOD first, then compatibility. A recorded COCO negative-set run used the older 0.2383 threshold and accepted 57.76 % of non-waste images, so OOD is a partial safeguard.
C. LIKELY VIVA QUESTIONS
1. Where does 0.230447 come from?
2. Does 'supported' mean the prediction is correct?
3. Does a compatibility rejection mean the classifier is wrong?
D. SHORT ANSWERS
1. The 1st percentile of correct-class cosine similarities on the expanded validation set.
2. No. The best centroid may differ from the predicted class; supported only means the crop looks like something known.
3. Not necessarily: the detector, classifier or the rule table could be at fault. It means the two stages disagree.
E. TRANSITION
Next we look at how these guardrails behave across the whole pipeline, and at the Medical Waste 4.0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WHAT TO SAY
Two things on this slide. First, accountability: every raw detection ends in exactly one bucket — accepted, rejected by OOD, rejected by compatibility, or rejected for another reason — and the API reports all four counts. For example, one run on plastic_42.jpg produced ten raw detections and accepted two; that is a single example, not an average. Second, the Medical Waste 4.0 result: of 6,321 images discovered, 6,249 belong to our supported classes and 72 were excluded. 6,195 were classified correctly, 54 incorrectly, with no inference errors — 99.14 percent classification accuracy on the supported subset. That is not end-to-end accuracy.
B. TECHNICAL EXPLANATION
Accounting is checked by the response flag accounting.is_valid and by test_detection_accounting_invariant. The 99.14 % figure is from the final report (6,195 / 6,249). IMPORTANT for the viva: Medical Waste 4.0 consists of Dataset A (5,520 images, in the classifier's training/validation pool per the canonical manifest) and Dataset B (801 images, isolated external test split). The 6,249 supported images combine A (5,520) and B (729 supported). So 99.14 % is a pooled number and is inflated by training overlap. The independent Dataset B result, verified in results/metrics/expanded/medicalB, is 95.20 % accuracy and 95.43 % Macro-F1 on 729 supported images, with gauze recall only 68.8 %. We kept these extra numbers off the slide because the report does not contain them, but say them if asked. The 1,194.64 ms is one recorded inference, so no latency average is claimed.
C. LIKELY VIVA QUESTIONS
1. Is 99.14 % independent external accuracy?
2. Is 1,194.64 ms your average latency?
3. What is the accounting equation for?
D. SHORT ANSWERS
1. No. It is pooled over Datasets A and B; A was in training/validation. The independent Dataset B gives 95.20 % accuracy and 95.43 % Macro-F1, with weak gauze recall (68.8 %).
2. No. It is one recorded inference on one image; we have not benchmarked an average.
3. To prove every raw detection is accounted for, making the pipeline auditable; accepted share is not accuracy.
E. TRANSITION
Ronak will now show the software that exposes all of this to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WHAT TO SAY
The application has three layers. Ronak built the frontend in React 19 with TypeScript, Vite 8 and Tailwind CSS 4: image upload, a live camera mode and the result visualisation, including bounding boxes. It calls Drashtant's FastAPI backend, which exposes the root endpoint, health, ready and predict. The backend validates the upload — file type, empty files, image integrity and a 25 megabyte limit — loads the models once and reuses them, runs the AI pipeline, and returns structured JSON. The screenshot is our actual interface.
B. TECHNICAL EXPLANATION
Backend: backend/main.py (WasteWise AI API 1.0.0). /health reports liveness without loading models; /ready loads the pipeline lazily and returns 503 if models are missing. /predict accepts multipart field 'file' with optional confidence_threshold and ood_threshold; errors are 400 (bad file), 413 (too large) and 500. Frontend: WasteAnalyzer.tsx draws boxes as left = x1/W×100 %, top = y1/H×100 % inside a wrapper the size of the displayed image, so they stay aligned at any size; LiveCamera.tsx uses a requestAnimationFrame loop with a 500 ms minimum gap and a busy lock, JPEG quality 0.82. Known limitations: the API URL is hard-coded to 127.0.0.1:8000, the frontend upload limit is 10 MB (stricter than the backend's 25 MB), and the inference route blocks the event loop. A live-camera screenshot is not shown because it needs a webcam and the running models.
C. LIKELY VIVA QUESTIONS
1. Difference between /health and /ready?
2. Why percentages for bounding boxes?
3. Is the live camera real-time?
D. SHORT ANSWERS
1. /health says the process is alive; /ready attempts to load the models and returns 503 if the pipeline cannot serve.
2. They are resolution-independent: the same fraction of the image at any displayed size.
3. It is periodic near-real-time: at most one request in flight, roughly every half second; we have not benchmarked latency.
E. TRANSITION
Drashtant will summarise what works, what does not,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WHAT TO SAY
Summarising: we built a complete pipeline — detection, nineteen-class classification, calibrated OOD rejection, semantic compatibility and a deployable FastAPI and React application. Our limitations are real: the detector is weak, our classifier numbers are not end-to-end accuracy, the Medical Waste evaluation covers only the supported subset, and mixed scenes, occlusion, lighting and unseen waste remain hard. Next we would strengthen the detector, improve annotations, broaden open-set evaluation, improve calibration, add video tracking, active learning, edge deployment and regional disposal rules.
B. TECHNICAL EXPLANATION
Honest framing for the viva: state the limitation, give the evidence, say what it implies, name the next step. Evidence: detector mAP@0.50 0.232; no end-to-end ground-truth evaluation exists; the OOD gate accepted 57.76 % of COCO negatives in a recorded run that used the older 0.2383 threshold, and the production threshold has not been tested on negatives; the pooled Medical figure includes training data; no field or user study was done. Engineering debt we know about: hard-coded API URL, duplicated CSS, backup files in the repository, a requirements.txt with duplicate entries.
C. LIKELY VIVA QUESTIONS
1. What is your biggest limitation?
2. How would you improve the detector?
3. What is the next step for OOD?
D. SHORT ANSWERS
1. The detector (mAP@0.50 0.232) and the absence of an end-to-end ground-truth evaluation.
2. More and better-annotated box data, especially glass and other_trash; a larger model or resolution; then re-evaluate the whole pipeline.
3. Evaluate at the production threshold on large non-waste sets and report separability, not just rejection rate.
E. TRANSITION
I will close with the overall journey and each member's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WHAT TO SAY
To conclude: from raw datasets to a deployable application, WasteWise AI connects data, detection, classification, OOD, compatibility, guidance and a working app. Nirav owns the data, Krish the detector, Drashtant the model training, pipeline, backend and architecture, Smit the OOD and compatibility reliability layer, and Ronak the frontend and live camera. The result is a research prototype with a strong classifier, a weak detector that we report honestly, and a design that is built to refuse rather than guess. A useful AI system must know when not to guess. Thank you.
B. TECHNICAL EXPLANATION
Every member should be able to explain the whole pipeline, not only their stage: image → YOLO11s → crop → ResNet50 → OOD → compatibility → accept/reject → guidance → API → UI. The team table is taken from the final report's contribution division. Remember the three precision rules: validation Macro-F1 is not test accuracy; 99.14 % is a pooled supported-subset classification score and not end-to-end accuracy; 1,194.64 ms is a single example.
C. LIKELY VIVA QUESTIONS
1. What did each member contribute?
2. What is the main lesson?
3. What would you do first with more time?
D. SHORT ANSWERS
1. Drashtant: AI/ML, training, backend, architecture. Nirav: datasets. Krish: YOLO11s. Smit: OOD and compatibility. Ronak: frontend and live camera.
2. A confident prediction is not the same as a trustworthy one; guardrails and honest evaluation matter.
3. Improve the detector and build an end-to-end ground-truth evaluation.
E. TRANSITION
End of presentation —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0E7C86"/>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NDARD">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E7C86"/>
          </a:solidFill>
          <a:ln/>
        </p:spPr>
      </p:sp>
      <p:sp>
        <p:nvSpPr>
          <p:cNvPr id="3" name="Shape 1"/>
          <p:cNvSpPr/>
          <p:nvPr/>
        </p:nvSpPr>
        <p:spPr>
          <a:xfrm>
            <a:off x="548640" y="6400800"/>
            <a:ext cx="11091672" cy="0"/>
          </a:xfrm>
          <a:prstGeom prst="line">
            <a:avLst/>
          </a:prstGeom>
          <a:noFill/>
          <a:ln w="9525">
            <a:solidFill>
              <a:srgbClr val="D5DBE1"/>
            </a:solidFill>
            <a:prstDash val="solid"/>
          </a:ln>
        </p:spPr>
      </p:sp>
      <p:sp>
        <p:nvSpPr>
          <p:cNvPr id="4" name="Text 2"/>
          <p:cNvSpPr/>
          <p:nvPr/>
        </p:nvSpPr>
        <p:spPr>
          <a:xfrm>
            <a:off x="548640" y="6446520"/>
            <a:ext cx="8229600" cy="256032"/>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WasteWise AI  ·  Open Ended Assignment in AI  ·  SCET, Sarvajanik University  ·  2026–27</a:t>
            </a:r>
            <a:endParaRPr lang="en-US" sz="1100" dirty="0"/>
          </a:p>
        </p:txBody>
      </p:sp>
      <p:sp>
        <p:nvSpPr>
          <p:cNvPr id="25" name="Slide Number Placeholder 0"/>
          <p:cNvSpPr>
            <a:spLocks noGrp="1"/>
          </p:cNvSpPr>
          <p:nvPr>
            <p:ph type="sldNum" sz="quarter" idx="4294967295"/>
          </p:nvPr>
        </p:nvSpPr>
        <p:spPr>
          <a:xfrm>
            <a:off x="10881360" y="6446520"/>
            <a:ext cx="758952"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C6B7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WO_COL">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E7C86"/>
          </a:solidFill>
          <a:ln/>
        </p:spPr>
      </p:sp>
      <p:sp>
        <p:nvSpPr>
          <p:cNvPr id="3" name="Shape 1"/>
          <p:cNvSpPr/>
          <p:nvPr/>
        </p:nvSpPr>
        <p:spPr>
          <a:xfrm>
            <a:off x="548640" y="6400800"/>
            <a:ext cx="11091672" cy="0"/>
          </a:xfrm>
          <a:prstGeom prst="line">
            <a:avLst/>
          </a:prstGeom>
          <a:noFill/>
          <a:ln w="9525">
            <a:solidFill>
              <a:srgbClr val="D5DBE1"/>
            </a:solidFill>
            <a:prstDash val="solid"/>
          </a:ln>
        </p:spPr>
      </p:sp>
      <p:sp>
        <p:nvSpPr>
          <p:cNvPr id="4" name="Text 2"/>
          <p:cNvSpPr/>
          <p:nvPr/>
        </p:nvSpPr>
        <p:spPr>
          <a:xfrm>
            <a:off x="548640" y="6446520"/>
            <a:ext cx="8229600" cy="256032"/>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WasteWise AI  ·  Open Ended Assignment in AI  ·  SCET, Sarvajanik University  ·  2026–27</a:t>
            </a:r>
            <a:endParaRPr lang="en-US" sz="1100" dirty="0"/>
          </a:p>
        </p:txBody>
      </p:sp>
      <p:sp>
        <p:nvSpPr>
          <p:cNvPr id="5" name="Shape 3"/>
          <p:cNvSpPr/>
          <p:nvPr/>
        </p:nvSpPr>
        <p:spPr>
          <a:xfrm>
            <a:off x="6096305" y="1417320"/>
            <a:ext cx="0" cy="4800600"/>
          </a:xfrm>
          <a:prstGeom prst="line">
            <a:avLst/>
          </a:prstGeom>
          <a:noFill/>
          <a:ln w="12700">
            <a:solidFill>
              <a:srgbClr val="D5DBE1"/>
            </a:solidFill>
            <a:prstDash val="solid"/>
          </a:ln>
        </p:spPr>
      </p:sp>
      <p:sp>
        <p:nvSpPr>
          <p:cNvPr id="25" name="Slide Number Placeholder 0"/>
          <p:cNvSpPr>
            <a:spLocks noGrp="1"/>
          </p:cNvSpPr>
          <p:nvPr>
            <p:ph type="sldNum" sz="quarter" idx="4294967295"/>
          </p:nvPr>
        </p:nvSpPr>
        <p:spPr>
          <a:xfrm>
            <a:off x="10881360" y="6446520"/>
            <a:ext cx="758952"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C6B7A"/>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RCH">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E7C86"/>
          </a:solidFill>
          <a:ln/>
        </p:spPr>
      </p:sp>
      <p:sp>
        <p:nvSpPr>
          <p:cNvPr id="3" name="Shape 1"/>
          <p:cNvSpPr/>
          <p:nvPr/>
        </p:nvSpPr>
        <p:spPr>
          <a:xfrm>
            <a:off x="548640" y="6400800"/>
            <a:ext cx="11091672" cy="0"/>
          </a:xfrm>
          <a:prstGeom prst="line">
            <a:avLst/>
          </a:prstGeom>
          <a:noFill/>
          <a:ln w="9525">
            <a:solidFill>
              <a:srgbClr val="D5DBE1"/>
            </a:solidFill>
            <a:prstDash val="solid"/>
          </a:ln>
        </p:spPr>
      </p:sp>
      <p:sp>
        <p:nvSpPr>
          <p:cNvPr id="4" name="Text 2"/>
          <p:cNvSpPr/>
          <p:nvPr/>
        </p:nvSpPr>
        <p:spPr>
          <a:xfrm>
            <a:off x="548640" y="6446520"/>
            <a:ext cx="8229600" cy="256032"/>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WasteWise AI  ·  Open Ended Assignment in AI  ·  SCET, Sarvajanik University  ·  2026–27</a:t>
            </a:r>
            <a:endParaRPr lang="en-US" sz="1100" dirty="0"/>
          </a:p>
        </p:txBody>
      </p:sp>
      <p:sp>
        <p:nvSpPr>
          <p:cNvPr id="5" name="Shape 3"/>
          <p:cNvSpPr/>
          <p:nvPr/>
        </p:nvSpPr>
        <p:spPr>
          <a:xfrm>
            <a:off x="411480" y="1463040"/>
            <a:ext cx="11365992" cy="3337560"/>
          </a:xfrm>
          <a:prstGeom prst="rect">
            <a:avLst/>
          </a:prstGeom>
          <a:solidFill>
            <a:srgbClr val="FFFFFF"/>
          </a:solidFill>
          <a:ln w="9525">
            <a:solidFill>
              <a:srgbClr val="D5DBE1"/>
            </a:solidFill>
            <a:prstDash val="solid"/>
          </a:ln>
        </p:spPr>
      </p:sp>
      <p:sp>
        <p:nvSpPr>
          <p:cNvPr id="25" name="Slide Number Placeholder 0"/>
          <p:cNvSpPr>
            <a:spLocks noGrp="1"/>
          </p:cNvSpPr>
          <p:nvPr>
            <p:ph type="sldNum" sz="quarter" idx="4294967295"/>
          </p:nvPr>
        </p:nvSpPr>
        <p:spPr>
          <a:xfrm>
            <a:off x="10881360" y="6446520"/>
            <a:ext cx="758952"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C6B7A"/>
                </a:solidFill>
                <a:latin typeface="Calibri"/>
                <a:ea typeface="Calibri"/>
                <a:cs typeface="Calibri"/>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METRICS">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E7C86"/>
          </a:solidFill>
          <a:ln/>
        </p:spPr>
      </p:sp>
      <p:sp>
        <p:nvSpPr>
          <p:cNvPr id="3" name="Shape 1"/>
          <p:cNvSpPr/>
          <p:nvPr/>
        </p:nvSpPr>
        <p:spPr>
          <a:xfrm>
            <a:off x="548640" y="6400800"/>
            <a:ext cx="11091672" cy="0"/>
          </a:xfrm>
          <a:prstGeom prst="line">
            <a:avLst/>
          </a:prstGeom>
          <a:noFill/>
          <a:ln w="9525">
            <a:solidFill>
              <a:srgbClr val="D5DBE1"/>
            </a:solidFill>
            <a:prstDash val="solid"/>
          </a:ln>
        </p:spPr>
      </p:sp>
      <p:sp>
        <p:nvSpPr>
          <p:cNvPr id="4" name="Text 2"/>
          <p:cNvSpPr/>
          <p:nvPr/>
        </p:nvSpPr>
        <p:spPr>
          <a:xfrm>
            <a:off x="548640" y="6446520"/>
            <a:ext cx="8229600" cy="256032"/>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WasteWise AI  ·  Open Ended Assignment in AI  ·  SCET, Sarvajanik University  ·  2026–27</a:t>
            </a:r>
            <a:endParaRPr lang="en-US" sz="1100" dirty="0"/>
          </a:p>
        </p:txBody>
      </p:sp>
      <p:sp>
        <p:nvSpPr>
          <p:cNvPr id="5" name="Shape 3"/>
          <p:cNvSpPr/>
          <p:nvPr/>
        </p:nvSpPr>
        <p:spPr>
          <a:xfrm>
            <a:off x="411480" y="1371600"/>
            <a:ext cx="11365992" cy="4892040"/>
          </a:xfrm>
          <a:prstGeom prst="rect">
            <a:avLst/>
          </a:prstGeom>
          <a:solidFill>
            <a:srgbClr val="FFFFFF"/>
          </a:solidFill>
          <a:ln w="9525">
            <a:solidFill>
              <a:srgbClr val="D5DBE1"/>
            </a:solidFill>
            <a:prstDash val="solid"/>
          </a:ln>
        </p:spPr>
      </p:sp>
      <p:sp>
        <p:nvSpPr>
          <p:cNvPr id="25" name="Slide Number Placeholder 0"/>
          <p:cNvSpPr>
            <a:spLocks noGrp="1"/>
          </p:cNvSpPr>
          <p:nvPr>
            <p:ph type="sldNum" sz="quarter" idx="4294967295"/>
          </p:nvPr>
        </p:nvSpPr>
        <p:spPr>
          <a:xfrm>
            <a:off x="10881360" y="6446520"/>
            <a:ext cx="758952"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C6B7A"/>
                </a:solidFill>
                <a:latin typeface="Calibri"/>
                <a:ea typeface="Calibri"/>
                <a:cs typeface="Calibri"/>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CREENSHOT">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E7C86"/>
          </a:solidFill>
          <a:ln/>
        </p:spPr>
      </p:sp>
      <p:sp>
        <p:nvSpPr>
          <p:cNvPr id="3" name="Shape 1"/>
          <p:cNvSpPr/>
          <p:nvPr/>
        </p:nvSpPr>
        <p:spPr>
          <a:xfrm>
            <a:off x="548640" y="6400800"/>
            <a:ext cx="11091672" cy="0"/>
          </a:xfrm>
          <a:prstGeom prst="line">
            <a:avLst/>
          </a:prstGeom>
          <a:noFill/>
          <a:ln w="9525">
            <a:solidFill>
              <a:srgbClr val="D5DBE1"/>
            </a:solidFill>
            <a:prstDash val="solid"/>
          </a:ln>
        </p:spPr>
      </p:sp>
      <p:sp>
        <p:nvSpPr>
          <p:cNvPr id="4" name="Text 2"/>
          <p:cNvSpPr/>
          <p:nvPr/>
        </p:nvSpPr>
        <p:spPr>
          <a:xfrm>
            <a:off x="548640" y="6446520"/>
            <a:ext cx="8229600" cy="256032"/>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WasteWise AI  ·  Open Ended Assignment in AI  ·  SCET, Sarvajanik University  ·  2026–27</a:t>
            </a:r>
            <a:endParaRPr lang="en-US" sz="1100" dirty="0"/>
          </a:p>
        </p:txBody>
      </p:sp>
      <p:sp>
        <p:nvSpPr>
          <p:cNvPr id="5" name="Shape 3"/>
          <p:cNvSpPr/>
          <p:nvPr/>
        </p:nvSpPr>
        <p:spPr>
          <a:xfrm>
            <a:off x="5897880" y="1371600"/>
            <a:ext cx="5879592" cy="4892040"/>
          </a:xfrm>
          <a:prstGeom prst="rect">
            <a:avLst/>
          </a:prstGeom>
          <a:solidFill>
            <a:srgbClr val="FFFFFF"/>
          </a:solidFill>
          <a:ln w="9525">
            <a:solidFill>
              <a:srgbClr val="D5DBE1"/>
            </a:solidFill>
            <a:prstDash val="solid"/>
          </a:ln>
        </p:spPr>
      </p:sp>
      <p:sp>
        <p:nvSpPr>
          <p:cNvPr id="25" name="Slide Number Placeholder 0"/>
          <p:cNvSpPr>
            <a:spLocks noGrp="1"/>
          </p:cNvSpPr>
          <p:nvPr>
            <p:ph type="sldNum" sz="quarter" idx="4294967295"/>
          </p:nvPr>
        </p:nvSpPr>
        <p:spPr>
          <a:xfrm>
            <a:off x="10881360" y="6446520"/>
            <a:ext cx="758952"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C6B7A"/>
                </a:solidFill>
                <a:latin typeface="Calibri"/>
                <a:ea typeface="Calibri"/>
                <a:cs typeface="Calibri"/>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FINAL">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0E7C86"/>
          </a:solidFill>
          <a:ln/>
        </p:spPr>
      </p:sp>
      <p:sp>
        <p:nvSpPr>
          <p:cNvPr id="3" name="Shape 1"/>
          <p:cNvSpPr/>
          <p:nvPr/>
        </p:nvSpPr>
        <p:spPr>
          <a:xfrm>
            <a:off x="548640" y="6400800"/>
            <a:ext cx="11091672" cy="0"/>
          </a:xfrm>
          <a:prstGeom prst="line">
            <a:avLst/>
          </a:prstGeom>
          <a:noFill/>
          <a:ln w="9525">
            <a:solidFill>
              <a:srgbClr val="D5DBE1"/>
            </a:solidFill>
            <a:prstDash val="solid"/>
          </a:ln>
        </p:spPr>
      </p:sp>
      <p:sp>
        <p:nvSpPr>
          <p:cNvPr id="4" name="Text 2"/>
          <p:cNvSpPr/>
          <p:nvPr/>
        </p:nvSpPr>
        <p:spPr>
          <a:xfrm>
            <a:off x="548640" y="6446520"/>
            <a:ext cx="8229600" cy="256032"/>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WasteWise AI  ·  Open Ended Assignment in AI  ·  SCET, Sarvajanik University  ·  2026–27</a:t>
            </a:r>
            <a:endParaRPr lang="en-US" sz="1100" dirty="0"/>
          </a:p>
        </p:txBody>
      </p:sp>
      <p:sp>
        <p:nvSpPr>
          <p:cNvPr id="25" name="Slide Number Placeholder 0"/>
          <p:cNvSpPr>
            <a:spLocks noGrp="1"/>
          </p:cNvSpPr>
          <p:nvPr>
            <p:ph type="sldNum" sz="quarter" idx="4294967295"/>
          </p:nvPr>
        </p:nvSpPr>
        <p:spPr>
          <a:xfrm>
            <a:off x="10881360" y="6446520"/>
            <a:ext cx="758952"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C6B7A"/>
                </a:solidFill>
                <a:latin typeface="Calibri"/>
                <a:ea typeface="Calibri"/>
                <a:cs typeface="Calibri"/>
              </a:defRPr>
            </a:lvl1pPr>
          </a:lstStyle>
          <a:p>
            <a:pPr algn="r"/>
            <a:fld id="{F7021451-1387-4CA6-816F-3879F97B5CBC}" type="slidenum">
              <a:rPr b="0" lang="en-US"/>
              <a:t>1008</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446520"/>
            <a:ext cx="758952"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C6B7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6.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7.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02920"/>
            <a:ext cx="7315200" cy="274320"/>
          </a:xfrm>
          <a:prstGeom prst="rect">
            <a:avLst/>
          </a:prstGeom>
          <a:noFill/>
          <a:ln/>
        </p:spPr>
        <p:txBody>
          <a:bodyPr wrap="square" lIns="0" tIns="0" rIns="0" bIns="0" rtlCol="0" anchor="t"/>
          <a:lstStyle/>
          <a:p>
            <a:pPr indent="0" marL="0">
              <a:buNone/>
            </a:pPr>
            <a:r>
              <a:rPr lang="en-US" sz="1200" b="1" spc="300" kern="0" dirty="0">
                <a:solidFill>
                  <a:srgbClr val="0E7C86"/>
                </a:solidFill>
                <a:latin typeface="Calibri" pitchFamily="34" charset="0"/>
                <a:ea typeface="Calibri" pitchFamily="34" charset="-122"/>
                <a:cs typeface="Calibri" pitchFamily="34" charset="-120"/>
              </a:rPr>
              <a:t>OPEN ENDED ASSIGNMENT  ·  ARTIFICIAL INTELLIGENCE</a:t>
            </a:r>
            <a:endParaRPr lang="en-US" sz="1200" dirty="0"/>
          </a:p>
        </p:txBody>
      </p:sp>
      <p:sp>
        <p:nvSpPr>
          <p:cNvPr id="3" name="Text 1"/>
          <p:cNvSpPr txBox="1"/>
          <p:nvPr/>
        </p:nvSpPr>
        <p:spPr>
          <a:xfrm>
            <a:off x="731520" y="960120"/>
            <a:ext cx="6035040" cy="914400"/>
          </a:xfrm>
          <a:prstGeom prst="rect">
            <a:avLst/>
          </a:prstGeom>
          <a:noFill/>
          <a:ln/>
        </p:spPr>
        <p:txBody>
          <a:bodyPr wrap="square" lIns="0" tIns="0" rIns="0" bIns="0" rtlCol="0" anchor="t"/>
          <a:lstStyle/>
          <a:p>
            <a:pPr indent="0" marL="0">
              <a:buNone/>
            </a:pPr>
            <a:r>
              <a:rPr lang="en-US" sz="5600" b="1" dirty="0">
                <a:solidFill>
                  <a:srgbClr val="1B2733"/>
                </a:solidFill>
                <a:latin typeface="Calibri" pitchFamily="34" charset="0"/>
                <a:ea typeface="Calibri" pitchFamily="34" charset="-122"/>
                <a:cs typeface="Calibri" pitchFamily="34" charset="-120"/>
              </a:rPr>
              <a:t>WasteWise AI</a:t>
            </a:r>
            <a:endParaRPr lang="en-US" sz="5600" dirty="0"/>
          </a:p>
        </p:txBody>
      </p:sp>
      <p:sp>
        <p:nvSpPr>
          <p:cNvPr id="4" name="Text 2"/>
          <p:cNvSpPr txBox="1"/>
          <p:nvPr/>
        </p:nvSpPr>
        <p:spPr>
          <a:xfrm>
            <a:off x="731520" y="2011680"/>
            <a:ext cx="5760720" cy="1097280"/>
          </a:xfrm>
          <a:prstGeom prst="rect">
            <a:avLst/>
          </a:prstGeom>
          <a:noFill/>
          <a:ln/>
        </p:spPr>
        <p:txBody>
          <a:bodyPr wrap="square" lIns="0" tIns="0" rIns="0" bIns="0" rtlCol="0" anchor="t"/>
          <a:lstStyle/>
          <a:p>
            <a:pPr indent="0" marL="0">
              <a:buNone/>
            </a:pPr>
            <a:r>
              <a:rPr lang="en-US" sz="2400" dirty="0">
                <a:solidFill>
                  <a:srgbClr val="22313F"/>
                </a:solidFill>
                <a:latin typeface="Calibri" pitchFamily="34" charset="0"/>
                <a:ea typeface="Calibri" pitchFamily="34" charset="-122"/>
                <a:cs typeface="Calibri" pitchFamily="34" charset="-120"/>
              </a:rPr>
              <a:t>Intelligent Multi-Class Waste Detection and Classification Using Neural Networks</a:t>
            </a:r>
            <a:endParaRPr lang="en-US" sz="2400" dirty="0"/>
          </a:p>
        </p:txBody>
      </p:sp>
      <p:sp>
        <p:nvSpPr>
          <p:cNvPr id="5" name="Text 3"/>
          <p:cNvSpPr txBox="1"/>
          <p:nvPr/>
        </p:nvSpPr>
        <p:spPr>
          <a:xfrm>
            <a:off x="731520" y="3337560"/>
            <a:ext cx="5760720" cy="1188720"/>
          </a:xfrm>
          <a:prstGeom prst="rect">
            <a:avLst/>
          </a:prstGeom>
          <a:noFill/>
          <a:ln/>
        </p:spPr>
        <p:txBody>
          <a:bodyPr wrap="square" lIns="0" tIns="0" rIns="0" bIns="0" rtlCol="0" anchor="t"/>
          <a:lstStyle/>
          <a:p>
            <a:pPr indent="0" marL="0">
              <a:buNone/>
            </a:pPr>
            <a:r>
              <a:rPr lang="en-US" sz="1500" dirty="0">
                <a:solidFill>
                  <a:srgbClr val="5C6B7A"/>
                </a:solidFill>
                <a:latin typeface="Calibri" pitchFamily="34" charset="0"/>
                <a:ea typeface="Calibri" pitchFamily="34" charset="-122"/>
                <a:cs typeface="Calibri" pitchFamily="34" charset="-120"/>
              </a:rPr>
              <a:t>Sarvajanik College of Engineering &amp; Technology</a:t>
            </a:r>
            <a:endParaRPr lang="en-US" sz="1500" dirty="0"/>
          </a:p>
          <a:p>
            <a:pPr indent="0" marL="0">
              <a:buNone/>
            </a:pPr>
            <a:r>
              <a:rPr lang="en-US" sz="1500" dirty="0">
                <a:solidFill>
                  <a:srgbClr val="5C6B7A"/>
                </a:solidFill>
                <a:latin typeface="Calibri" pitchFamily="34" charset="0"/>
                <a:ea typeface="Calibri" pitchFamily="34" charset="-122"/>
                <a:cs typeface="Calibri" pitchFamily="34" charset="-120"/>
              </a:rPr>
              <a:t>Sarvajanik University, Surat</a:t>
            </a:r>
            <a:endParaRPr lang="en-US" sz="1500" dirty="0"/>
          </a:p>
          <a:p>
            <a:pPr indent="0" marL="0">
              <a:buNone/>
            </a:pPr>
            <a:r>
              <a:rPr lang="en-US" sz="1500" dirty="0">
                <a:solidFill>
                  <a:srgbClr val="5C6B7A"/>
                </a:solidFill>
                <a:latin typeface="Calibri" pitchFamily="34" charset="0"/>
                <a:ea typeface="Calibri" pitchFamily="34" charset="-122"/>
                <a:cs typeface="Calibri" pitchFamily="34" charset="-120"/>
              </a:rPr>
              <a:t>Computer Engineering Department</a:t>
            </a:r>
            <a:endParaRPr lang="en-US" sz="1500" dirty="0"/>
          </a:p>
          <a:p>
            <a:pPr indent="0" marL="0">
              <a:buNone/>
            </a:pPr>
            <a:r>
              <a:rPr lang="en-US" sz="1500" dirty="0">
                <a:solidFill>
                  <a:srgbClr val="5C6B7A"/>
                </a:solidFill>
                <a:latin typeface="Calibri" pitchFamily="34" charset="0"/>
                <a:ea typeface="Calibri" pitchFamily="34" charset="-122"/>
                <a:cs typeface="Calibri" pitchFamily="34" charset="-120"/>
              </a:rPr>
              <a:t>Academic Year 2026–27</a:t>
            </a:r>
            <a:endParaRPr lang="en-US" sz="1500" dirty="0"/>
          </a:p>
        </p:txBody>
      </p:sp>
      <p:sp>
        <p:nvSpPr>
          <p:cNvPr id="6" name="Shape 4"/>
          <p:cNvSpPr/>
          <p:nvPr/>
        </p:nvSpPr>
        <p:spPr>
          <a:xfrm>
            <a:off x="6858000" y="685800"/>
            <a:ext cx="4800600" cy="3200400"/>
          </a:xfrm>
          <a:prstGeom prst="rect">
            <a:avLst/>
          </a:prstGeom>
          <a:solidFill>
            <a:srgbClr val="FFFFFF"/>
          </a:solidFill>
          <a:ln w="12700">
            <a:solidFill>
              <a:srgbClr val="D5DBE1"/>
            </a:solidFill>
            <a:prstDash val="solid"/>
          </a:ln>
        </p:spPr>
      </p:sp>
      <p:pic>
        <p:nvPicPr>
          <p:cNvPr id="7" name="Image 0" descr="ui_hero.jpg">    </p:cNvPr>
          <p:cNvPicPr>
            <a:picLocks noChangeAspect="1"/>
          </p:cNvPicPr>
          <p:nvPr/>
        </p:nvPicPr>
        <p:blipFill>
          <a:blip r:embed="rId1"/>
          <a:stretch>
            <a:fillRect/>
          </a:stretch>
        </p:blipFill>
        <p:spPr>
          <a:xfrm>
            <a:off x="6903720" y="731520"/>
            <a:ext cx="4709160" cy="2941754"/>
          </a:xfrm>
          <a:prstGeom prst="rect">
            <a:avLst/>
          </a:prstGeom>
        </p:spPr>
      </p:pic>
      <p:sp>
        <p:nvSpPr>
          <p:cNvPr id="8" name="Text 5"/>
          <p:cNvSpPr txBox="1"/>
          <p:nvPr/>
        </p:nvSpPr>
        <p:spPr>
          <a:xfrm>
            <a:off x="6858000" y="3950208"/>
            <a:ext cx="4800600" cy="256032"/>
          </a:xfrm>
          <a:prstGeom prst="rect">
            <a:avLst/>
          </a:prstGeom>
          <a:noFill/>
          <a:ln/>
        </p:spPr>
        <p:txBody>
          <a:bodyPr wrap="square" lIns="0" tIns="0" rIns="0" bIns="0" rtlCol="0" anchor="t"/>
          <a:lstStyle/>
          <a:p>
            <a:pPr algn="ctr" indent="0" marL="0">
              <a:buNone/>
            </a:pPr>
            <a:r>
              <a:rPr lang="en-US" sz="1200" dirty="0">
                <a:solidFill>
                  <a:srgbClr val="5C6B7A"/>
                </a:solidFill>
                <a:latin typeface="Calibri" pitchFamily="34" charset="0"/>
                <a:ea typeface="Calibri" pitchFamily="34" charset="-122"/>
                <a:cs typeface="Calibri" pitchFamily="34" charset="-120"/>
              </a:rPr>
              <a:t>Actual frontend (home screen)</a:t>
            </a:r>
            <a:endParaRPr lang="en-US" sz="1200" dirty="0"/>
          </a:p>
        </p:txBody>
      </p:sp>
      <p:sp>
        <p:nvSpPr>
          <p:cNvPr id="9" name="Text 6"/>
          <p:cNvSpPr txBox="1"/>
          <p:nvPr/>
        </p:nvSpPr>
        <p:spPr>
          <a:xfrm>
            <a:off x="731520" y="4572000"/>
            <a:ext cx="5486400" cy="256032"/>
          </a:xfrm>
          <a:prstGeom prst="rect">
            <a:avLst/>
          </a:prstGeom>
          <a:noFill/>
          <a:ln/>
        </p:spPr>
        <p:txBody>
          <a:bodyPr wrap="square" lIns="0" tIns="0" rIns="0" bIns="0" rtlCol="0" anchor="t"/>
          <a:lstStyle/>
          <a:p>
            <a:pPr indent="0" marL="0">
              <a:buNone/>
            </a:pPr>
            <a:r>
              <a:rPr lang="en-US" sz="1200" b="1" spc="200" kern="0" dirty="0">
                <a:solidFill>
                  <a:srgbClr val="5C6B7A"/>
                </a:solidFill>
                <a:latin typeface="Calibri" pitchFamily="34" charset="0"/>
                <a:ea typeface="Calibri" pitchFamily="34" charset="-122"/>
                <a:cs typeface="Calibri" pitchFamily="34" charset="-120"/>
              </a:rPr>
              <a:t>TEAM CONTRIBUTIONS</a:t>
            </a:r>
            <a:endParaRPr lang="en-US" sz="1200" dirty="0"/>
          </a:p>
        </p:txBody>
      </p:sp>
      <p:sp>
        <p:nvSpPr>
          <p:cNvPr id="10" name="Shape 7"/>
          <p:cNvSpPr/>
          <p:nvPr/>
        </p:nvSpPr>
        <p:spPr>
          <a:xfrm>
            <a:off x="731520" y="4873752"/>
            <a:ext cx="10908792" cy="0"/>
          </a:xfrm>
          <a:prstGeom prst="line">
            <a:avLst/>
          </a:prstGeom>
          <a:noFill/>
          <a:ln w="12700">
            <a:solidFill>
              <a:srgbClr val="D5DBE1"/>
            </a:solidFill>
            <a:prstDash val="solid"/>
          </a:ln>
        </p:spPr>
      </p:sp>
      <p:sp>
        <p:nvSpPr>
          <p:cNvPr id="11" name="Text 8"/>
          <p:cNvSpPr txBox="1"/>
          <p:nvPr/>
        </p:nvSpPr>
        <p:spPr>
          <a:xfrm>
            <a:off x="731520" y="5029200"/>
            <a:ext cx="2103120" cy="365760"/>
          </a:xfrm>
          <a:prstGeom prst="rect">
            <a:avLst/>
          </a:prstGeom>
          <a:noFill/>
          <a:ln/>
        </p:spPr>
        <p:txBody>
          <a:bodyPr wrap="square" lIns="0" tIns="0" rIns="0" bIns="0" rtlCol="0" anchor="t"/>
          <a:lstStyle/>
          <a:p>
            <a:pPr indent="0" marL="0">
              <a:buNone/>
            </a:pPr>
            <a:r>
              <a:rPr lang="en-US" sz="2000" b="1" dirty="0">
                <a:solidFill>
                  <a:srgbClr val="0E7C86"/>
                </a:solidFill>
                <a:latin typeface="Calibri" pitchFamily="34" charset="0"/>
                <a:ea typeface="Calibri" pitchFamily="34" charset="-122"/>
                <a:cs typeface="Calibri" pitchFamily="34" charset="-120"/>
              </a:rPr>
              <a:t>Drashtant</a:t>
            </a:r>
            <a:endParaRPr lang="en-US" sz="2000" dirty="0"/>
          </a:p>
        </p:txBody>
      </p:sp>
      <p:sp>
        <p:nvSpPr>
          <p:cNvPr id="12" name="Text 9"/>
          <p:cNvSpPr txBox="1"/>
          <p:nvPr/>
        </p:nvSpPr>
        <p:spPr>
          <a:xfrm>
            <a:off x="731520" y="5440680"/>
            <a:ext cx="2103120" cy="365760"/>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AI/ML + Backend</a:t>
            </a:r>
            <a:endParaRPr lang="en-US" sz="1400" dirty="0"/>
          </a:p>
        </p:txBody>
      </p:sp>
      <p:sp>
        <p:nvSpPr>
          <p:cNvPr id="13" name="Text 10"/>
          <p:cNvSpPr txBox="1"/>
          <p:nvPr/>
        </p:nvSpPr>
        <p:spPr>
          <a:xfrm>
            <a:off x="2916936" y="5029200"/>
            <a:ext cx="2103120" cy="365760"/>
          </a:xfrm>
          <a:prstGeom prst="rect">
            <a:avLst/>
          </a:prstGeom>
          <a:noFill/>
          <a:ln/>
        </p:spPr>
        <p:txBody>
          <a:bodyPr wrap="square" lIns="0" tIns="0" rIns="0" bIns="0" rtlCol="0" anchor="t"/>
          <a:lstStyle/>
          <a:p>
            <a:pPr indent="0" marL="0">
              <a:buNone/>
            </a:pPr>
            <a:r>
              <a:rPr lang="en-US" sz="2000" b="1" dirty="0">
                <a:solidFill>
                  <a:srgbClr val="0E7C86"/>
                </a:solidFill>
                <a:latin typeface="Calibri" pitchFamily="34" charset="0"/>
                <a:ea typeface="Calibri" pitchFamily="34" charset="-122"/>
                <a:cs typeface="Calibri" pitchFamily="34" charset="-120"/>
              </a:rPr>
              <a:t>Nirav</a:t>
            </a:r>
            <a:endParaRPr lang="en-US" sz="2000" dirty="0"/>
          </a:p>
        </p:txBody>
      </p:sp>
      <p:sp>
        <p:nvSpPr>
          <p:cNvPr id="14" name="Text 11"/>
          <p:cNvSpPr txBox="1"/>
          <p:nvPr/>
        </p:nvSpPr>
        <p:spPr>
          <a:xfrm>
            <a:off x="2916936" y="5440680"/>
            <a:ext cx="2103120" cy="365760"/>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Data Engineering</a:t>
            </a:r>
            <a:endParaRPr lang="en-US" sz="1400" dirty="0"/>
          </a:p>
        </p:txBody>
      </p:sp>
      <p:sp>
        <p:nvSpPr>
          <p:cNvPr id="15" name="Text 12"/>
          <p:cNvSpPr txBox="1"/>
          <p:nvPr/>
        </p:nvSpPr>
        <p:spPr>
          <a:xfrm>
            <a:off x="5102352" y="5029200"/>
            <a:ext cx="2103120" cy="365760"/>
          </a:xfrm>
          <a:prstGeom prst="rect">
            <a:avLst/>
          </a:prstGeom>
          <a:noFill/>
          <a:ln/>
        </p:spPr>
        <p:txBody>
          <a:bodyPr wrap="square" lIns="0" tIns="0" rIns="0" bIns="0" rtlCol="0" anchor="t"/>
          <a:lstStyle/>
          <a:p>
            <a:pPr indent="0" marL="0">
              <a:buNone/>
            </a:pPr>
            <a:r>
              <a:rPr lang="en-US" sz="2000" b="1" dirty="0">
                <a:solidFill>
                  <a:srgbClr val="0E7C86"/>
                </a:solidFill>
                <a:latin typeface="Calibri" pitchFamily="34" charset="0"/>
                <a:ea typeface="Calibri" pitchFamily="34" charset="-122"/>
                <a:cs typeface="Calibri" pitchFamily="34" charset="-120"/>
              </a:rPr>
              <a:t>Krish</a:t>
            </a:r>
            <a:endParaRPr lang="en-US" sz="2000" dirty="0"/>
          </a:p>
        </p:txBody>
      </p:sp>
      <p:sp>
        <p:nvSpPr>
          <p:cNvPr id="16" name="Text 13"/>
          <p:cNvSpPr txBox="1"/>
          <p:nvPr/>
        </p:nvSpPr>
        <p:spPr>
          <a:xfrm>
            <a:off x="5102352" y="5440680"/>
            <a:ext cx="2103120" cy="365760"/>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YOLO11s</a:t>
            </a:r>
            <a:endParaRPr lang="en-US" sz="1400" dirty="0"/>
          </a:p>
        </p:txBody>
      </p:sp>
      <p:sp>
        <p:nvSpPr>
          <p:cNvPr id="17" name="Text 14"/>
          <p:cNvSpPr txBox="1"/>
          <p:nvPr/>
        </p:nvSpPr>
        <p:spPr>
          <a:xfrm>
            <a:off x="7287768" y="5029200"/>
            <a:ext cx="2103120" cy="365760"/>
          </a:xfrm>
          <a:prstGeom prst="rect">
            <a:avLst/>
          </a:prstGeom>
          <a:noFill/>
          <a:ln/>
        </p:spPr>
        <p:txBody>
          <a:bodyPr wrap="square" lIns="0" tIns="0" rIns="0" bIns="0" rtlCol="0" anchor="t"/>
          <a:lstStyle/>
          <a:p>
            <a:pPr indent="0" marL="0">
              <a:buNone/>
            </a:pPr>
            <a:r>
              <a:rPr lang="en-US" sz="2000" b="1" dirty="0">
                <a:solidFill>
                  <a:srgbClr val="0E7C86"/>
                </a:solidFill>
                <a:latin typeface="Calibri" pitchFamily="34" charset="0"/>
                <a:ea typeface="Calibri" pitchFamily="34" charset="-122"/>
                <a:cs typeface="Calibri" pitchFamily="34" charset="-120"/>
              </a:rPr>
              <a:t>Smit</a:t>
            </a:r>
            <a:endParaRPr lang="en-US" sz="2000" dirty="0"/>
          </a:p>
        </p:txBody>
      </p:sp>
      <p:sp>
        <p:nvSpPr>
          <p:cNvPr id="18" name="Text 15"/>
          <p:cNvSpPr txBox="1"/>
          <p:nvPr/>
        </p:nvSpPr>
        <p:spPr>
          <a:xfrm>
            <a:off x="7287768" y="5440680"/>
            <a:ext cx="2103120" cy="365760"/>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OOD + Reliability</a:t>
            </a:r>
            <a:endParaRPr lang="en-US" sz="1400" dirty="0"/>
          </a:p>
        </p:txBody>
      </p:sp>
      <p:sp>
        <p:nvSpPr>
          <p:cNvPr id="19" name="Text 16"/>
          <p:cNvSpPr txBox="1"/>
          <p:nvPr/>
        </p:nvSpPr>
        <p:spPr>
          <a:xfrm>
            <a:off x="9473184" y="5029200"/>
            <a:ext cx="2103120" cy="365760"/>
          </a:xfrm>
          <a:prstGeom prst="rect">
            <a:avLst/>
          </a:prstGeom>
          <a:noFill/>
          <a:ln/>
        </p:spPr>
        <p:txBody>
          <a:bodyPr wrap="square" lIns="0" tIns="0" rIns="0" bIns="0" rtlCol="0" anchor="t"/>
          <a:lstStyle/>
          <a:p>
            <a:pPr indent="0" marL="0">
              <a:buNone/>
            </a:pPr>
            <a:r>
              <a:rPr lang="en-US" sz="2000" b="1" dirty="0">
                <a:solidFill>
                  <a:srgbClr val="0E7C86"/>
                </a:solidFill>
                <a:latin typeface="Calibri" pitchFamily="34" charset="0"/>
                <a:ea typeface="Calibri" pitchFamily="34" charset="-122"/>
                <a:cs typeface="Calibri" pitchFamily="34" charset="-120"/>
              </a:rPr>
              <a:t>Ronak</a:t>
            </a:r>
            <a:endParaRPr lang="en-US" sz="2000" dirty="0"/>
          </a:p>
        </p:txBody>
      </p:sp>
      <p:sp>
        <p:nvSpPr>
          <p:cNvPr id="20" name="Text 17"/>
          <p:cNvSpPr txBox="1"/>
          <p:nvPr/>
        </p:nvSpPr>
        <p:spPr>
          <a:xfrm>
            <a:off x="9473184" y="5440680"/>
            <a:ext cx="2103120" cy="365760"/>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Frontend + Live Camera</a:t>
            </a:r>
            <a:endParaRPr lang="en-US" sz="1400" dirty="0"/>
          </a:p>
        </p:txBody>
      </p:sp>
      <p:sp>
        <p:nvSpPr>
          <p:cNvPr id="21" name="Text 18"/>
          <p:cNvSpPr txBox="1"/>
          <p:nvPr/>
        </p:nvSpPr>
        <p:spPr>
          <a:xfrm>
            <a:off x="731520" y="6126480"/>
            <a:ext cx="10881360" cy="274320"/>
          </a:xfrm>
          <a:prstGeom prst="rect">
            <a:avLst/>
          </a:prstGeom>
          <a:noFill/>
          <a:ln/>
        </p:spPr>
        <p:txBody>
          <a:bodyPr wrap="square" lIns="0" tIns="0" rIns="0" bIns="0" rtlCol="0" anchor="t"/>
          <a:lstStyle/>
          <a:p>
            <a:pPr indent="0" marL="0">
              <a:buNone/>
            </a:pPr>
            <a:r>
              <a:rPr lang="en-US" sz="1200" dirty="0">
                <a:solidFill>
                  <a:srgbClr val="5C6B7A"/>
                </a:solidFill>
                <a:latin typeface="Calibri" pitchFamily="34" charset="0"/>
                <a:ea typeface="Calibri" pitchFamily="34" charset="-122"/>
                <a:cs typeface="Calibri" pitchFamily="34" charset="-120"/>
              </a:rPr>
              <a:t>Full team: Drashtant Mevada · Nirav Panwala · Krish Tandel · Smit Rathod · Ronak Solanki</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47472"/>
            <a:ext cx="8595360" cy="594360"/>
          </a:xfrm>
          <a:prstGeom prst="rect">
            <a:avLst/>
          </a:prstGeom>
          <a:noFill/>
          <a:ln/>
        </p:spPr>
        <p:txBody>
          <a:bodyPr wrap="square" lIns="0" tIns="0" rIns="0" bIns="0" rtlCol="0" anchor="t"/>
          <a:lstStyle/>
          <a:p>
            <a:pPr indent="0" marL="0">
              <a:buNone/>
            </a:pPr>
            <a:r>
              <a:rPr lang="en-US" sz="3000" b="1" dirty="0">
                <a:solidFill>
                  <a:srgbClr val="1B2733"/>
                </a:solidFill>
                <a:latin typeface="Calibri" pitchFamily="34" charset="0"/>
                <a:ea typeface="Calibri" pitchFamily="34" charset="-122"/>
                <a:cs typeface="Calibri" pitchFamily="34" charset="-120"/>
              </a:rPr>
              <a:t>Problem and Objectives</a:t>
            </a:r>
            <a:endParaRPr lang="en-US" sz="3000" dirty="0"/>
          </a:p>
        </p:txBody>
      </p:sp>
      <p:sp>
        <p:nvSpPr>
          <p:cNvPr id="3" name="Text 1"/>
          <p:cNvSpPr txBox="1"/>
          <p:nvPr/>
        </p:nvSpPr>
        <p:spPr>
          <a:xfrm>
            <a:off x="548640" y="932688"/>
            <a:ext cx="10607040" cy="347472"/>
          </a:xfrm>
          <a:prstGeom prst="rect">
            <a:avLst/>
          </a:prstGeom>
          <a:noFill/>
          <a:ln/>
        </p:spPr>
        <p:txBody>
          <a:bodyPr wrap="square" lIns="0" tIns="0" rIns="0" bIns="0" rtlCol="0" anchor="t"/>
          <a:lstStyle/>
          <a:p>
            <a:pPr indent="0" marL="0">
              <a:buNone/>
            </a:pPr>
            <a:r>
              <a:rPr lang="en-US" sz="1600" dirty="0">
                <a:solidFill>
                  <a:srgbClr val="5C6B7A"/>
                </a:solidFill>
                <a:latin typeface="Calibri" pitchFamily="34" charset="0"/>
                <a:ea typeface="Calibri" pitchFamily="34" charset="-122"/>
                <a:cs typeface="Calibri" pitchFamily="34" charset="-120"/>
              </a:rPr>
              <a:t>A classifier can still output a label when it should refuse.</a:t>
            </a:r>
            <a:endParaRPr lang="en-US" sz="1600" dirty="0"/>
          </a:p>
        </p:txBody>
      </p:sp>
      <p:sp>
        <p:nvSpPr>
          <p:cNvPr id="4" name="Text 2"/>
          <p:cNvSpPr txBox="1"/>
          <p:nvPr/>
        </p:nvSpPr>
        <p:spPr>
          <a:xfrm>
            <a:off x="8778240" y="384048"/>
            <a:ext cx="2862072" cy="274320"/>
          </a:xfrm>
          <a:prstGeom prst="rect">
            <a:avLst/>
          </a:prstGeom>
          <a:noFill/>
          <a:ln/>
        </p:spPr>
        <p:txBody>
          <a:bodyPr wrap="square" lIns="0" tIns="0" rIns="0" bIns="0" rtlCol="0" anchor="t"/>
          <a:lstStyle/>
          <a:p>
            <a:pPr algn="r" indent="0" marL="0">
              <a:buNone/>
            </a:pPr>
            <a:r>
              <a:rPr lang="en-US" sz="1200" b="1" spc="150" kern="0" dirty="0">
                <a:solidFill>
                  <a:srgbClr val="0E7C86"/>
                </a:solidFill>
                <a:latin typeface="Calibri" pitchFamily="34" charset="0"/>
                <a:ea typeface="Calibri" pitchFamily="34" charset="-122"/>
                <a:cs typeface="Calibri" pitchFamily="34" charset="-120"/>
              </a:rPr>
              <a:t>SPEAKER  ·  Drashtant</a:t>
            </a:r>
            <a:endParaRPr lang="en-US" sz="1200" dirty="0"/>
          </a:p>
        </p:txBody>
      </p:sp>
      <p:sp>
        <p:nvSpPr>
          <p:cNvPr id="5" name="Text 3"/>
          <p:cNvSpPr txBox="1"/>
          <p:nvPr/>
        </p:nvSpPr>
        <p:spPr>
          <a:xfrm>
            <a:off x="548640" y="1508760"/>
            <a:ext cx="4572000" cy="256032"/>
          </a:xfrm>
          <a:prstGeom prst="rect">
            <a:avLst/>
          </a:prstGeom>
          <a:noFill/>
          <a:ln/>
        </p:spPr>
        <p:txBody>
          <a:bodyPr wrap="square" lIns="0" tIns="0" rIns="0" bIns="0" rtlCol="0" anchor="t"/>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PROBLEM</a:t>
            </a:r>
            <a:endParaRPr lang="en-US" sz="1200" dirty="0"/>
          </a:p>
        </p:txBody>
      </p:sp>
      <p:sp>
        <p:nvSpPr>
          <p:cNvPr id="6" name="Text 4"/>
          <p:cNvSpPr txBox="1"/>
          <p:nvPr/>
        </p:nvSpPr>
        <p:spPr>
          <a:xfrm>
            <a:off x="548640" y="1828800"/>
            <a:ext cx="5303520" cy="320040"/>
          </a:xfrm>
          <a:prstGeom prst="rect">
            <a:avLst/>
          </a:prstGeom>
          <a:noFill/>
          <a:ln/>
        </p:spPr>
        <p:txBody>
          <a:bodyPr wrap="square" lIns="0" tIns="0" rIns="0" bIns="0" rtlCol="0" anchor="t"/>
          <a:lstStyle/>
          <a:p>
            <a:pPr indent="0" marL="0">
              <a:buNone/>
            </a:pPr>
            <a:r>
              <a:rPr lang="en-US" sz="1600" dirty="0">
                <a:solidFill>
                  <a:srgbClr val="5C6B7A"/>
                </a:solidFill>
                <a:latin typeface="Calibri" pitchFamily="34" charset="0"/>
                <a:ea typeface="Calibri" pitchFamily="34" charset="-122"/>
                <a:cs typeface="Calibri" pitchFamily="34" charset="-120"/>
              </a:rPr>
              <a:t>Waste images may contain:</a:t>
            </a:r>
            <a:endParaRPr lang="en-US" sz="1600" dirty="0"/>
          </a:p>
        </p:txBody>
      </p:sp>
      <p:sp>
        <p:nvSpPr>
          <p:cNvPr id="7" name="Shape 5"/>
          <p:cNvSpPr/>
          <p:nvPr/>
        </p:nvSpPr>
        <p:spPr>
          <a:xfrm>
            <a:off x="548640" y="2340864"/>
            <a:ext cx="82296" cy="82296"/>
          </a:xfrm>
          <a:prstGeom prst="rect">
            <a:avLst/>
          </a:prstGeom>
          <a:solidFill>
            <a:srgbClr val="0E7C86"/>
          </a:solidFill>
          <a:ln/>
        </p:spPr>
      </p:sp>
      <p:sp>
        <p:nvSpPr>
          <p:cNvPr id="8" name="Text 6"/>
          <p:cNvSpPr txBox="1"/>
          <p:nvPr/>
        </p:nvSpPr>
        <p:spPr>
          <a:xfrm>
            <a:off x="749808" y="2240280"/>
            <a:ext cx="5102352" cy="420624"/>
          </a:xfrm>
          <a:prstGeom prst="rect">
            <a:avLst/>
          </a:prstGeom>
          <a:noFill/>
          <a:ln/>
        </p:spPr>
        <p:txBody>
          <a:bodyPr wrap="square" lIns="0" tIns="0" rIns="0" bIns="0" rtlCol="0" anchor="t"/>
          <a:lstStyle/>
          <a:p>
            <a:pPr indent="0" marL="0">
              <a:buNone/>
            </a:pPr>
            <a:r>
              <a:rPr lang="en-US" sz="1700" dirty="0">
                <a:solidFill>
                  <a:srgbClr val="1B2733"/>
                </a:solidFill>
                <a:latin typeface="Calibri" pitchFamily="34" charset="0"/>
                <a:ea typeface="Calibri" pitchFamily="34" charset="-122"/>
                <a:cs typeface="Calibri" pitchFamily="34" charset="-120"/>
              </a:rPr>
              <a:t>visually similar objects</a:t>
            </a:r>
            <a:endParaRPr lang="en-US" sz="1700" dirty="0"/>
          </a:p>
        </p:txBody>
      </p:sp>
      <p:sp>
        <p:nvSpPr>
          <p:cNvPr id="9" name="Shape 7"/>
          <p:cNvSpPr/>
          <p:nvPr/>
        </p:nvSpPr>
        <p:spPr>
          <a:xfrm>
            <a:off x="548640" y="2761488"/>
            <a:ext cx="82296" cy="82296"/>
          </a:xfrm>
          <a:prstGeom prst="rect">
            <a:avLst/>
          </a:prstGeom>
          <a:solidFill>
            <a:srgbClr val="0E7C86"/>
          </a:solidFill>
          <a:ln/>
        </p:spPr>
      </p:sp>
      <p:sp>
        <p:nvSpPr>
          <p:cNvPr id="10" name="Text 8"/>
          <p:cNvSpPr txBox="1"/>
          <p:nvPr/>
        </p:nvSpPr>
        <p:spPr>
          <a:xfrm>
            <a:off x="749808" y="2660904"/>
            <a:ext cx="5102352" cy="420624"/>
          </a:xfrm>
          <a:prstGeom prst="rect">
            <a:avLst/>
          </a:prstGeom>
          <a:noFill/>
          <a:ln/>
        </p:spPr>
        <p:txBody>
          <a:bodyPr wrap="square" lIns="0" tIns="0" rIns="0" bIns="0" rtlCol="0" anchor="t"/>
          <a:lstStyle/>
          <a:p>
            <a:pPr indent="0" marL="0">
              <a:buNone/>
            </a:pPr>
            <a:r>
              <a:rPr lang="en-US" sz="1700" dirty="0">
                <a:solidFill>
                  <a:srgbClr val="1B2733"/>
                </a:solidFill>
                <a:latin typeface="Calibri" pitchFamily="34" charset="0"/>
                <a:ea typeface="Calibri" pitchFamily="34" charset="-122"/>
                <a:cs typeface="Calibri" pitchFamily="34" charset="-120"/>
              </a:rPr>
              <a:t>mixed objects</a:t>
            </a:r>
            <a:endParaRPr lang="en-US" sz="1700" dirty="0"/>
          </a:p>
        </p:txBody>
      </p:sp>
      <p:sp>
        <p:nvSpPr>
          <p:cNvPr id="11" name="Shape 9"/>
          <p:cNvSpPr/>
          <p:nvPr/>
        </p:nvSpPr>
        <p:spPr>
          <a:xfrm>
            <a:off x="548640" y="3182112"/>
            <a:ext cx="82296" cy="82296"/>
          </a:xfrm>
          <a:prstGeom prst="rect">
            <a:avLst/>
          </a:prstGeom>
          <a:solidFill>
            <a:srgbClr val="0E7C86"/>
          </a:solidFill>
          <a:ln/>
        </p:spPr>
      </p:sp>
      <p:sp>
        <p:nvSpPr>
          <p:cNvPr id="12" name="Text 10"/>
          <p:cNvSpPr txBox="1"/>
          <p:nvPr/>
        </p:nvSpPr>
        <p:spPr>
          <a:xfrm>
            <a:off x="749808" y="3081528"/>
            <a:ext cx="5102352" cy="420624"/>
          </a:xfrm>
          <a:prstGeom prst="rect">
            <a:avLst/>
          </a:prstGeom>
          <a:noFill/>
          <a:ln/>
        </p:spPr>
        <p:txBody>
          <a:bodyPr wrap="square" lIns="0" tIns="0" rIns="0" bIns="0" rtlCol="0" anchor="t"/>
          <a:lstStyle/>
          <a:p>
            <a:pPr indent="0" marL="0">
              <a:buNone/>
            </a:pPr>
            <a:r>
              <a:rPr lang="en-US" sz="1700" dirty="0">
                <a:solidFill>
                  <a:srgbClr val="1B2733"/>
                </a:solidFill>
                <a:latin typeface="Calibri" pitchFamily="34" charset="0"/>
                <a:ea typeface="Calibri" pitchFamily="34" charset="-122"/>
                <a:cs typeface="Calibri" pitchFamily="34" charset="-120"/>
              </a:rPr>
              <a:t>medical waste</a:t>
            </a:r>
            <a:endParaRPr lang="en-US" sz="1700" dirty="0"/>
          </a:p>
        </p:txBody>
      </p:sp>
      <p:sp>
        <p:nvSpPr>
          <p:cNvPr id="13" name="Shape 11"/>
          <p:cNvSpPr/>
          <p:nvPr/>
        </p:nvSpPr>
        <p:spPr>
          <a:xfrm>
            <a:off x="548640" y="3602736"/>
            <a:ext cx="82296" cy="82296"/>
          </a:xfrm>
          <a:prstGeom prst="rect">
            <a:avLst/>
          </a:prstGeom>
          <a:solidFill>
            <a:srgbClr val="0E7C86"/>
          </a:solidFill>
          <a:ln/>
        </p:spPr>
      </p:sp>
      <p:sp>
        <p:nvSpPr>
          <p:cNvPr id="14" name="Text 12"/>
          <p:cNvSpPr txBox="1"/>
          <p:nvPr/>
        </p:nvSpPr>
        <p:spPr>
          <a:xfrm>
            <a:off x="749808" y="3502152"/>
            <a:ext cx="5102352" cy="420624"/>
          </a:xfrm>
          <a:prstGeom prst="rect">
            <a:avLst/>
          </a:prstGeom>
          <a:noFill/>
          <a:ln/>
        </p:spPr>
        <p:txBody>
          <a:bodyPr wrap="square" lIns="0" tIns="0" rIns="0" bIns="0" rtlCol="0" anchor="t"/>
          <a:lstStyle/>
          <a:p>
            <a:pPr indent="0" marL="0">
              <a:buNone/>
            </a:pPr>
            <a:r>
              <a:rPr lang="en-US" sz="1700" dirty="0">
                <a:solidFill>
                  <a:srgbClr val="1B2733"/>
                </a:solidFill>
                <a:latin typeface="Calibri" pitchFamily="34" charset="0"/>
                <a:ea typeface="Calibri" pitchFamily="34" charset="-122"/>
                <a:cs typeface="Calibri" pitchFamily="34" charset="-120"/>
              </a:rPr>
              <a:t>unsupported inputs</a:t>
            </a:r>
            <a:endParaRPr lang="en-US" sz="1700" dirty="0"/>
          </a:p>
        </p:txBody>
      </p:sp>
      <p:sp>
        <p:nvSpPr>
          <p:cNvPr id="15" name="Shape 13"/>
          <p:cNvSpPr/>
          <p:nvPr/>
        </p:nvSpPr>
        <p:spPr>
          <a:xfrm>
            <a:off x="548640" y="4023360"/>
            <a:ext cx="82296" cy="82296"/>
          </a:xfrm>
          <a:prstGeom prst="rect">
            <a:avLst/>
          </a:prstGeom>
          <a:solidFill>
            <a:srgbClr val="0E7C86"/>
          </a:solidFill>
          <a:ln/>
        </p:spPr>
      </p:sp>
      <p:sp>
        <p:nvSpPr>
          <p:cNvPr id="16" name="Text 14"/>
          <p:cNvSpPr txBox="1"/>
          <p:nvPr/>
        </p:nvSpPr>
        <p:spPr>
          <a:xfrm>
            <a:off x="749808" y="3922776"/>
            <a:ext cx="5102352" cy="420624"/>
          </a:xfrm>
          <a:prstGeom prst="rect">
            <a:avLst/>
          </a:prstGeom>
          <a:noFill/>
          <a:ln/>
        </p:spPr>
        <p:txBody>
          <a:bodyPr wrap="square" lIns="0" tIns="0" rIns="0" bIns="0" rtlCol="0" anchor="t"/>
          <a:lstStyle/>
          <a:p>
            <a:pPr indent="0" marL="0">
              <a:buNone/>
            </a:pPr>
            <a:r>
              <a:rPr lang="en-US" sz="1700" dirty="0">
                <a:solidFill>
                  <a:srgbClr val="1B2733"/>
                </a:solidFill>
                <a:latin typeface="Calibri" pitchFamily="34" charset="0"/>
                <a:ea typeface="Calibri" pitchFamily="34" charset="-122"/>
                <a:cs typeface="Calibri" pitchFamily="34" charset="-120"/>
              </a:rPr>
              <a:t>objects outside the training distribution</a:t>
            </a:r>
            <a:endParaRPr lang="en-US" sz="1700" dirty="0"/>
          </a:p>
        </p:txBody>
      </p:sp>
      <p:sp>
        <p:nvSpPr>
          <p:cNvPr id="17" name="Shape 15"/>
          <p:cNvSpPr/>
          <p:nvPr/>
        </p:nvSpPr>
        <p:spPr>
          <a:xfrm>
            <a:off x="548640" y="4572000"/>
            <a:ext cx="5303520" cy="914400"/>
          </a:xfrm>
          <a:prstGeom prst="rect">
            <a:avLst/>
          </a:prstGeom>
          <a:solidFill>
            <a:srgbClr val="FBE9EC"/>
          </a:solidFill>
          <a:ln/>
        </p:spPr>
      </p:sp>
      <p:sp>
        <p:nvSpPr>
          <p:cNvPr id="18" name="Shape 16"/>
          <p:cNvSpPr/>
          <p:nvPr/>
        </p:nvSpPr>
        <p:spPr>
          <a:xfrm>
            <a:off x="548640" y="4572000"/>
            <a:ext cx="64008" cy="914400"/>
          </a:xfrm>
          <a:prstGeom prst="rect">
            <a:avLst/>
          </a:prstGeom>
          <a:solidFill>
            <a:srgbClr val="B3394A"/>
          </a:solidFill>
          <a:ln/>
        </p:spPr>
      </p:sp>
      <p:sp>
        <p:nvSpPr>
          <p:cNvPr id="19" name="Text 17"/>
          <p:cNvSpPr txBox="1"/>
          <p:nvPr/>
        </p:nvSpPr>
        <p:spPr>
          <a:xfrm>
            <a:off x="777240" y="4572000"/>
            <a:ext cx="4937760" cy="914400"/>
          </a:xfrm>
          <a:prstGeom prst="rect">
            <a:avLst/>
          </a:prstGeom>
          <a:noFill/>
          <a:ln/>
        </p:spPr>
        <p:txBody>
          <a:bodyPr wrap="square" lIns="0" tIns="0" rIns="0" bIns="0" rtlCol="0" anchor="ctr"/>
          <a:lstStyle/>
          <a:p>
            <a:pPr indent="0" marL="0">
              <a:buNone/>
            </a:pPr>
            <a:r>
              <a:rPr lang="en-US" sz="1700" b="1" dirty="0">
                <a:solidFill>
                  <a:srgbClr val="1B2733"/>
                </a:solidFill>
                <a:latin typeface="Calibri" pitchFamily="34" charset="0"/>
                <a:ea typeface="Calibri" pitchFamily="34" charset="-122"/>
                <a:cs typeface="Calibri" pitchFamily="34" charset="-120"/>
              </a:rPr>
              <a:t>A simple classifier still produces a label — even when it should reject the input.</a:t>
            </a:r>
            <a:endParaRPr lang="en-US" sz="1700" dirty="0"/>
          </a:p>
        </p:txBody>
      </p:sp>
      <p:sp>
        <p:nvSpPr>
          <p:cNvPr id="20" name="Text 18"/>
          <p:cNvSpPr txBox="1"/>
          <p:nvPr/>
        </p:nvSpPr>
        <p:spPr>
          <a:xfrm>
            <a:off x="6400800" y="1508760"/>
            <a:ext cx="4572000" cy="256032"/>
          </a:xfrm>
          <a:prstGeom prst="rect">
            <a:avLst/>
          </a:prstGeom>
          <a:noFill/>
          <a:ln/>
        </p:spPr>
        <p:txBody>
          <a:bodyPr wrap="square" lIns="0" tIns="0" rIns="0" bIns="0" rtlCol="0" anchor="t"/>
          <a:lstStyle/>
          <a:p>
            <a:pPr indent="0" marL="0">
              <a:buNone/>
            </a:pPr>
            <a:r>
              <a:rPr lang="en-US" sz="1200" b="1" spc="200" kern="0" dirty="0">
                <a:solidFill>
                  <a:srgbClr val="0E7C86"/>
                </a:solidFill>
                <a:latin typeface="Calibri" pitchFamily="34" charset="0"/>
                <a:ea typeface="Calibri" pitchFamily="34" charset="-122"/>
                <a:cs typeface="Calibri" pitchFamily="34" charset="-120"/>
              </a:rPr>
              <a:t>FOUR OBJECTIVES</a:t>
            </a:r>
            <a:endParaRPr lang="en-US" sz="1200" dirty="0"/>
          </a:p>
        </p:txBody>
      </p:sp>
      <p:sp>
        <p:nvSpPr>
          <p:cNvPr id="21" name="Shape 19"/>
          <p:cNvSpPr/>
          <p:nvPr/>
        </p:nvSpPr>
        <p:spPr>
          <a:xfrm>
            <a:off x="6400800" y="1874520"/>
            <a:ext cx="2514600" cy="1737360"/>
          </a:xfrm>
          <a:prstGeom prst="rect">
            <a:avLst/>
          </a:prstGeom>
          <a:solidFill>
            <a:srgbClr val="FFFFFF"/>
          </a:solidFill>
          <a:ln w="12700">
            <a:solidFill>
              <a:srgbClr val="D5DBE1"/>
            </a:solidFill>
            <a:prstDash val="solid"/>
          </a:ln>
        </p:spPr>
      </p:sp>
      <p:sp>
        <p:nvSpPr>
          <p:cNvPr id="22" name="Shape 20"/>
          <p:cNvSpPr/>
          <p:nvPr/>
        </p:nvSpPr>
        <p:spPr>
          <a:xfrm>
            <a:off x="6400800" y="1874520"/>
            <a:ext cx="2514600" cy="64008"/>
          </a:xfrm>
          <a:prstGeom prst="rect">
            <a:avLst/>
          </a:prstGeom>
          <a:solidFill>
            <a:srgbClr val="0E7C86"/>
          </a:solidFill>
          <a:ln/>
        </p:spPr>
      </p:sp>
      <p:sp>
        <p:nvSpPr>
          <p:cNvPr id="23" name="Text 21"/>
          <p:cNvSpPr txBox="1"/>
          <p:nvPr/>
        </p:nvSpPr>
        <p:spPr>
          <a:xfrm>
            <a:off x="6583680" y="2148840"/>
            <a:ext cx="2194560" cy="457200"/>
          </a:xfrm>
          <a:prstGeom prst="rect">
            <a:avLst/>
          </a:prstGeom>
          <a:noFill/>
          <a:ln/>
        </p:spPr>
        <p:txBody>
          <a:bodyPr wrap="square" lIns="0" tIns="0" rIns="0" bIns="0" rtlCol="0" anchor="t"/>
          <a:lstStyle/>
          <a:p>
            <a:pPr indent="0" marL="0">
              <a:buNone/>
            </a:pPr>
            <a:r>
              <a:rPr lang="en-US" sz="2400" b="1" dirty="0">
                <a:solidFill>
                  <a:srgbClr val="0E7C86"/>
                </a:solidFill>
                <a:latin typeface="Calibri" pitchFamily="34" charset="0"/>
                <a:ea typeface="Calibri" pitchFamily="34" charset="-122"/>
                <a:cs typeface="Calibri" pitchFamily="34" charset="-120"/>
              </a:rPr>
              <a:t>DETECT</a:t>
            </a:r>
            <a:endParaRPr lang="en-US" sz="2400" dirty="0"/>
          </a:p>
        </p:txBody>
      </p:sp>
      <p:sp>
        <p:nvSpPr>
          <p:cNvPr id="24" name="Text 22"/>
          <p:cNvSpPr txBox="1"/>
          <p:nvPr/>
        </p:nvSpPr>
        <p:spPr>
          <a:xfrm>
            <a:off x="6583680" y="2697480"/>
            <a:ext cx="2194560" cy="8229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Locate waste objects.</a:t>
            </a:r>
            <a:endParaRPr lang="en-US" sz="1500" dirty="0"/>
          </a:p>
        </p:txBody>
      </p:sp>
      <p:sp>
        <p:nvSpPr>
          <p:cNvPr id="25" name="Shape 23"/>
          <p:cNvSpPr/>
          <p:nvPr/>
        </p:nvSpPr>
        <p:spPr>
          <a:xfrm>
            <a:off x="9098280" y="1874520"/>
            <a:ext cx="2514600" cy="1737360"/>
          </a:xfrm>
          <a:prstGeom prst="rect">
            <a:avLst/>
          </a:prstGeom>
          <a:solidFill>
            <a:srgbClr val="FFFFFF"/>
          </a:solidFill>
          <a:ln w="12700">
            <a:solidFill>
              <a:srgbClr val="D5DBE1"/>
            </a:solidFill>
            <a:prstDash val="solid"/>
          </a:ln>
        </p:spPr>
      </p:sp>
      <p:sp>
        <p:nvSpPr>
          <p:cNvPr id="26" name="Shape 24"/>
          <p:cNvSpPr/>
          <p:nvPr/>
        </p:nvSpPr>
        <p:spPr>
          <a:xfrm>
            <a:off x="9098280" y="1874520"/>
            <a:ext cx="2514600" cy="64008"/>
          </a:xfrm>
          <a:prstGeom prst="rect">
            <a:avLst/>
          </a:prstGeom>
          <a:solidFill>
            <a:srgbClr val="0E7C86"/>
          </a:solidFill>
          <a:ln/>
        </p:spPr>
      </p:sp>
      <p:sp>
        <p:nvSpPr>
          <p:cNvPr id="27" name="Text 25"/>
          <p:cNvSpPr txBox="1"/>
          <p:nvPr/>
        </p:nvSpPr>
        <p:spPr>
          <a:xfrm>
            <a:off x="9281160" y="2148840"/>
            <a:ext cx="2194560" cy="457200"/>
          </a:xfrm>
          <a:prstGeom prst="rect">
            <a:avLst/>
          </a:prstGeom>
          <a:noFill/>
          <a:ln/>
        </p:spPr>
        <p:txBody>
          <a:bodyPr wrap="square" lIns="0" tIns="0" rIns="0" bIns="0" rtlCol="0" anchor="t"/>
          <a:lstStyle/>
          <a:p>
            <a:pPr indent="0" marL="0">
              <a:buNone/>
            </a:pPr>
            <a:r>
              <a:rPr lang="en-US" sz="2400" b="1" dirty="0">
                <a:solidFill>
                  <a:srgbClr val="0E7C86"/>
                </a:solidFill>
                <a:latin typeface="Calibri" pitchFamily="34" charset="0"/>
                <a:ea typeface="Calibri" pitchFamily="34" charset="-122"/>
                <a:cs typeface="Calibri" pitchFamily="34" charset="-120"/>
              </a:rPr>
              <a:t>CLASSIFY</a:t>
            </a:r>
            <a:endParaRPr lang="en-US" sz="2400" dirty="0"/>
          </a:p>
        </p:txBody>
      </p:sp>
      <p:sp>
        <p:nvSpPr>
          <p:cNvPr id="28" name="Text 26"/>
          <p:cNvSpPr txBox="1"/>
          <p:nvPr/>
        </p:nvSpPr>
        <p:spPr>
          <a:xfrm>
            <a:off x="9281160" y="2697480"/>
            <a:ext cx="2194560" cy="8229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Assign detailed waste categories.</a:t>
            </a:r>
            <a:endParaRPr lang="en-US" sz="1500" dirty="0"/>
          </a:p>
        </p:txBody>
      </p:sp>
      <p:sp>
        <p:nvSpPr>
          <p:cNvPr id="29" name="Shape 27"/>
          <p:cNvSpPr/>
          <p:nvPr/>
        </p:nvSpPr>
        <p:spPr>
          <a:xfrm>
            <a:off x="6400800" y="3794760"/>
            <a:ext cx="2514600" cy="1737360"/>
          </a:xfrm>
          <a:prstGeom prst="rect">
            <a:avLst/>
          </a:prstGeom>
          <a:solidFill>
            <a:srgbClr val="FFFFFF"/>
          </a:solidFill>
          <a:ln w="12700">
            <a:solidFill>
              <a:srgbClr val="D5DBE1"/>
            </a:solidFill>
            <a:prstDash val="solid"/>
          </a:ln>
        </p:spPr>
      </p:sp>
      <p:sp>
        <p:nvSpPr>
          <p:cNvPr id="30" name="Shape 28"/>
          <p:cNvSpPr/>
          <p:nvPr/>
        </p:nvSpPr>
        <p:spPr>
          <a:xfrm>
            <a:off x="6400800" y="3794760"/>
            <a:ext cx="2514600" cy="64008"/>
          </a:xfrm>
          <a:prstGeom prst="rect">
            <a:avLst/>
          </a:prstGeom>
          <a:solidFill>
            <a:srgbClr val="0E7C86"/>
          </a:solidFill>
          <a:ln/>
        </p:spPr>
      </p:sp>
      <p:sp>
        <p:nvSpPr>
          <p:cNvPr id="31" name="Text 29"/>
          <p:cNvSpPr txBox="1"/>
          <p:nvPr/>
        </p:nvSpPr>
        <p:spPr>
          <a:xfrm>
            <a:off x="6583680" y="4069080"/>
            <a:ext cx="2194560" cy="457200"/>
          </a:xfrm>
          <a:prstGeom prst="rect">
            <a:avLst/>
          </a:prstGeom>
          <a:noFill/>
          <a:ln/>
        </p:spPr>
        <p:txBody>
          <a:bodyPr wrap="square" lIns="0" tIns="0" rIns="0" bIns="0" rtlCol="0" anchor="t"/>
          <a:lstStyle/>
          <a:p>
            <a:pPr indent="0" marL="0">
              <a:buNone/>
            </a:pPr>
            <a:r>
              <a:rPr lang="en-US" sz="2400" b="1" dirty="0">
                <a:solidFill>
                  <a:srgbClr val="0E7C86"/>
                </a:solidFill>
                <a:latin typeface="Calibri" pitchFamily="34" charset="0"/>
                <a:ea typeface="Calibri" pitchFamily="34" charset="-122"/>
                <a:cs typeface="Calibri" pitchFamily="34" charset="-120"/>
              </a:rPr>
              <a:t>REJECT</a:t>
            </a:r>
            <a:endParaRPr lang="en-US" sz="2400" dirty="0"/>
          </a:p>
        </p:txBody>
      </p:sp>
      <p:sp>
        <p:nvSpPr>
          <p:cNvPr id="32" name="Text 30"/>
          <p:cNvSpPr txBox="1"/>
          <p:nvPr/>
        </p:nvSpPr>
        <p:spPr>
          <a:xfrm>
            <a:off x="6583680" y="4617720"/>
            <a:ext cx="2194560" cy="8229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Detect unsupported or incompatible predictions.</a:t>
            </a:r>
            <a:endParaRPr lang="en-US" sz="1500" dirty="0"/>
          </a:p>
        </p:txBody>
      </p:sp>
      <p:sp>
        <p:nvSpPr>
          <p:cNvPr id="33" name="Shape 31"/>
          <p:cNvSpPr/>
          <p:nvPr/>
        </p:nvSpPr>
        <p:spPr>
          <a:xfrm>
            <a:off x="9098280" y="3794760"/>
            <a:ext cx="2514600" cy="1737360"/>
          </a:xfrm>
          <a:prstGeom prst="rect">
            <a:avLst/>
          </a:prstGeom>
          <a:solidFill>
            <a:srgbClr val="FFFFFF"/>
          </a:solidFill>
          <a:ln w="12700">
            <a:solidFill>
              <a:srgbClr val="D5DBE1"/>
            </a:solidFill>
            <a:prstDash val="solid"/>
          </a:ln>
        </p:spPr>
      </p:sp>
      <p:sp>
        <p:nvSpPr>
          <p:cNvPr id="34" name="Shape 32"/>
          <p:cNvSpPr/>
          <p:nvPr/>
        </p:nvSpPr>
        <p:spPr>
          <a:xfrm>
            <a:off x="9098280" y="3794760"/>
            <a:ext cx="2514600" cy="64008"/>
          </a:xfrm>
          <a:prstGeom prst="rect">
            <a:avLst/>
          </a:prstGeom>
          <a:solidFill>
            <a:srgbClr val="0E7C86"/>
          </a:solidFill>
          <a:ln/>
        </p:spPr>
      </p:sp>
      <p:sp>
        <p:nvSpPr>
          <p:cNvPr id="35" name="Text 33"/>
          <p:cNvSpPr txBox="1"/>
          <p:nvPr/>
        </p:nvSpPr>
        <p:spPr>
          <a:xfrm>
            <a:off x="9281160" y="4069080"/>
            <a:ext cx="2194560" cy="457200"/>
          </a:xfrm>
          <a:prstGeom prst="rect">
            <a:avLst/>
          </a:prstGeom>
          <a:noFill/>
          <a:ln/>
        </p:spPr>
        <p:txBody>
          <a:bodyPr wrap="square" lIns="0" tIns="0" rIns="0" bIns="0" rtlCol="0" anchor="t"/>
          <a:lstStyle/>
          <a:p>
            <a:pPr indent="0" marL="0">
              <a:buNone/>
            </a:pPr>
            <a:r>
              <a:rPr lang="en-US" sz="2400" b="1" dirty="0">
                <a:solidFill>
                  <a:srgbClr val="0E7C86"/>
                </a:solidFill>
                <a:latin typeface="Calibri" pitchFamily="34" charset="0"/>
                <a:ea typeface="Calibri" pitchFamily="34" charset="-122"/>
                <a:cs typeface="Calibri" pitchFamily="34" charset="-120"/>
              </a:rPr>
              <a:t>GUIDE</a:t>
            </a:r>
            <a:endParaRPr lang="en-US" sz="2400" dirty="0"/>
          </a:p>
        </p:txBody>
      </p:sp>
      <p:sp>
        <p:nvSpPr>
          <p:cNvPr id="36" name="Text 34"/>
          <p:cNvSpPr txBox="1"/>
          <p:nvPr/>
        </p:nvSpPr>
        <p:spPr>
          <a:xfrm>
            <a:off x="9281160" y="4617720"/>
            <a:ext cx="2194560" cy="8229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Give disposal guidance only after acceptance.</a:t>
            </a:r>
            <a:endParaRPr lang="en-US" sz="1500" dirty="0"/>
          </a:p>
        </p:txBody>
      </p:sp>
      <p:sp>
        <p:nvSpPr>
          <p:cNvPr id="37" name="Shape 35"/>
          <p:cNvSpPr/>
          <p:nvPr/>
        </p:nvSpPr>
        <p:spPr>
          <a:xfrm>
            <a:off x="548640" y="5715000"/>
            <a:ext cx="11091672" cy="530352"/>
          </a:xfrm>
          <a:prstGeom prst="rect">
            <a:avLst/>
          </a:prstGeom>
          <a:solidFill>
            <a:srgbClr val="E3F1F2"/>
          </a:solidFill>
          <a:ln/>
        </p:spPr>
      </p:sp>
      <p:sp>
        <p:nvSpPr>
          <p:cNvPr id="38" name="Text 36"/>
          <p:cNvSpPr txBox="1"/>
          <p:nvPr/>
        </p:nvSpPr>
        <p:spPr>
          <a:xfrm>
            <a:off x="548640" y="5715000"/>
            <a:ext cx="11091672" cy="530352"/>
          </a:xfrm>
          <a:prstGeom prst="rect">
            <a:avLst/>
          </a:prstGeom>
          <a:noFill/>
          <a:ln/>
        </p:spPr>
        <p:txBody>
          <a:bodyPr wrap="square" lIns="0" tIns="0" rIns="0" bIns="0" rtlCol="0" anchor="ctr"/>
          <a:lstStyle/>
          <a:p>
            <a:pPr algn="ctr" indent="0" marL="0">
              <a:buNone/>
            </a:pPr>
            <a:r>
              <a:rPr lang="en-US" sz="2200" b="1" dirty="0">
                <a:solidFill>
                  <a:srgbClr val="0A5C64"/>
                </a:solidFill>
                <a:latin typeface="Calibri" pitchFamily="34" charset="0"/>
                <a:ea typeface="Calibri" pitchFamily="34" charset="-122"/>
                <a:cs typeface="Calibri" pitchFamily="34" charset="-120"/>
              </a:rPr>
              <a:t>Prediction should not automatically mean acceptance.</a:t>
            </a:r>
            <a:endParaRPr lang="en-US" sz="2200" dirty="0"/>
          </a:p>
        </p:txBody>
      </p:sp>
      <p:sp>
        <p:nvSpPr>
          <p:cNvPr id="25" name="Slide Number Placeholder 0"/>
          <p:cNvSpPr>
            <a:spLocks noGrp="1"/>
          </p:cNvSpPr>
          <p:nvPr>
            <p:ph type="sldNum" sz="quarter" idx="4294967295"/>
          </p:nvPr>
        </p:nvSpPr>
        <p:spPr>
          <a:xfrm>
            <a:off x="10881360" y="6446520"/>
            <a:ext cx="758952"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C6B7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8595360" cy="594360"/>
          </a:xfrm>
          <a:prstGeom prst="rect">
            <a:avLst/>
          </a:prstGeom>
          <a:noFill/>
          <a:ln/>
        </p:spPr>
        <p:txBody>
          <a:bodyPr wrap="square" lIns="0" tIns="0" rIns="0" bIns="0" rtlCol="0" anchor="t"/>
          <a:lstStyle/>
          <a:p>
            <a:pPr indent="0" marL="0">
              <a:buNone/>
            </a:pPr>
            <a:r>
              <a:rPr lang="en-US" sz="3000" b="1" dirty="0">
                <a:solidFill>
                  <a:srgbClr val="1B2733"/>
                </a:solidFill>
                <a:latin typeface="Calibri" pitchFamily="34" charset="0"/>
                <a:ea typeface="Calibri" pitchFamily="34" charset="-122"/>
                <a:cs typeface="Calibri" pitchFamily="34" charset="-120"/>
              </a:rPr>
              <a:t>Dataset and Taxonomy</a:t>
            </a:r>
            <a:endParaRPr lang="en-US" sz="3000" dirty="0"/>
          </a:p>
        </p:txBody>
      </p:sp>
      <p:sp>
        <p:nvSpPr>
          <p:cNvPr id="3" name="Text 1"/>
          <p:cNvSpPr txBox="1"/>
          <p:nvPr/>
        </p:nvSpPr>
        <p:spPr>
          <a:xfrm>
            <a:off x="548640" y="932688"/>
            <a:ext cx="10607040" cy="347472"/>
          </a:xfrm>
          <a:prstGeom prst="rect">
            <a:avLst/>
          </a:prstGeom>
          <a:noFill/>
          <a:ln/>
        </p:spPr>
        <p:txBody>
          <a:bodyPr wrap="square" lIns="0" tIns="0" rIns="0" bIns="0" rtlCol="0" anchor="t"/>
          <a:lstStyle/>
          <a:p>
            <a:pPr indent="0" marL="0">
              <a:buNone/>
            </a:pPr>
            <a:r>
              <a:rPr lang="en-US" sz="1600" dirty="0">
                <a:solidFill>
                  <a:srgbClr val="5C6B7A"/>
                </a:solidFill>
                <a:latin typeface="Calibri" pitchFamily="34" charset="0"/>
                <a:ea typeface="Calibri" pitchFamily="34" charset="-122"/>
                <a:cs typeface="Calibri" pitchFamily="34" charset="-120"/>
              </a:rPr>
              <a:t>YOLO localises coarsely; ResNet classifies in detail.</a:t>
            </a:r>
            <a:endParaRPr lang="en-US" sz="1600" dirty="0"/>
          </a:p>
        </p:txBody>
      </p:sp>
      <p:sp>
        <p:nvSpPr>
          <p:cNvPr id="4" name="Text 2"/>
          <p:cNvSpPr txBox="1"/>
          <p:nvPr/>
        </p:nvSpPr>
        <p:spPr>
          <a:xfrm>
            <a:off x="8778240" y="384048"/>
            <a:ext cx="2862072" cy="274320"/>
          </a:xfrm>
          <a:prstGeom prst="rect">
            <a:avLst/>
          </a:prstGeom>
          <a:noFill/>
          <a:ln/>
        </p:spPr>
        <p:txBody>
          <a:bodyPr wrap="square" lIns="0" tIns="0" rIns="0" bIns="0" rtlCol="0" anchor="t"/>
          <a:lstStyle/>
          <a:p>
            <a:pPr algn="r" indent="0" marL="0">
              <a:buNone/>
            </a:pPr>
            <a:r>
              <a:rPr lang="en-US" sz="1200" b="1" spc="150" kern="0" dirty="0">
                <a:solidFill>
                  <a:srgbClr val="0E7C86"/>
                </a:solidFill>
                <a:latin typeface="Calibri" pitchFamily="34" charset="0"/>
                <a:ea typeface="Calibri" pitchFamily="34" charset="-122"/>
                <a:cs typeface="Calibri" pitchFamily="34" charset="-120"/>
              </a:rPr>
              <a:t>SPEAKER  ·  Nirav</a:t>
            </a:r>
            <a:endParaRPr lang="en-US" sz="1200" dirty="0"/>
          </a:p>
        </p:txBody>
      </p:sp>
      <p:sp>
        <p:nvSpPr>
          <p:cNvPr id="5" name="Text 3"/>
          <p:cNvSpPr txBox="1"/>
          <p:nvPr/>
        </p:nvSpPr>
        <p:spPr>
          <a:xfrm>
            <a:off x="548640" y="1463040"/>
            <a:ext cx="2743200" cy="256032"/>
          </a:xfrm>
          <a:prstGeom prst="rect">
            <a:avLst/>
          </a:prstGeom>
          <a:noFill/>
          <a:ln/>
        </p:spPr>
        <p:txBody>
          <a:bodyPr wrap="square" lIns="0" tIns="0" rIns="0" bIns="0" rtlCol="0" anchor="t"/>
          <a:lstStyle/>
          <a:p>
            <a:pPr indent="0" marL="0">
              <a:buNone/>
            </a:pPr>
            <a:r>
              <a:rPr lang="en-US" sz="1200" b="1" spc="200" kern="0" dirty="0">
                <a:solidFill>
                  <a:srgbClr val="0E7C86"/>
                </a:solidFill>
                <a:latin typeface="Calibri" pitchFamily="34" charset="0"/>
                <a:ea typeface="Calibri" pitchFamily="34" charset="-122"/>
                <a:cs typeface="Calibri" pitchFamily="34" charset="-120"/>
              </a:rPr>
              <a:t>YOLO11s  ·  6 CLASSES</a:t>
            </a:r>
            <a:endParaRPr lang="en-US" sz="1200" dirty="0"/>
          </a:p>
        </p:txBody>
      </p:sp>
      <p:sp>
        <p:nvSpPr>
          <p:cNvPr id="6" name="Shape 4"/>
          <p:cNvSpPr/>
          <p:nvPr/>
        </p:nvSpPr>
        <p:spPr>
          <a:xfrm>
            <a:off x="548640" y="1993392"/>
            <a:ext cx="82296" cy="82296"/>
          </a:xfrm>
          <a:prstGeom prst="rect">
            <a:avLst/>
          </a:prstGeom>
          <a:solidFill>
            <a:srgbClr val="0E7C86"/>
          </a:solidFill>
          <a:ln/>
        </p:spPr>
      </p:sp>
      <p:sp>
        <p:nvSpPr>
          <p:cNvPr id="7" name="Text 5"/>
          <p:cNvSpPr txBox="1"/>
          <p:nvPr/>
        </p:nvSpPr>
        <p:spPr>
          <a:xfrm>
            <a:off x="749808" y="1901952"/>
            <a:ext cx="2560320" cy="329184"/>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plastic</a:t>
            </a:r>
            <a:endParaRPr lang="en-US" sz="1500" dirty="0"/>
          </a:p>
        </p:txBody>
      </p:sp>
      <p:sp>
        <p:nvSpPr>
          <p:cNvPr id="8" name="Shape 6"/>
          <p:cNvSpPr/>
          <p:nvPr/>
        </p:nvSpPr>
        <p:spPr>
          <a:xfrm>
            <a:off x="548640" y="2340864"/>
            <a:ext cx="82296" cy="82296"/>
          </a:xfrm>
          <a:prstGeom prst="rect">
            <a:avLst/>
          </a:prstGeom>
          <a:solidFill>
            <a:srgbClr val="0E7C86"/>
          </a:solidFill>
          <a:ln/>
        </p:spPr>
      </p:sp>
      <p:sp>
        <p:nvSpPr>
          <p:cNvPr id="9" name="Text 7"/>
          <p:cNvSpPr txBox="1"/>
          <p:nvPr/>
        </p:nvSpPr>
        <p:spPr>
          <a:xfrm>
            <a:off x="749808" y="2249424"/>
            <a:ext cx="2560320" cy="329184"/>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glass</a:t>
            </a:r>
            <a:endParaRPr lang="en-US" sz="1500" dirty="0"/>
          </a:p>
        </p:txBody>
      </p:sp>
      <p:sp>
        <p:nvSpPr>
          <p:cNvPr id="10" name="Shape 8"/>
          <p:cNvSpPr/>
          <p:nvPr/>
        </p:nvSpPr>
        <p:spPr>
          <a:xfrm>
            <a:off x="548640" y="2688336"/>
            <a:ext cx="82296" cy="82296"/>
          </a:xfrm>
          <a:prstGeom prst="rect">
            <a:avLst/>
          </a:prstGeom>
          <a:solidFill>
            <a:srgbClr val="0E7C86"/>
          </a:solidFill>
          <a:ln/>
        </p:spPr>
      </p:sp>
      <p:sp>
        <p:nvSpPr>
          <p:cNvPr id="11" name="Text 9"/>
          <p:cNvSpPr txBox="1"/>
          <p:nvPr/>
        </p:nvSpPr>
        <p:spPr>
          <a:xfrm>
            <a:off x="749808" y="2596896"/>
            <a:ext cx="2560320" cy="329184"/>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metal</a:t>
            </a:r>
            <a:endParaRPr lang="en-US" sz="1500" dirty="0"/>
          </a:p>
        </p:txBody>
      </p:sp>
      <p:sp>
        <p:nvSpPr>
          <p:cNvPr id="12" name="Shape 10"/>
          <p:cNvSpPr/>
          <p:nvPr/>
        </p:nvSpPr>
        <p:spPr>
          <a:xfrm>
            <a:off x="548640" y="3035808"/>
            <a:ext cx="82296" cy="82296"/>
          </a:xfrm>
          <a:prstGeom prst="rect">
            <a:avLst/>
          </a:prstGeom>
          <a:solidFill>
            <a:srgbClr val="0E7C86"/>
          </a:solidFill>
          <a:ln/>
        </p:spPr>
      </p:sp>
      <p:sp>
        <p:nvSpPr>
          <p:cNvPr id="13" name="Text 11"/>
          <p:cNvSpPr txBox="1"/>
          <p:nvPr/>
        </p:nvSpPr>
        <p:spPr>
          <a:xfrm>
            <a:off x="749808" y="2944368"/>
            <a:ext cx="2560320" cy="329184"/>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paper_cardboard</a:t>
            </a:r>
            <a:endParaRPr lang="en-US" sz="1500" dirty="0"/>
          </a:p>
        </p:txBody>
      </p:sp>
      <p:sp>
        <p:nvSpPr>
          <p:cNvPr id="14" name="Shape 12"/>
          <p:cNvSpPr/>
          <p:nvPr/>
        </p:nvSpPr>
        <p:spPr>
          <a:xfrm>
            <a:off x="548640" y="3383280"/>
            <a:ext cx="82296" cy="82296"/>
          </a:xfrm>
          <a:prstGeom prst="rect">
            <a:avLst/>
          </a:prstGeom>
          <a:solidFill>
            <a:srgbClr val="0E7C86"/>
          </a:solidFill>
          <a:ln/>
        </p:spPr>
      </p:sp>
      <p:sp>
        <p:nvSpPr>
          <p:cNvPr id="15" name="Text 13"/>
          <p:cNvSpPr txBox="1"/>
          <p:nvPr/>
        </p:nvSpPr>
        <p:spPr>
          <a:xfrm>
            <a:off x="749808" y="3291840"/>
            <a:ext cx="2560320" cy="329184"/>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biological</a:t>
            </a:r>
            <a:endParaRPr lang="en-US" sz="1500" dirty="0"/>
          </a:p>
        </p:txBody>
      </p:sp>
      <p:sp>
        <p:nvSpPr>
          <p:cNvPr id="16" name="Shape 14"/>
          <p:cNvSpPr/>
          <p:nvPr/>
        </p:nvSpPr>
        <p:spPr>
          <a:xfrm>
            <a:off x="548640" y="3730752"/>
            <a:ext cx="82296" cy="82296"/>
          </a:xfrm>
          <a:prstGeom prst="rect">
            <a:avLst/>
          </a:prstGeom>
          <a:solidFill>
            <a:srgbClr val="0E7C86"/>
          </a:solidFill>
          <a:ln/>
        </p:spPr>
      </p:sp>
      <p:sp>
        <p:nvSpPr>
          <p:cNvPr id="17" name="Text 15"/>
          <p:cNvSpPr txBox="1"/>
          <p:nvPr/>
        </p:nvSpPr>
        <p:spPr>
          <a:xfrm>
            <a:off x="749808" y="3639312"/>
            <a:ext cx="2560320" cy="329184"/>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other_trash</a:t>
            </a:r>
            <a:endParaRPr lang="en-US" sz="1500" dirty="0"/>
          </a:p>
        </p:txBody>
      </p:sp>
      <p:sp>
        <p:nvSpPr>
          <p:cNvPr id="18" name="Text 16"/>
          <p:cNvSpPr txBox="1"/>
          <p:nvPr/>
        </p:nvSpPr>
        <p:spPr>
          <a:xfrm>
            <a:off x="3429000" y="1463040"/>
            <a:ext cx="5303520" cy="256032"/>
          </a:xfrm>
          <a:prstGeom prst="rect">
            <a:avLst/>
          </a:prstGeom>
          <a:noFill/>
          <a:ln/>
        </p:spPr>
        <p:txBody>
          <a:bodyPr wrap="square" lIns="0" tIns="0" rIns="0" bIns="0" rtlCol="0" anchor="t"/>
          <a:lstStyle/>
          <a:p>
            <a:pPr indent="0" marL="0">
              <a:buNone/>
            </a:pPr>
            <a:r>
              <a:rPr lang="en-US" sz="1200" b="1" spc="200" kern="0" dirty="0">
                <a:solidFill>
                  <a:srgbClr val="0E7C86"/>
                </a:solidFill>
                <a:latin typeface="Calibri" pitchFamily="34" charset="0"/>
                <a:ea typeface="Calibri" pitchFamily="34" charset="-122"/>
                <a:cs typeface="Calibri" pitchFamily="34" charset="-120"/>
              </a:rPr>
              <a:t>EXPANDED RESNET50  ·  19 CLASSES</a:t>
            </a:r>
            <a:endParaRPr lang="en-US" sz="1200" dirty="0"/>
          </a:p>
        </p:txBody>
      </p:sp>
      <p:sp>
        <p:nvSpPr>
          <p:cNvPr id="19" name="Text 17"/>
          <p:cNvSpPr txBox="1"/>
          <p:nvPr/>
        </p:nvSpPr>
        <p:spPr>
          <a:xfrm>
            <a:off x="3429000" y="1901952"/>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battery</a:t>
            </a:r>
            <a:endParaRPr lang="en-US" sz="1400" dirty="0"/>
          </a:p>
        </p:txBody>
      </p:sp>
      <p:sp>
        <p:nvSpPr>
          <p:cNvPr id="20" name="Text 18"/>
          <p:cNvSpPr txBox="1"/>
          <p:nvPr/>
        </p:nvSpPr>
        <p:spPr>
          <a:xfrm>
            <a:off x="3429000" y="2249424"/>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biological</a:t>
            </a:r>
            <a:endParaRPr lang="en-US" sz="1400" dirty="0"/>
          </a:p>
        </p:txBody>
      </p:sp>
      <p:sp>
        <p:nvSpPr>
          <p:cNvPr id="21" name="Text 19"/>
          <p:cNvSpPr txBox="1"/>
          <p:nvPr/>
        </p:nvSpPr>
        <p:spPr>
          <a:xfrm>
            <a:off x="3429000" y="2596896"/>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cable</a:t>
            </a:r>
            <a:endParaRPr lang="en-US" sz="1400" dirty="0"/>
          </a:p>
        </p:txBody>
      </p:sp>
      <p:sp>
        <p:nvSpPr>
          <p:cNvPr id="22" name="Text 20"/>
          <p:cNvSpPr txBox="1"/>
          <p:nvPr/>
        </p:nvSpPr>
        <p:spPr>
          <a:xfrm>
            <a:off x="3429000" y="2944368"/>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cardboard</a:t>
            </a:r>
            <a:endParaRPr lang="en-US" sz="1400" dirty="0"/>
          </a:p>
        </p:txBody>
      </p:sp>
      <p:sp>
        <p:nvSpPr>
          <p:cNvPr id="23" name="Text 21"/>
          <p:cNvSpPr txBox="1"/>
          <p:nvPr/>
        </p:nvSpPr>
        <p:spPr>
          <a:xfrm>
            <a:off x="3429000" y="3291840"/>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clothes</a:t>
            </a:r>
            <a:endParaRPr lang="en-US" sz="1400" dirty="0"/>
          </a:p>
        </p:txBody>
      </p:sp>
      <p:sp>
        <p:nvSpPr>
          <p:cNvPr id="24" name="Text 22"/>
          <p:cNvSpPr txBox="1"/>
          <p:nvPr/>
        </p:nvSpPr>
        <p:spPr>
          <a:xfrm>
            <a:off x="3429000" y="3639312"/>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electronic_device</a:t>
            </a:r>
            <a:endParaRPr lang="en-US" sz="1400" dirty="0"/>
          </a:p>
        </p:txBody>
      </p:sp>
      <p:sp>
        <p:nvSpPr>
          <p:cNvPr id="25" name="Text 23"/>
          <p:cNvSpPr txBox="1"/>
          <p:nvPr/>
        </p:nvSpPr>
        <p:spPr>
          <a:xfrm>
            <a:off x="3429000" y="3986784"/>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gauze</a:t>
            </a:r>
            <a:endParaRPr lang="en-US" sz="1400" dirty="0"/>
          </a:p>
        </p:txBody>
      </p:sp>
      <p:sp>
        <p:nvSpPr>
          <p:cNvPr id="26" name="Text 24"/>
          <p:cNvSpPr txBox="1"/>
          <p:nvPr/>
        </p:nvSpPr>
        <p:spPr>
          <a:xfrm>
            <a:off x="5212080" y="1901952"/>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general_trash</a:t>
            </a:r>
            <a:endParaRPr lang="en-US" sz="1400" dirty="0"/>
          </a:p>
        </p:txBody>
      </p:sp>
      <p:sp>
        <p:nvSpPr>
          <p:cNvPr id="27" name="Text 25"/>
          <p:cNvSpPr txBox="1"/>
          <p:nvPr/>
        </p:nvSpPr>
        <p:spPr>
          <a:xfrm>
            <a:off x="5212080" y="2249424"/>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glass</a:t>
            </a:r>
            <a:endParaRPr lang="en-US" sz="1400" dirty="0"/>
          </a:p>
        </p:txBody>
      </p:sp>
      <p:sp>
        <p:nvSpPr>
          <p:cNvPr id="28" name="Text 26"/>
          <p:cNvSpPr txBox="1"/>
          <p:nvPr/>
        </p:nvSpPr>
        <p:spPr>
          <a:xfrm>
            <a:off x="5212080" y="2596896"/>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medical_cap</a:t>
            </a:r>
            <a:endParaRPr lang="en-US" sz="1400" dirty="0"/>
          </a:p>
        </p:txBody>
      </p:sp>
      <p:sp>
        <p:nvSpPr>
          <p:cNvPr id="29" name="Text 27"/>
          <p:cNvSpPr txBox="1"/>
          <p:nvPr/>
        </p:nvSpPr>
        <p:spPr>
          <a:xfrm>
            <a:off x="5212080" y="2944368"/>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medical_glasses</a:t>
            </a:r>
            <a:endParaRPr lang="en-US" sz="1400" dirty="0"/>
          </a:p>
        </p:txBody>
      </p:sp>
      <p:sp>
        <p:nvSpPr>
          <p:cNvPr id="30" name="Text 28"/>
          <p:cNvSpPr txBox="1"/>
          <p:nvPr/>
        </p:nvSpPr>
        <p:spPr>
          <a:xfrm>
            <a:off x="5212080" y="3291840"/>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medical_gloves</a:t>
            </a:r>
            <a:endParaRPr lang="en-US" sz="1400" dirty="0"/>
          </a:p>
        </p:txBody>
      </p:sp>
      <p:sp>
        <p:nvSpPr>
          <p:cNvPr id="31" name="Text 29"/>
          <p:cNvSpPr txBox="1"/>
          <p:nvPr/>
        </p:nvSpPr>
        <p:spPr>
          <a:xfrm>
            <a:off x="5212080" y="3639312"/>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metal</a:t>
            </a:r>
            <a:endParaRPr lang="en-US" sz="1400" dirty="0"/>
          </a:p>
        </p:txBody>
      </p:sp>
      <p:sp>
        <p:nvSpPr>
          <p:cNvPr id="32" name="Text 30"/>
          <p:cNvSpPr txBox="1"/>
          <p:nvPr/>
        </p:nvSpPr>
        <p:spPr>
          <a:xfrm>
            <a:off x="5212080" y="3986784"/>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paper</a:t>
            </a:r>
            <a:endParaRPr lang="en-US" sz="1400" dirty="0"/>
          </a:p>
        </p:txBody>
      </p:sp>
      <p:sp>
        <p:nvSpPr>
          <p:cNvPr id="33" name="Text 31"/>
          <p:cNvSpPr txBox="1"/>
          <p:nvPr/>
        </p:nvSpPr>
        <p:spPr>
          <a:xfrm>
            <a:off x="6995160" y="1901952"/>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plastic</a:t>
            </a:r>
            <a:endParaRPr lang="en-US" sz="1400" dirty="0"/>
          </a:p>
        </p:txBody>
      </p:sp>
      <p:sp>
        <p:nvSpPr>
          <p:cNvPr id="34" name="Text 32"/>
          <p:cNvSpPr txBox="1"/>
          <p:nvPr/>
        </p:nvSpPr>
        <p:spPr>
          <a:xfrm>
            <a:off x="6995160" y="2249424"/>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shoe_cover</a:t>
            </a:r>
            <a:endParaRPr lang="en-US" sz="1400" dirty="0"/>
          </a:p>
        </p:txBody>
      </p:sp>
      <p:sp>
        <p:nvSpPr>
          <p:cNvPr id="35" name="Text 33"/>
          <p:cNvSpPr txBox="1"/>
          <p:nvPr/>
        </p:nvSpPr>
        <p:spPr>
          <a:xfrm>
            <a:off x="6995160" y="2596896"/>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shoes</a:t>
            </a:r>
            <a:endParaRPr lang="en-US" sz="1400" dirty="0"/>
          </a:p>
        </p:txBody>
      </p:sp>
      <p:sp>
        <p:nvSpPr>
          <p:cNvPr id="36" name="Text 34"/>
          <p:cNvSpPr txBox="1"/>
          <p:nvPr/>
        </p:nvSpPr>
        <p:spPr>
          <a:xfrm>
            <a:off x="6995160" y="2944368"/>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test_tube</a:t>
            </a:r>
            <a:endParaRPr lang="en-US" sz="1400" dirty="0"/>
          </a:p>
        </p:txBody>
      </p:sp>
      <p:sp>
        <p:nvSpPr>
          <p:cNvPr id="37" name="Text 35"/>
          <p:cNvSpPr txBox="1"/>
          <p:nvPr/>
        </p:nvSpPr>
        <p:spPr>
          <a:xfrm>
            <a:off x="6995160" y="3291840"/>
            <a:ext cx="1737360" cy="329184"/>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urine_bag</a:t>
            </a:r>
            <a:endParaRPr lang="en-US" sz="1400" dirty="0"/>
          </a:p>
        </p:txBody>
      </p:sp>
      <p:sp>
        <p:nvSpPr>
          <p:cNvPr id="38" name="Shape 36"/>
          <p:cNvSpPr/>
          <p:nvPr/>
        </p:nvSpPr>
        <p:spPr>
          <a:xfrm>
            <a:off x="8915400" y="1463040"/>
            <a:ext cx="2724912" cy="914"/>
          </a:xfrm>
          <a:prstGeom prst="rect">
            <a:avLst/>
          </a:prstGeom>
          <a:ln/>
        </p:spPr>
      </p:sp>
      <p:pic>
        <p:nvPicPr>
          <p:cNvPr id="39" name="Image 0" descr="dataset_sheet.jpg">    </p:cNvPr>
          <p:cNvPicPr>
            <a:picLocks noChangeAspect="1"/>
          </p:cNvPicPr>
          <p:nvPr/>
        </p:nvPicPr>
        <p:blipFill>
          <a:blip r:embed="rId1"/>
          <a:stretch>
            <a:fillRect/>
          </a:stretch>
        </p:blipFill>
        <p:spPr>
          <a:xfrm>
            <a:off x="8915400" y="1508760"/>
            <a:ext cx="2724912" cy="2275881"/>
          </a:xfrm>
          <a:prstGeom prst="rect">
            <a:avLst/>
          </a:prstGeom>
        </p:spPr>
      </p:pic>
      <p:sp>
        <p:nvSpPr>
          <p:cNvPr id="40" name="Text 37"/>
          <p:cNvSpPr txBox="1"/>
          <p:nvPr/>
        </p:nvSpPr>
        <p:spPr>
          <a:xfrm>
            <a:off x="8915400" y="3886200"/>
            <a:ext cx="2724912" cy="548640"/>
          </a:xfrm>
          <a:prstGeom prst="rect">
            <a:avLst/>
          </a:prstGeom>
          <a:noFill/>
          <a:ln/>
        </p:spPr>
        <p:txBody>
          <a:bodyPr wrap="square" lIns="0" tIns="0" rIns="0" bIns="0" rtlCol="0" anchor="t"/>
          <a:lstStyle/>
          <a:p>
            <a:pPr indent="0" marL="0">
              <a:buNone/>
            </a:pPr>
            <a:r>
              <a:rPr lang="en-US" sz="1200" dirty="0">
                <a:solidFill>
                  <a:srgbClr val="5C6B7A"/>
                </a:solidFill>
                <a:latin typeface="Calibri" pitchFamily="34" charset="0"/>
                <a:ea typeface="Calibri" pitchFamily="34" charset="-122"/>
                <a:cs typeface="Calibri" pitchFamily="34" charset="-120"/>
              </a:rPr>
              <a:t>Actual dataset sample sheet (TrashNet++ medical images)</a:t>
            </a:r>
            <a:endParaRPr lang="en-US" sz="1200" dirty="0"/>
          </a:p>
        </p:txBody>
      </p:sp>
      <p:sp>
        <p:nvSpPr>
          <p:cNvPr id="41" name="Text 38"/>
          <p:cNvSpPr txBox="1"/>
          <p:nvPr/>
        </p:nvSpPr>
        <p:spPr>
          <a:xfrm>
            <a:off x="548640" y="4526280"/>
            <a:ext cx="5486400" cy="256032"/>
          </a:xfrm>
          <a:prstGeom prst="rect">
            <a:avLst/>
          </a:prstGeom>
          <a:noFill/>
          <a:ln/>
        </p:spPr>
        <p:txBody>
          <a:bodyPr wrap="square" lIns="0" tIns="0" rIns="0" bIns="0" rtlCol="0" anchor="t"/>
          <a:lstStyle/>
          <a:p>
            <a:pPr indent="0" marL="0">
              <a:buNone/>
            </a:pPr>
            <a:r>
              <a:rPr lang="en-US" sz="1200" b="1" spc="200" kern="0" dirty="0">
                <a:solidFill>
                  <a:srgbClr val="5C6B7A"/>
                </a:solidFill>
                <a:latin typeface="Calibri" pitchFamily="34" charset="0"/>
                <a:ea typeface="Calibri" pitchFamily="34" charset="-122"/>
                <a:cs typeface="Calibri" pitchFamily="34" charset="-120"/>
              </a:rPr>
              <a:t>DATASET ENGINEERING FLOW</a:t>
            </a:r>
            <a:endParaRPr lang="en-US" sz="1200" dirty="0"/>
          </a:p>
        </p:txBody>
      </p:sp>
      <p:sp>
        <p:nvSpPr>
          <p:cNvPr id="42" name="Shape 39"/>
          <p:cNvSpPr/>
          <p:nvPr/>
        </p:nvSpPr>
        <p:spPr>
          <a:xfrm>
            <a:off x="548640" y="4846320"/>
            <a:ext cx="1645920" cy="685800"/>
          </a:xfrm>
          <a:prstGeom prst="rect">
            <a:avLst/>
          </a:prstGeom>
          <a:solidFill>
            <a:srgbClr val="FFFFFF"/>
          </a:solidFill>
          <a:ln w="12700">
            <a:solidFill>
              <a:srgbClr val="D5DBE1"/>
            </a:solidFill>
            <a:prstDash val="solid"/>
          </a:ln>
        </p:spPr>
      </p:sp>
      <p:sp>
        <p:nvSpPr>
          <p:cNvPr id="43" name="Text 40"/>
          <p:cNvSpPr txBox="1"/>
          <p:nvPr/>
        </p:nvSpPr>
        <p:spPr>
          <a:xfrm>
            <a:off x="621792" y="4846320"/>
            <a:ext cx="1499616" cy="685800"/>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Raw datasets</a:t>
            </a:r>
            <a:endParaRPr lang="en-US" sz="1500" dirty="0"/>
          </a:p>
        </p:txBody>
      </p:sp>
      <p:sp>
        <p:nvSpPr>
          <p:cNvPr id="44" name="Shape 41"/>
          <p:cNvSpPr/>
          <p:nvPr/>
        </p:nvSpPr>
        <p:spPr>
          <a:xfrm>
            <a:off x="2221992" y="5189220"/>
            <a:ext cx="188366" cy="0"/>
          </a:xfrm>
          <a:prstGeom prst="line">
            <a:avLst/>
          </a:prstGeom>
          <a:noFill/>
          <a:ln w="19050">
            <a:solidFill>
              <a:srgbClr val="5C6B7A"/>
            </a:solidFill>
            <a:prstDash val="solid"/>
            <a:tailEnd type="triangle"/>
          </a:ln>
        </p:spPr>
      </p:sp>
      <p:sp>
        <p:nvSpPr>
          <p:cNvPr id="45" name="Shape 42"/>
          <p:cNvSpPr/>
          <p:nvPr/>
        </p:nvSpPr>
        <p:spPr>
          <a:xfrm>
            <a:off x="2437790" y="4846320"/>
            <a:ext cx="1645920" cy="685800"/>
          </a:xfrm>
          <a:prstGeom prst="rect">
            <a:avLst/>
          </a:prstGeom>
          <a:solidFill>
            <a:srgbClr val="FFFFFF"/>
          </a:solidFill>
          <a:ln w="12700">
            <a:solidFill>
              <a:srgbClr val="D5DBE1"/>
            </a:solidFill>
            <a:prstDash val="solid"/>
          </a:ln>
        </p:spPr>
      </p:sp>
      <p:sp>
        <p:nvSpPr>
          <p:cNvPr id="46" name="Text 43"/>
          <p:cNvSpPr txBox="1"/>
          <p:nvPr/>
        </p:nvSpPr>
        <p:spPr>
          <a:xfrm>
            <a:off x="2510942" y="4846320"/>
            <a:ext cx="1499616" cy="685800"/>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Cleaning</a:t>
            </a:r>
            <a:endParaRPr lang="en-US" sz="1500" dirty="0"/>
          </a:p>
        </p:txBody>
      </p:sp>
      <p:sp>
        <p:nvSpPr>
          <p:cNvPr id="47" name="Shape 44"/>
          <p:cNvSpPr/>
          <p:nvPr/>
        </p:nvSpPr>
        <p:spPr>
          <a:xfrm>
            <a:off x="4111142" y="5189220"/>
            <a:ext cx="188366" cy="0"/>
          </a:xfrm>
          <a:prstGeom prst="line">
            <a:avLst/>
          </a:prstGeom>
          <a:noFill/>
          <a:ln w="19050">
            <a:solidFill>
              <a:srgbClr val="5C6B7A"/>
            </a:solidFill>
            <a:prstDash val="solid"/>
            <a:tailEnd type="triangle"/>
          </a:ln>
        </p:spPr>
      </p:sp>
      <p:sp>
        <p:nvSpPr>
          <p:cNvPr id="48" name="Shape 45"/>
          <p:cNvSpPr/>
          <p:nvPr/>
        </p:nvSpPr>
        <p:spPr>
          <a:xfrm>
            <a:off x="4326941" y="4846320"/>
            <a:ext cx="1645920" cy="685800"/>
          </a:xfrm>
          <a:prstGeom prst="rect">
            <a:avLst/>
          </a:prstGeom>
          <a:solidFill>
            <a:srgbClr val="FFFFFF"/>
          </a:solidFill>
          <a:ln w="12700">
            <a:solidFill>
              <a:srgbClr val="D5DBE1"/>
            </a:solidFill>
            <a:prstDash val="solid"/>
          </a:ln>
        </p:spPr>
      </p:sp>
      <p:sp>
        <p:nvSpPr>
          <p:cNvPr id="49" name="Text 46"/>
          <p:cNvSpPr txBox="1"/>
          <p:nvPr/>
        </p:nvSpPr>
        <p:spPr>
          <a:xfrm>
            <a:off x="4400093" y="4846320"/>
            <a:ext cx="1499616" cy="685800"/>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Taxonomy mapping</a:t>
            </a:r>
            <a:endParaRPr lang="en-US" sz="1500" dirty="0"/>
          </a:p>
        </p:txBody>
      </p:sp>
      <p:sp>
        <p:nvSpPr>
          <p:cNvPr id="50" name="Shape 47"/>
          <p:cNvSpPr/>
          <p:nvPr/>
        </p:nvSpPr>
        <p:spPr>
          <a:xfrm>
            <a:off x="6000293" y="5189220"/>
            <a:ext cx="188366" cy="0"/>
          </a:xfrm>
          <a:prstGeom prst="line">
            <a:avLst/>
          </a:prstGeom>
          <a:noFill/>
          <a:ln w="19050">
            <a:solidFill>
              <a:srgbClr val="5C6B7A"/>
            </a:solidFill>
            <a:prstDash val="solid"/>
            <a:tailEnd type="triangle"/>
          </a:ln>
        </p:spPr>
      </p:sp>
      <p:sp>
        <p:nvSpPr>
          <p:cNvPr id="51" name="Shape 48"/>
          <p:cNvSpPr/>
          <p:nvPr/>
        </p:nvSpPr>
        <p:spPr>
          <a:xfrm>
            <a:off x="6216091" y="4846320"/>
            <a:ext cx="1645920" cy="685800"/>
          </a:xfrm>
          <a:prstGeom prst="rect">
            <a:avLst/>
          </a:prstGeom>
          <a:solidFill>
            <a:srgbClr val="FFFFFF"/>
          </a:solidFill>
          <a:ln w="12700">
            <a:solidFill>
              <a:srgbClr val="D5DBE1"/>
            </a:solidFill>
            <a:prstDash val="solid"/>
          </a:ln>
        </p:spPr>
      </p:sp>
      <p:sp>
        <p:nvSpPr>
          <p:cNvPr id="52" name="Text 49"/>
          <p:cNvSpPr txBox="1"/>
          <p:nvPr/>
        </p:nvSpPr>
        <p:spPr>
          <a:xfrm>
            <a:off x="6289243" y="4846320"/>
            <a:ext cx="1499616" cy="685800"/>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Annotation validation</a:t>
            </a:r>
            <a:endParaRPr lang="en-US" sz="1500" dirty="0"/>
          </a:p>
        </p:txBody>
      </p:sp>
      <p:sp>
        <p:nvSpPr>
          <p:cNvPr id="53" name="Shape 50"/>
          <p:cNvSpPr/>
          <p:nvPr/>
        </p:nvSpPr>
        <p:spPr>
          <a:xfrm>
            <a:off x="7889443" y="5189220"/>
            <a:ext cx="188366" cy="0"/>
          </a:xfrm>
          <a:prstGeom prst="line">
            <a:avLst/>
          </a:prstGeom>
          <a:noFill/>
          <a:ln w="19050">
            <a:solidFill>
              <a:srgbClr val="5C6B7A"/>
            </a:solidFill>
            <a:prstDash val="solid"/>
            <a:tailEnd type="triangle"/>
          </a:ln>
        </p:spPr>
      </p:sp>
      <p:sp>
        <p:nvSpPr>
          <p:cNvPr id="54" name="Shape 51"/>
          <p:cNvSpPr/>
          <p:nvPr/>
        </p:nvSpPr>
        <p:spPr>
          <a:xfrm>
            <a:off x="8105242" y="4846320"/>
            <a:ext cx="1645920" cy="685800"/>
          </a:xfrm>
          <a:prstGeom prst="rect">
            <a:avLst/>
          </a:prstGeom>
          <a:solidFill>
            <a:srgbClr val="FFFFFF"/>
          </a:solidFill>
          <a:ln w="12700">
            <a:solidFill>
              <a:srgbClr val="D5DBE1"/>
            </a:solidFill>
            <a:prstDash val="solid"/>
          </a:ln>
        </p:spPr>
      </p:sp>
      <p:sp>
        <p:nvSpPr>
          <p:cNvPr id="55" name="Text 52"/>
          <p:cNvSpPr txBox="1"/>
          <p:nvPr/>
        </p:nvSpPr>
        <p:spPr>
          <a:xfrm>
            <a:off x="8178394" y="4846320"/>
            <a:ext cx="1499616" cy="685800"/>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Duplicate / provenance audit</a:t>
            </a:r>
            <a:endParaRPr lang="en-US" sz="1500" dirty="0"/>
          </a:p>
        </p:txBody>
      </p:sp>
      <p:sp>
        <p:nvSpPr>
          <p:cNvPr id="56" name="Shape 53"/>
          <p:cNvSpPr/>
          <p:nvPr/>
        </p:nvSpPr>
        <p:spPr>
          <a:xfrm>
            <a:off x="9778594" y="5189220"/>
            <a:ext cx="188366" cy="0"/>
          </a:xfrm>
          <a:prstGeom prst="line">
            <a:avLst/>
          </a:prstGeom>
          <a:noFill/>
          <a:ln w="19050">
            <a:solidFill>
              <a:srgbClr val="5C6B7A"/>
            </a:solidFill>
            <a:prstDash val="solid"/>
            <a:tailEnd type="triangle"/>
          </a:ln>
        </p:spPr>
      </p:sp>
      <p:sp>
        <p:nvSpPr>
          <p:cNvPr id="57" name="Shape 54"/>
          <p:cNvSpPr/>
          <p:nvPr/>
        </p:nvSpPr>
        <p:spPr>
          <a:xfrm>
            <a:off x="9994392" y="4846320"/>
            <a:ext cx="1645920" cy="685800"/>
          </a:xfrm>
          <a:prstGeom prst="rect">
            <a:avLst/>
          </a:prstGeom>
          <a:solidFill>
            <a:srgbClr val="0E7C86"/>
          </a:solidFill>
          <a:ln w="12700">
            <a:solidFill>
              <a:srgbClr val="0E7C86"/>
            </a:solidFill>
            <a:prstDash val="solid"/>
          </a:ln>
        </p:spPr>
      </p:sp>
      <p:sp>
        <p:nvSpPr>
          <p:cNvPr id="58" name="Text 55"/>
          <p:cNvSpPr txBox="1"/>
          <p:nvPr/>
        </p:nvSpPr>
        <p:spPr>
          <a:xfrm>
            <a:off x="10067544" y="4846320"/>
            <a:ext cx="1499616"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Model-ready data</a:t>
            </a:r>
            <a:endParaRPr lang="en-US" sz="1500" dirty="0"/>
          </a:p>
        </p:txBody>
      </p:sp>
      <p:sp>
        <p:nvSpPr>
          <p:cNvPr id="59" name="Shape 56"/>
          <p:cNvSpPr/>
          <p:nvPr/>
        </p:nvSpPr>
        <p:spPr>
          <a:xfrm>
            <a:off x="548640" y="5760720"/>
            <a:ext cx="11091672" cy="502920"/>
          </a:xfrm>
          <a:prstGeom prst="rect">
            <a:avLst/>
          </a:prstGeom>
          <a:solidFill>
            <a:srgbClr val="E3F1F2"/>
          </a:solidFill>
          <a:ln/>
        </p:spPr>
      </p:sp>
      <p:sp>
        <p:nvSpPr>
          <p:cNvPr id="60" name="Text 57"/>
          <p:cNvSpPr txBox="1"/>
          <p:nvPr/>
        </p:nvSpPr>
        <p:spPr>
          <a:xfrm>
            <a:off x="548640" y="5760720"/>
            <a:ext cx="11091672" cy="502920"/>
          </a:xfrm>
          <a:prstGeom prst="rect">
            <a:avLst/>
          </a:prstGeom>
          <a:noFill/>
          <a:ln/>
        </p:spPr>
        <p:txBody>
          <a:bodyPr wrap="square" lIns="0" tIns="0" rIns="0" bIns="0" rtlCol="0" anchor="ctr"/>
          <a:lstStyle/>
          <a:p>
            <a:pPr algn="ctr" indent="0" marL="0">
              <a:buNone/>
            </a:pPr>
            <a:r>
              <a:rPr lang="en-US" sz="1800" b="1" dirty="0">
                <a:solidFill>
                  <a:srgbClr val="0A5C64"/>
                </a:solidFill>
                <a:latin typeface="Calibri" pitchFamily="34" charset="0"/>
                <a:ea typeface="Calibri" pitchFamily="34" charset="-122"/>
                <a:cs typeface="Calibri" pitchFamily="34" charset="-120"/>
              </a:rPr>
              <a:t>YOLO performs coarse localisation while ResNet50 performs fine-grained classification.</a:t>
            </a:r>
            <a:endParaRPr lang="en-US" sz="1800" dirty="0"/>
          </a:p>
        </p:txBody>
      </p:sp>
      <p:sp>
        <p:nvSpPr>
          <p:cNvPr id="25" name="Slide Number Placeholder 0"/>
          <p:cNvSpPr>
            <a:spLocks noGrp="1"/>
          </p:cNvSpPr>
          <p:nvPr>
            <p:ph type="sldNum" sz="quarter" idx="4294967295"/>
          </p:nvPr>
        </p:nvSpPr>
        <p:spPr>
          <a:xfrm>
            <a:off x="10881360" y="6446520"/>
            <a:ext cx="758952"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C6B7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8595360" cy="594360"/>
          </a:xfrm>
          <a:prstGeom prst="rect">
            <a:avLst/>
          </a:prstGeom>
          <a:noFill/>
          <a:ln/>
        </p:spPr>
        <p:txBody>
          <a:bodyPr wrap="square" lIns="0" tIns="0" rIns="0" bIns="0" rtlCol="0" anchor="t"/>
          <a:lstStyle/>
          <a:p>
            <a:pPr indent="0" marL="0">
              <a:buNone/>
            </a:pPr>
            <a:r>
              <a:rPr lang="en-US" sz="3000" b="1" dirty="0">
                <a:solidFill>
                  <a:srgbClr val="1B2733"/>
                </a:solidFill>
                <a:latin typeface="Calibri" pitchFamily="34" charset="0"/>
                <a:ea typeface="Calibri" pitchFamily="34" charset="-122"/>
                <a:cs typeface="Calibri" pitchFamily="34" charset="-120"/>
              </a:rPr>
              <a:t>Complete System Architecture</a:t>
            </a:r>
            <a:endParaRPr lang="en-US" sz="3000" dirty="0"/>
          </a:p>
        </p:txBody>
      </p:sp>
      <p:sp>
        <p:nvSpPr>
          <p:cNvPr id="3" name="Text 1"/>
          <p:cNvSpPr txBox="1"/>
          <p:nvPr/>
        </p:nvSpPr>
        <p:spPr>
          <a:xfrm>
            <a:off x="548640" y="932688"/>
            <a:ext cx="10607040" cy="347472"/>
          </a:xfrm>
          <a:prstGeom prst="rect">
            <a:avLst/>
          </a:prstGeom>
          <a:noFill/>
          <a:ln/>
        </p:spPr>
        <p:txBody>
          <a:bodyPr wrap="square" lIns="0" tIns="0" rIns="0" bIns="0" rtlCol="0" anchor="t"/>
          <a:lstStyle/>
          <a:p>
            <a:pPr indent="0" marL="0">
              <a:buNone/>
            </a:pPr>
            <a:r>
              <a:rPr lang="en-US" sz="1600" dirty="0">
                <a:solidFill>
                  <a:srgbClr val="5C6B7A"/>
                </a:solidFill>
                <a:latin typeface="Calibri" pitchFamily="34" charset="0"/>
                <a:ea typeface="Calibri" pitchFamily="34" charset="-122"/>
                <a:cs typeface="Calibri" pitchFamily="34" charset="-120"/>
              </a:rPr>
              <a:t>Every prediction passes two guardrails before it becomes a result.</a:t>
            </a:r>
            <a:endParaRPr lang="en-US" sz="1600" dirty="0"/>
          </a:p>
        </p:txBody>
      </p:sp>
      <p:sp>
        <p:nvSpPr>
          <p:cNvPr id="4" name="Text 2"/>
          <p:cNvSpPr txBox="1"/>
          <p:nvPr/>
        </p:nvSpPr>
        <p:spPr>
          <a:xfrm>
            <a:off x="8778240" y="384048"/>
            <a:ext cx="2862072" cy="274320"/>
          </a:xfrm>
          <a:prstGeom prst="rect">
            <a:avLst/>
          </a:prstGeom>
          <a:noFill/>
          <a:ln/>
        </p:spPr>
        <p:txBody>
          <a:bodyPr wrap="square" lIns="0" tIns="0" rIns="0" bIns="0" rtlCol="0" anchor="t"/>
          <a:lstStyle/>
          <a:p>
            <a:pPr algn="r" indent="0" marL="0">
              <a:buNone/>
            </a:pPr>
            <a:r>
              <a:rPr lang="en-US" sz="1200" b="1" spc="150" kern="0" dirty="0">
                <a:solidFill>
                  <a:srgbClr val="0E7C86"/>
                </a:solidFill>
                <a:latin typeface="Calibri" pitchFamily="34" charset="0"/>
                <a:ea typeface="Calibri" pitchFamily="34" charset="-122"/>
                <a:cs typeface="Calibri" pitchFamily="34" charset="-120"/>
              </a:rPr>
              <a:t>SPEAKER  ·  Drashtant</a:t>
            </a:r>
            <a:endParaRPr lang="en-US" sz="1200" dirty="0"/>
          </a:p>
        </p:txBody>
      </p:sp>
      <p:sp>
        <p:nvSpPr>
          <p:cNvPr id="5" name="Text 3"/>
          <p:cNvSpPr txBox="1"/>
          <p:nvPr/>
        </p:nvSpPr>
        <p:spPr>
          <a:xfrm>
            <a:off x="640080" y="1554480"/>
            <a:ext cx="2743200" cy="256032"/>
          </a:xfrm>
          <a:prstGeom prst="rect">
            <a:avLst/>
          </a:prstGeom>
          <a:noFill/>
          <a:ln/>
        </p:spPr>
        <p:txBody>
          <a:bodyPr wrap="square" lIns="0" tIns="0" rIns="0" bIns="0" rtlCol="0" anchor="t"/>
          <a:lstStyle/>
          <a:p>
            <a:pPr indent="0" marL="0">
              <a:buNone/>
            </a:pPr>
            <a:r>
              <a:rPr lang="en-US" sz="1200" b="1" spc="200" kern="0" dirty="0">
                <a:solidFill>
                  <a:srgbClr val="0E7C86"/>
                </a:solidFill>
                <a:latin typeface="Calibri" pitchFamily="34" charset="0"/>
                <a:ea typeface="Calibri" pitchFamily="34" charset="-122"/>
                <a:cs typeface="Calibri" pitchFamily="34" charset="-120"/>
              </a:rPr>
              <a:t>AI PIPELINE</a:t>
            </a:r>
            <a:endParaRPr lang="en-US" sz="1200" dirty="0"/>
          </a:p>
        </p:txBody>
      </p:sp>
      <p:sp>
        <p:nvSpPr>
          <p:cNvPr id="6" name="Shape 4"/>
          <p:cNvSpPr/>
          <p:nvPr/>
        </p:nvSpPr>
        <p:spPr>
          <a:xfrm>
            <a:off x="594360" y="1828800"/>
            <a:ext cx="1874520" cy="868680"/>
          </a:xfrm>
          <a:prstGeom prst="rect">
            <a:avLst/>
          </a:prstGeom>
          <a:solidFill>
            <a:srgbClr val="FFFFFF"/>
          </a:solidFill>
          <a:ln w="12700">
            <a:solidFill>
              <a:srgbClr val="D5DBE1"/>
            </a:solidFill>
            <a:prstDash val="solid"/>
          </a:ln>
        </p:spPr>
      </p:sp>
      <p:sp>
        <p:nvSpPr>
          <p:cNvPr id="7" name="Text 5"/>
          <p:cNvSpPr txBox="1"/>
          <p:nvPr/>
        </p:nvSpPr>
        <p:spPr>
          <a:xfrm>
            <a:off x="667512" y="1828800"/>
            <a:ext cx="1728216" cy="868680"/>
          </a:xfrm>
          <a:prstGeom prst="rect">
            <a:avLst/>
          </a:prstGeom>
          <a:noFill/>
          <a:ln/>
        </p:spPr>
        <p:txBody>
          <a:bodyPr wrap="square" lIns="0" tIns="0" rIns="0" bIns="0" rtlCol="0" anchor="ctr"/>
          <a:lstStyle/>
          <a:p>
            <a:pPr algn="ctr" indent="0" marL="0">
              <a:buNone/>
            </a:pPr>
            <a:r>
              <a:rPr lang="en-US" sz="1400" b="1" dirty="0">
                <a:solidFill>
                  <a:srgbClr val="1B2733"/>
                </a:solidFill>
                <a:latin typeface="Calibri" pitchFamily="34" charset="0"/>
                <a:ea typeface="Calibri" pitchFamily="34" charset="-122"/>
                <a:cs typeface="Calibri" pitchFamily="34" charset="-120"/>
              </a:rPr>
              <a:t>IMAGE</a:t>
            </a:r>
            <a:endParaRPr lang="en-US" sz="1500" dirty="0"/>
          </a:p>
          <a:p>
            <a:pPr algn="ctr" indent="0" marL="0">
              <a:buNone/>
            </a:pPr>
            <a:r>
              <a:rPr lang="en-US" sz="1200" dirty="0">
                <a:solidFill>
                  <a:srgbClr val="5C6B7A"/>
                </a:solidFill>
                <a:latin typeface="Calibri" pitchFamily="34" charset="0"/>
                <a:ea typeface="Calibri" pitchFamily="34" charset="-122"/>
                <a:cs typeface="Calibri" pitchFamily="34" charset="-120"/>
              </a:rPr>
              <a:t>upload or camera frame</a:t>
            </a:r>
            <a:endParaRPr lang="en-US" sz="1500" dirty="0"/>
          </a:p>
        </p:txBody>
      </p:sp>
      <p:sp>
        <p:nvSpPr>
          <p:cNvPr id="8" name="Shape 6"/>
          <p:cNvSpPr/>
          <p:nvPr/>
        </p:nvSpPr>
        <p:spPr>
          <a:xfrm>
            <a:off x="2487168" y="2263140"/>
            <a:ext cx="393192" cy="0"/>
          </a:xfrm>
          <a:prstGeom prst="line">
            <a:avLst/>
          </a:prstGeom>
          <a:noFill/>
          <a:ln w="19050">
            <a:solidFill>
              <a:srgbClr val="5C6B7A"/>
            </a:solidFill>
            <a:prstDash val="solid"/>
            <a:tailEnd type="triangle"/>
          </a:ln>
        </p:spPr>
      </p:sp>
      <p:sp>
        <p:nvSpPr>
          <p:cNvPr id="9" name="Shape 7"/>
          <p:cNvSpPr/>
          <p:nvPr/>
        </p:nvSpPr>
        <p:spPr>
          <a:xfrm>
            <a:off x="2898648" y="1828800"/>
            <a:ext cx="1874520" cy="868680"/>
          </a:xfrm>
          <a:prstGeom prst="rect">
            <a:avLst/>
          </a:prstGeom>
          <a:solidFill>
            <a:srgbClr val="FFFFFF"/>
          </a:solidFill>
          <a:ln w="12700">
            <a:solidFill>
              <a:srgbClr val="D5DBE1"/>
            </a:solidFill>
            <a:prstDash val="solid"/>
          </a:ln>
        </p:spPr>
      </p:sp>
      <p:sp>
        <p:nvSpPr>
          <p:cNvPr id="10" name="Text 8"/>
          <p:cNvSpPr txBox="1"/>
          <p:nvPr/>
        </p:nvSpPr>
        <p:spPr>
          <a:xfrm>
            <a:off x="2971800" y="1828800"/>
            <a:ext cx="1728216" cy="868680"/>
          </a:xfrm>
          <a:prstGeom prst="rect">
            <a:avLst/>
          </a:prstGeom>
          <a:noFill/>
          <a:ln/>
        </p:spPr>
        <p:txBody>
          <a:bodyPr wrap="square" lIns="0" tIns="0" rIns="0" bIns="0" rtlCol="0" anchor="ctr"/>
          <a:lstStyle/>
          <a:p>
            <a:pPr algn="ctr" indent="0" marL="0">
              <a:buNone/>
            </a:pPr>
            <a:r>
              <a:rPr lang="en-US" sz="1400" b="1" dirty="0">
                <a:solidFill>
                  <a:srgbClr val="1B2733"/>
                </a:solidFill>
                <a:latin typeface="Calibri" pitchFamily="34" charset="0"/>
                <a:ea typeface="Calibri" pitchFamily="34" charset="-122"/>
                <a:cs typeface="Calibri" pitchFamily="34" charset="-120"/>
              </a:rPr>
              <a:t>YOLO11s DETECTION</a:t>
            </a:r>
            <a:endParaRPr lang="en-US" sz="1500" dirty="0"/>
          </a:p>
          <a:p>
            <a:pPr algn="ctr" indent="0" marL="0">
              <a:buNone/>
            </a:pPr>
            <a:r>
              <a:rPr lang="en-US" sz="1200" dirty="0">
                <a:solidFill>
                  <a:srgbClr val="5C6B7A"/>
                </a:solidFill>
                <a:latin typeface="Calibri" pitchFamily="34" charset="0"/>
                <a:ea typeface="Calibri" pitchFamily="34" charset="-122"/>
                <a:cs typeface="Calibri" pitchFamily="34" charset="-120"/>
              </a:rPr>
              <a:t>6 practical classes</a:t>
            </a:r>
            <a:endParaRPr lang="en-US" sz="1500" dirty="0"/>
          </a:p>
        </p:txBody>
      </p:sp>
      <p:sp>
        <p:nvSpPr>
          <p:cNvPr id="11" name="Shape 9"/>
          <p:cNvSpPr/>
          <p:nvPr/>
        </p:nvSpPr>
        <p:spPr>
          <a:xfrm>
            <a:off x="4791456" y="2263140"/>
            <a:ext cx="393192" cy="0"/>
          </a:xfrm>
          <a:prstGeom prst="line">
            <a:avLst/>
          </a:prstGeom>
          <a:noFill/>
          <a:ln w="19050">
            <a:solidFill>
              <a:srgbClr val="5C6B7A"/>
            </a:solidFill>
            <a:prstDash val="solid"/>
            <a:tailEnd type="triangle"/>
          </a:ln>
        </p:spPr>
      </p:sp>
      <p:sp>
        <p:nvSpPr>
          <p:cNvPr id="12" name="Shape 10"/>
          <p:cNvSpPr/>
          <p:nvPr/>
        </p:nvSpPr>
        <p:spPr>
          <a:xfrm>
            <a:off x="5202936" y="1828800"/>
            <a:ext cx="1874520" cy="868680"/>
          </a:xfrm>
          <a:prstGeom prst="rect">
            <a:avLst/>
          </a:prstGeom>
          <a:solidFill>
            <a:srgbClr val="FFFFFF"/>
          </a:solidFill>
          <a:ln w="12700">
            <a:solidFill>
              <a:srgbClr val="D5DBE1"/>
            </a:solidFill>
            <a:prstDash val="solid"/>
          </a:ln>
        </p:spPr>
      </p:sp>
      <p:sp>
        <p:nvSpPr>
          <p:cNvPr id="13" name="Text 11"/>
          <p:cNvSpPr txBox="1"/>
          <p:nvPr/>
        </p:nvSpPr>
        <p:spPr>
          <a:xfrm>
            <a:off x="5276088" y="1828800"/>
            <a:ext cx="1728216" cy="868680"/>
          </a:xfrm>
          <a:prstGeom prst="rect">
            <a:avLst/>
          </a:prstGeom>
          <a:noFill/>
          <a:ln/>
        </p:spPr>
        <p:txBody>
          <a:bodyPr wrap="square" lIns="0" tIns="0" rIns="0" bIns="0" rtlCol="0" anchor="ctr"/>
          <a:lstStyle/>
          <a:p>
            <a:pPr algn="ctr" indent="0" marL="0">
              <a:buNone/>
            </a:pPr>
            <a:r>
              <a:rPr lang="en-US" sz="1400" b="1" dirty="0">
                <a:solidFill>
                  <a:srgbClr val="1B2733"/>
                </a:solidFill>
                <a:latin typeface="Calibri" pitchFamily="34" charset="0"/>
                <a:ea typeface="Calibri" pitchFamily="34" charset="-122"/>
                <a:cs typeface="Calibri" pitchFamily="34" charset="-120"/>
              </a:rPr>
              <a:t>BOUNDING BOX + CROP</a:t>
            </a:r>
            <a:endParaRPr lang="en-US" sz="1500" dirty="0"/>
          </a:p>
          <a:p>
            <a:pPr algn="ctr" indent="0" marL="0">
              <a:buNone/>
            </a:pPr>
            <a:r>
              <a:rPr lang="en-US" sz="1200" dirty="0">
                <a:solidFill>
                  <a:srgbClr val="5C6B7A"/>
                </a:solidFill>
                <a:latin typeface="Calibri" pitchFamily="34" charset="0"/>
                <a:ea typeface="Calibri" pitchFamily="34" charset="-122"/>
                <a:cs typeface="Calibri" pitchFamily="34" charset="-120"/>
              </a:rPr>
              <a:t>detected box, clamped</a:t>
            </a:r>
            <a:endParaRPr lang="en-US" sz="1500" dirty="0"/>
          </a:p>
        </p:txBody>
      </p:sp>
      <p:sp>
        <p:nvSpPr>
          <p:cNvPr id="14" name="Shape 12"/>
          <p:cNvSpPr/>
          <p:nvPr/>
        </p:nvSpPr>
        <p:spPr>
          <a:xfrm>
            <a:off x="7095744" y="2263140"/>
            <a:ext cx="393192" cy="0"/>
          </a:xfrm>
          <a:prstGeom prst="line">
            <a:avLst/>
          </a:prstGeom>
          <a:noFill/>
          <a:ln w="19050">
            <a:solidFill>
              <a:srgbClr val="5C6B7A"/>
            </a:solidFill>
            <a:prstDash val="solid"/>
            <a:tailEnd type="triangle"/>
          </a:ln>
        </p:spPr>
      </p:sp>
      <p:sp>
        <p:nvSpPr>
          <p:cNvPr id="15" name="Shape 13"/>
          <p:cNvSpPr/>
          <p:nvPr/>
        </p:nvSpPr>
        <p:spPr>
          <a:xfrm>
            <a:off x="7507224" y="1828800"/>
            <a:ext cx="1874520" cy="868680"/>
          </a:xfrm>
          <a:prstGeom prst="rect">
            <a:avLst/>
          </a:prstGeom>
          <a:solidFill>
            <a:srgbClr val="FFFFFF"/>
          </a:solidFill>
          <a:ln w="12700">
            <a:solidFill>
              <a:srgbClr val="D5DBE1"/>
            </a:solidFill>
            <a:prstDash val="solid"/>
          </a:ln>
        </p:spPr>
      </p:sp>
      <p:sp>
        <p:nvSpPr>
          <p:cNvPr id="16" name="Text 14"/>
          <p:cNvSpPr txBox="1"/>
          <p:nvPr/>
        </p:nvSpPr>
        <p:spPr>
          <a:xfrm>
            <a:off x="7580376" y="1828800"/>
            <a:ext cx="1728216" cy="868680"/>
          </a:xfrm>
          <a:prstGeom prst="rect">
            <a:avLst/>
          </a:prstGeom>
          <a:noFill/>
          <a:ln/>
        </p:spPr>
        <p:txBody>
          <a:bodyPr wrap="square" lIns="0" tIns="0" rIns="0" bIns="0" rtlCol="0" anchor="ctr"/>
          <a:lstStyle/>
          <a:p>
            <a:pPr algn="ctr" indent="0" marL="0">
              <a:buNone/>
            </a:pPr>
            <a:r>
              <a:rPr lang="en-US" sz="1400" b="1" dirty="0">
                <a:solidFill>
                  <a:srgbClr val="1B2733"/>
                </a:solidFill>
                <a:latin typeface="Calibri" pitchFamily="34" charset="0"/>
                <a:ea typeface="Calibri" pitchFamily="34" charset="-122"/>
                <a:cs typeface="Calibri" pitchFamily="34" charset="-120"/>
              </a:rPr>
              <a:t>EXPANDED RESNET50</a:t>
            </a:r>
            <a:endParaRPr lang="en-US" sz="1500" dirty="0"/>
          </a:p>
          <a:p>
            <a:pPr algn="ctr" indent="0" marL="0">
              <a:buNone/>
            </a:pPr>
            <a:r>
              <a:rPr lang="en-US" sz="1200" dirty="0">
                <a:solidFill>
                  <a:srgbClr val="5C6B7A"/>
                </a:solidFill>
                <a:latin typeface="Calibri" pitchFamily="34" charset="0"/>
                <a:ea typeface="Calibri" pitchFamily="34" charset="-122"/>
                <a:cs typeface="Calibri" pitchFamily="34" charset="-120"/>
              </a:rPr>
              <a:t>19-class classifier</a:t>
            </a:r>
            <a:endParaRPr lang="en-US" sz="1500" dirty="0"/>
          </a:p>
        </p:txBody>
      </p:sp>
      <p:sp>
        <p:nvSpPr>
          <p:cNvPr id="17" name="Shape 15"/>
          <p:cNvSpPr/>
          <p:nvPr/>
        </p:nvSpPr>
        <p:spPr>
          <a:xfrm>
            <a:off x="9400032" y="2263140"/>
            <a:ext cx="393192" cy="0"/>
          </a:xfrm>
          <a:prstGeom prst="line">
            <a:avLst/>
          </a:prstGeom>
          <a:noFill/>
          <a:ln w="19050">
            <a:solidFill>
              <a:srgbClr val="5C6B7A"/>
            </a:solidFill>
            <a:prstDash val="solid"/>
            <a:tailEnd type="triangle"/>
          </a:ln>
        </p:spPr>
      </p:sp>
      <p:sp>
        <p:nvSpPr>
          <p:cNvPr id="18" name="Shape 16"/>
          <p:cNvSpPr/>
          <p:nvPr/>
        </p:nvSpPr>
        <p:spPr>
          <a:xfrm>
            <a:off x="9811512" y="1828800"/>
            <a:ext cx="1874520" cy="868680"/>
          </a:xfrm>
          <a:prstGeom prst="rect">
            <a:avLst/>
          </a:prstGeom>
          <a:solidFill>
            <a:srgbClr val="FFFFFF"/>
          </a:solidFill>
          <a:ln w="12700">
            <a:solidFill>
              <a:srgbClr val="D5DBE1"/>
            </a:solidFill>
            <a:prstDash val="solid"/>
          </a:ln>
        </p:spPr>
      </p:sp>
      <p:sp>
        <p:nvSpPr>
          <p:cNvPr id="19" name="Text 17"/>
          <p:cNvSpPr txBox="1"/>
          <p:nvPr/>
        </p:nvSpPr>
        <p:spPr>
          <a:xfrm>
            <a:off x="9884664" y="1828800"/>
            <a:ext cx="1728216" cy="868680"/>
          </a:xfrm>
          <a:prstGeom prst="rect">
            <a:avLst/>
          </a:prstGeom>
          <a:noFill/>
          <a:ln/>
        </p:spPr>
        <p:txBody>
          <a:bodyPr wrap="square" lIns="0" tIns="0" rIns="0" bIns="0" rtlCol="0" anchor="ctr"/>
          <a:lstStyle/>
          <a:p>
            <a:pPr algn="ctr" indent="0" marL="0">
              <a:buNone/>
            </a:pPr>
            <a:r>
              <a:rPr lang="en-US" sz="1400" b="1" dirty="0">
                <a:solidFill>
                  <a:srgbClr val="1B2733"/>
                </a:solidFill>
                <a:latin typeface="Calibri" pitchFamily="34" charset="0"/>
                <a:ea typeface="Calibri" pitchFamily="34" charset="-122"/>
                <a:cs typeface="Calibri" pitchFamily="34" charset="-120"/>
              </a:rPr>
              <a:t>19-CLASS PREDICTION</a:t>
            </a:r>
            <a:endParaRPr lang="en-US" sz="1500" dirty="0"/>
          </a:p>
          <a:p>
            <a:pPr algn="ctr" indent="0" marL="0">
              <a:buNone/>
            </a:pPr>
            <a:r>
              <a:rPr lang="en-US" sz="1200" dirty="0">
                <a:solidFill>
                  <a:srgbClr val="5C6B7A"/>
                </a:solidFill>
                <a:latin typeface="Calibri" pitchFamily="34" charset="0"/>
                <a:ea typeface="Calibri" pitchFamily="34" charset="-122"/>
                <a:cs typeface="Calibri" pitchFamily="34" charset="-120"/>
              </a:rPr>
              <a:t>label + confidence</a:t>
            </a:r>
            <a:endParaRPr lang="en-US" sz="1500" dirty="0"/>
          </a:p>
        </p:txBody>
      </p:sp>
      <p:sp>
        <p:nvSpPr>
          <p:cNvPr id="20" name="Shape 18"/>
          <p:cNvSpPr/>
          <p:nvPr/>
        </p:nvSpPr>
        <p:spPr>
          <a:xfrm>
            <a:off x="594360" y="3611880"/>
            <a:ext cx="1627632" cy="868680"/>
          </a:xfrm>
          <a:prstGeom prst="rect">
            <a:avLst/>
          </a:prstGeom>
          <a:solidFill>
            <a:srgbClr val="0E7C86"/>
          </a:solidFill>
          <a:ln w="12700">
            <a:solidFill>
              <a:srgbClr val="0E7C86"/>
            </a:solidFill>
            <a:prstDash val="solid"/>
          </a:ln>
        </p:spPr>
      </p:sp>
      <p:sp>
        <p:nvSpPr>
          <p:cNvPr id="21" name="Text 19"/>
          <p:cNvSpPr txBox="1"/>
          <p:nvPr/>
        </p:nvSpPr>
        <p:spPr>
          <a:xfrm>
            <a:off x="667512" y="3611880"/>
            <a:ext cx="1481328" cy="8686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OOD DETECTION</a:t>
            </a:r>
            <a:endParaRPr lang="en-US" sz="1500" dirty="0"/>
          </a:p>
          <a:p>
            <a:pPr algn="ctr" indent="0" marL="0">
              <a:buNone/>
            </a:pPr>
            <a:r>
              <a:rPr lang="en-US" sz="1200" dirty="0">
                <a:solidFill>
                  <a:srgbClr val="E3F1F2"/>
                </a:solidFill>
                <a:latin typeface="Calibri" pitchFamily="34" charset="0"/>
                <a:ea typeface="Calibri" pitchFamily="34" charset="-122"/>
                <a:cs typeface="Calibri" pitchFamily="34" charset="-120"/>
              </a:rPr>
              <a:t>threshold 0.230447</a:t>
            </a:r>
            <a:endParaRPr lang="en-US" sz="1500" dirty="0"/>
          </a:p>
        </p:txBody>
      </p:sp>
      <p:sp>
        <p:nvSpPr>
          <p:cNvPr id="22" name="Shape 20"/>
          <p:cNvSpPr/>
          <p:nvPr/>
        </p:nvSpPr>
        <p:spPr>
          <a:xfrm>
            <a:off x="2240280" y="4046220"/>
            <a:ext cx="228600" cy="0"/>
          </a:xfrm>
          <a:prstGeom prst="line">
            <a:avLst/>
          </a:prstGeom>
          <a:noFill/>
          <a:ln w="19050">
            <a:solidFill>
              <a:srgbClr val="5C6B7A"/>
            </a:solidFill>
            <a:prstDash val="solid"/>
            <a:tailEnd type="triangle"/>
          </a:ln>
        </p:spPr>
      </p:sp>
      <p:sp>
        <p:nvSpPr>
          <p:cNvPr id="23" name="Shape 21"/>
          <p:cNvSpPr/>
          <p:nvPr/>
        </p:nvSpPr>
        <p:spPr>
          <a:xfrm>
            <a:off x="2487168" y="3611880"/>
            <a:ext cx="1627632" cy="868680"/>
          </a:xfrm>
          <a:prstGeom prst="rect">
            <a:avLst/>
          </a:prstGeom>
          <a:solidFill>
            <a:srgbClr val="0E7C86"/>
          </a:solidFill>
          <a:ln w="12700">
            <a:solidFill>
              <a:srgbClr val="0E7C86"/>
            </a:solidFill>
            <a:prstDash val="solid"/>
          </a:ln>
        </p:spPr>
      </p:sp>
      <p:sp>
        <p:nvSpPr>
          <p:cNvPr id="24" name="Text 22"/>
          <p:cNvSpPr txBox="1"/>
          <p:nvPr/>
        </p:nvSpPr>
        <p:spPr>
          <a:xfrm>
            <a:off x="2560320" y="3611880"/>
            <a:ext cx="1481328" cy="8686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SEMANTIC COMPATIBILITY</a:t>
            </a:r>
            <a:endParaRPr lang="en-US" sz="1500" dirty="0"/>
          </a:p>
          <a:p>
            <a:pPr algn="ctr" indent="0" marL="0">
              <a:buNone/>
            </a:pPr>
            <a:r>
              <a:rPr lang="en-US" sz="1200" dirty="0">
                <a:solidFill>
                  <a:srgbClr val="E3F1F2"/>
                </a:solidFill>
                <a:latin typeface="Calibri" pitchFamily="34" charset="0"/>
                <a:ea typeface="Calibri" pitchFamily="34" charset="-122"/>
                <a:cs typeface="Calibri" pitchFamily="34" charset="-120"/>
              </a:rPr>
              <a:t>detector ↔ classifier</a:t>
            </a:r>
            <a:endParaRPr lang="en-US" sz="1500" dirty="0"/>
          </a:p>
        </p:txBody>
      </p:sp>
      <p:sp>
        <p:nvSpPr>
          <p:cNvPr id="25" name="Shape 23"/>
          <p:cNvSpPr/>
          <p:nvPr/>
        </p:nvSpPr>
        <p:spPr>
          <a:xfrm>
            <a:off x="4133088" y="4046220"/>
            <a:ext cx="228600" cy="0"/>
          </a:xfrm>
          <a:prstGeom prst="line">
            <a:avLst/>
          </a:prstGeom>
          <a:noFill/>
          <a:ln w="19050">
            <a:solidFill>
              <a:srgbClr val="5C6B7A"/>
            </a:solidFill>
            <a:prstDash val="solid"/>
            <a:tailEnd type="triangle"/>
          </a:ln>
        </p:spPr>
      </p:sp>
      <p:sp>
        <p:nvSpPr>
          <p:cNvPr id="26" name="Shape 24"/>
          <p:cNvSpPr/>
          <p:nvPr/>
        </p:nvSpPr>
        <p:spPr>
          <a:xfrm>
            <a:off x="4379976" y="3611880"/>
            <a:ext cx="1627632" cy="868680"/>
          </a:xfrm>
          <a:prstGeom prst="rect">
            <a:avLst/>
          </a:prstGeom>
          <a:solidFill>
            <a:srgbClr val="22313F"/>
          </a:solidFill>
          <a:ln w="12700">
            <a:solidFill>
              <a:srgbClr val="22313F"/>
            </a:solidFill>
            <a:prstDash val="solid"/>
          </a:ln>
        </p:spPr>
      </p:sp>
      <p:sp>
        <p:nvSpPr>
          <p:cNvPr id="27" name="Text 25"/>
          <p:cNvSpPr txBox="1"/>
          <p:nvPr/>
        </p:nvSpPr>
        <p:spPr>
          <a:xfrm>
            <a:off x="4453128" y="3611880"/>
            <a:ext cx="1481328" cy="8686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ACCEPT / REJECT</a:t>
            </a:r>
            <a:endParaRPr lang="en-US" sz="1500" dirty="0"/>
          </a:p>
          <a:p>
            <a:pPr algn="ctr" indent="0" marL="0">
              <a:buNone/>
            </a:pPr>
            <a:r>
              <a:rPr lang="en-US" sz="1200" dirty="0">
                <a:solidFill>
                  <a:srgbClr val="D5DBE1"/>
                </a:solidFill>
                <a:latin typeface="Calibri" pitchFamily="34" charset="0"/>
                <a:ea typeface="Calibri" pitchFamily="34" charset="-122"/>
                <a:cs typeface="Calibri" pitchFamily="34" charset="-120"/>
              </a:rPr>
              <a:t>both gates must pass</a:t>
            </a:r>
            <a:endParaRPr lang="en-US" sz="1500" dirty="0"/>
          </a:p>
        </p:txBody>
      </p:sp>
      <p:sp>
        <p:nvSpPr>
          <p:cNvPr id="28" name="Shape 26"/>
          <p:cNvSpPr/>
          <p:nvPr/>
        </p:nvSpPr>
        <p:spPr>
          <a:xfrm>
            <a:off x="6025896" y="4046220"/>
            <a:ext cx="228600" cy="0"/>
          </a:xfrm>
          <a:prstGeom prst="line">
            <a:avLst/>
          </a:prstGeom>
          <a:noFill/>
          <a:ln w="19050">
            <a:solidFill>
              <a:srgbClr val="5C6B7A"/>
            </a:solidFill>
            <a:prstDash val="solid"/>
            <a:tailEnd type="triangle"/>
          </a:ln>
        </p:spPr>
      </p:sp>
      <p:sp>
        <p:nvSpPr>
          <p:cNvPr id="29" name="Shape 27"/>
          <p:cNvSpPr/>
          <p:nvPr/>
        </p:nvSpPr>
        <p:spPr>
          <a:xfrm>
            <a:off x="6272784" y="3611880"/>
            <a:ext cx="1627632" cy="868680"/>
          </a:xfrm>
          <a:prstGeom prst="rect">
            <a:avLst/>
          </a:prstGeom>
          <a:solidFill>
            <a:srgbClr val="FFFFFF"/>
          </a:solidFill>
          <a:ln w="12700">
            <a:solidFill>
              <a:srgbClr val="D5DBE1"/>
            </a:solidFill>
            <a:prstDash val="solid"/>
          </a:ln>
        </p:spPr>
      </p:sp>
      <p:sp>
        <p:nvSpPr>
          <p:cNvPr id="30" name="Text 28"/>
          <p:cNvSpPr txBox="1"/>
          <p:nvPr/>
        </p:nvSpPr>
        <p:spPr>
          <a:xfrm>
            <a:off x="6345936" y="3611880"/>
            <a:ext cx="1481328" cy="868680"/>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DISPOSAL GUIDANCE</a:t>
            </a:r>
            <a:endParaRPr lang="en-US" sz="1500" dirty="0"/>
          </a:p>
          <a:p>
            <a:pPr algn="ctr" indent="0" marL="0">
              <a:buNone/>
            </a:pPr>
            <a:r>
              <a:rPr lang="en-US" sz="1200" dirty="0">
                <a:solidFill>
                  <a:srgbClr val="5C6B7A"/>
                </a:solidFill>
                <a:latin typeface="Calibri" pitchFamily="34" charset="0"/>
                <a:ea typeface="Calibri" pitchFamily="34" charset="-122"/>
                <a:cs typeface="Calibri" pitchFamily="34" charset="-120"/>
              </a:rPr>
              <a:t>accepted objects only</a:t>
            </a:r>
            <a:endParaRPr lang="en-US" sz="1500" dirty="0"/>
          </a:p>
        </p:txBody>
      </p:sp>
      <p:sp>
        <p:nvSpPr>
          <p:cNvPr id="31" name="Shape 29"/>
          <p:cNvSpPr/>
          <p:nvPr/>
        </p:nvSpPr>
        <p:spPr>
          <a:xfrm>
            <a:off x="7918704" y="4046220"/>
            <a:ext cx="228600" cy="0"/>
          </a:xfrm>
          <a:prstGeom prst="line">
            <a:avLst/>
          </a:prstGeom>
          <a:noFill/>
          <a:ln w="19050">
            <a:solidFill>
              <a:srgbClr val="5C6B7A"/>
            </a:solidFill>
            <a:prstDash val="solid"/>
            <a:tailEnd type="triangle"/>
          </a:ln>
        </p:spPr>
      </p:sp>
      <p:sp>
        <p:nvSpPr>
          <p:cNvPr id="32" name="Shape 30"/>
          <p:cNvSpPr/>
          <p:nvPr/>
        </p:nvSpPr>
        <p:spPr>
          <a:xfrm>
            <a:off x="8165592" y="3611880"/>
            <a:ext cx="1627632" cy="868680"/>
          </a:xfrm>
          <a:prstGeom prst="rect">
            <a:avLst/>
          </a:prstGeom>
          <a:solidFill>
            <a:srgbClr val="FFFFFF"/>
          </a:solidFill>
          <a:ln w="12700">
            <a:solidFill>
              <a:srgbClr val="D5DBE1"/>
            </a:solidFill>
            <a:prstDash val="solid"/>
          </a:ln>
        </p:spPr>
      </p:sp>
      <p:sp>
        <p:nvSpPr>
          <p:cNvPr id="33" name="Text 31"/>
          <p:cNvSpPr txBox="1"/>
          <p:nvPr/>
        </p:nvSpPr>
        <p:spPr>
          <a:xfrm>
            <a:off x="8238744" y="3611880"/>
            <a:ext cx="1481328" cy="868680"/>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FASTAPI</a:t>
            </a:r>
            <a:endParaRPr lang="en-US" sz="1500" dirty="0"/>
          </a:p>
          <a:p>
            <a:pPr algn="ctr" indent="0" marL="0">
              <a:buNone/>
            </a:pPr>
            <a:r>
              <a:rPr lang="en-US" sz="1200" dirty="0">
                <a:solidFill>
                  <a:srgbClr val="5C6B7A"/>
                </a:solidFill>
                <a:latin typeface="Calibri" pitchFamily="34" charset="0"/>
                <a:ea typeface="Calibri" pitchFamily="34" charset="-122"/>
                <a:cs typeface="Calibri" pitchFamily="34" charset="-120"/>
              </a:rPr>
              <a:t>POST /predict → JSON</a:t>
            </a:r>
            <a:endParaRPr lang="en-US" sz="1500" dirty="0"/>
          </a:p>
        </p:txBody>
      </p:sp>
      <p:sp>
        <p:nvSpPr>
          <p:cNvPr id="34" name="Shape 32"/>
          <p:cNvSpPr/>
          <p:nvPr/>
        </p:nvSpPr>
        <p:spPr>
          <a:xfrm>
            <a:off x="9811512" y="4046220"/>
            <a:ext cx="228600" cy="0"/>
          </a:xfrm>
          <a:prstGeom prst="line">
            <a:avLst/>
          </a:prstGeom>
          <a:noFill/>
          <a:ln w="19050">
            <a:solidFill>
              <a:srgbClr val="5C6B7A"/>
            </a:solidFill>
            <a:prstDash val="solid"/>
            <a:tailEnd type="triangle"/>
          </a:ln>
        </p:spPr>
      </p:sp>
      <p:sp>
        <p:nvSpPr>
          <p:cNvPr id="35" name="Shape 33"/>
          <p:cNvSpPr/>
          <p:nvPr/>
        </p:nvSpPr>
        <p:spPr>
          <a:xfrm>
            <a:off x="10058400" y="3611880"/>
            <a:ext cx="1627632" cy="868680"/>
          </a:xfrm>
          <a:prstGeom prst="rect">
            <a:avLst/>
          </a:prstGeom>
          <a:solidFill>
            <a:srgbClr val="FFFFFF"/>
          </a:solidFill>
          <a:ln w="12700">
            <a:solidFill>
              <a:srgbClr val="D5DBE1"/>
            </a:solidFill>
            <a:prstDash val="solid"/>
          </a:ln>
        </p:spPr>
      </p:sp>
      <p:sp>
        <p:nvSpPr>
          <p:cNvPr id="36" name="Text 34"/>
          <p:cNvSpPr txBox="1"/>
          <p:nvPr/>
        </p:nvSpPr>
        <p:spPr>
          <a:xfrm>
            <a:off x="10131552" y="3611880"/>
            <a:ext cx="1481328" cy="868680"/>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REACT FRONTEND</a:t>
            </a:r>
            <a:endParaRPr lang="en-US" sz="1500" dirty="0"/>
          </a:p>
          <a:p>
            <a:pPr algn="ctr" indent="0" marL="0">
              <a:buNone/>
            </a:pPr>
            <a:r>
              <a:rPr lang="en-US" sz="1200" dirty="0">
                <a:solidFill>
                  <a:srgbClr val="5C6B7A"/>
                </a:solidFill>
                <a:latin typeface="Calibri" pitchFamily="34" charset="0"/>
                <a:ea typeface="Calibri" pitchFamily="34" charset="-122"/>
                <a:cs typeface="Calibri" pitchFamily="34" charset="-120"/>
              </a:rPr>
              <a:t>upload · live camera</a:t>
            </a:r>
            <a:endParaRPr lang="en-US" sz="1500" dirty="0"/>
          </a:p>
        </p:txBody>
      </p:sp>
      <p:sp>
        <p:nvSpPr>
          <p:cNvPr id="37" name="Shape 35"/>
          <p:cNvSpPr/>
          <p:nvPr/>
        </p:nvSpPr>
        <p:spPr>
          <a:xfrm>
            <a:off x="10698480" y="2715768"/>
            <a:ext cx="0" cy="438912"/>
          </a:xfrm>
          <a:prstGeom prst="line">
            <a:avLst/>
          </a:prstGeom>
          <a:noFill/>
          <a:ln w="19050">
            <a:solidFill>
              <a:srgbClr val="5C6B7A"/>
            </a:solidFill>
            <a:prstDash val="solid"/>
          </a:ln>
        </p:spPr>
      </p:sp>
      <p:sp>
        <p:nvSpPr>
          <p:cNvPr id="38" name="Shape 36"/>
          <p:cNvSpPr/>
          <p:nvPr/>
        </p:nvSpPr>
        <p:spPr>
          <a:xfrm>
            <a:off x="1408176" y="3154680"/>
            <a:ext cx="9290304" cy="0"/>
          </a:xfrm>
          <a:prstGeom prst="line">
            <a:avLst/>
          </a:prstGeom>
          <a:noFill/>
          <a:ln w="19050">
            <a:solidFill>
              <a:srgbClr val="5C6B7A"/>
            </a:solidFill>
            <a:prstDash val="solid"/>
          </a:ln>
        </p:spPr>
      </p:sp>
      <p:sp>
        <p:nvSpPr>
          <p:cNvPr id="39" name="Shape 37"/>
          <p:cNvSpPr/>
          <p:nvPr/>
        </p:nvSpPr>
        <p:spPr>
          <a:xfrm>
            <a:off x="1408176" y="3154680"/>
            <a:ext cx="0" cy="438912"/>
          </a:xfrm>
          <a:prstGeom prst="line">
            <a:avLst/>
          </a:prstGeom>
          <a:noFill/>
          <a:ln w="19050">
            <a:solidFill>
              <a:srgbClr val="5C6B7A"/>
            </a:solidFill>
            <a:prstDash val="solid"/>
            <a:tailEnd type="triangle"/>
          </a:ln>
        </p:spPr>
      </p:sp>
      <p:sp>
        <p:nvSpPr>
          <p:cNvPr id="40" name="Shape 38"/>
          <p:cNvSpPr/>
          <p:nvPr/>
        </p:nvSpPr>
        <p:spPr>
          <a:xfrm>
            <a:off x="594360" y="4617720"/>
            <a:ext cx="3456432" cy="0"/>
          </a:xfrm>
          <a:prstGeom prst="line">
            <a:avLst/>
          </a:prstGeom>
          <a:noFill/>
          <a:ln w="31750">
            <a:solidFill>
              <a:srgbClr val="0E7C86"/>
            </a:solidFill>
            <a:prstDash val="solid"/>
          </a:ln>
        </p:spPr>
      </p:sp>
      <p:sp>
        <p:nvSpPr>
          <p:cNvPr id="41" name="Text 39"/>
          <p:cNvSpPr txBox="1"/>
          <p:nvPr/>
        </p:nvSpPr>
        <p:spPr>
          <a:xfrm>
            <a:off x="594360" y="4663440"/>
            <a:ext cx="3840480" cy="274320"/>
          </a:xfrm>
          <a:prstGeom prst="rect">
            <a:avLst/>
          </a:prstGeom>
          <a:noFill/>
          <a:ln/>
        </p:spPr>
        <p:txBody>
          <a:bodyPr wrap="square" lIns="0" tIns="0" rIns="0" bIns="0" rtlCol="0" anchor="t"/>
          <a:lstStyle/>
          <a:p>
            <a:pPr indent="0" marL="0">
              <a:buNone/>
            </a:pPr>
            <a:r>
              <a:rPr lang="en-US" sz="1200" b="1" dirty="0">
                <a:solidFill>
                  <a:srgbClr val="0E7C86"/>
                </a:solidFill>
                <a:latin typeface="Calibri" pitchFamily="34" charset="0"/>
                <a:ea typeface="Calibri" pitchFamily="34" charset="-122"/>
                <a:cs typeface="Calibri" pitchFamily="34" charset="-120"/>
              </a:rPr>
              <a:t>GUARDRAILS: OOD + Semantic Compatibility</a:t>
            </a:r>
            <a:endParaRPr lang="en-US" sz="1200" dirty="0"/>
          </a:p>
        </p:txBody>
      </p:sp>
      <p:sp>
        <p:nvSpPr>
          <p:cNvPr id="42" name="Text 40"/>
          <p:cNvSpPr txBox="1"/>
          <p:nvPr/>
        </p:nvSpPr>
        <p:spPr>
          <a:xfrm>
            <a:off x="8046720" y="4663440"/>
            <a:ext cx="3566160" cy="256032"/>
          </a:xfrm>
          <a:prstGeom prst="rect">
            <a:avLst/>
          </a:prstGeom>
          <a:noFill/>
          <a:ln/>
        </p:spPr>
        <p:txBody>
          <a:bodyPr wrap="square" lIns="0" tIns="0" rIns="0" bIns="0" rtlCol="0" anchor="t"/>
          <a:lstStyle/>
          <a:p>
            <a:pPr indent="0" marL="0">
              <a:buNone/>
            </a:pPr>
            <a:r>
              <a:rPr lang="en-US" sz="1200" b="1" spc="200" kern="0" dirty="0">
                <a:solidFill>
                  <a:srgbClr val="5C6B7A"/>
                </a:solidFill>
                <a:latin typeface="Calibri" pitchFamily="34" charset="0"/>
                <a:ea typeface="Calibri" pitchFamily="34" charset="-122"/>
                <a:cs typeface="Calibri" pitchFamily="34" charset="-120"/>
              </a:rPr>
              <a:t>APPLICATION LAYER</a:t>
            </a:r>
            <a:endParaRPr lang="en-US" sz="1200" dirty="0"/>
          </a:p>
        </p:txBody>
      </p:sp>
      <p:sp>
        <p:nvSpPr>
          <p:cNvPr id="43" name="Shape 41"/>
          <p:cNvSpPr/>
          <p:nvPr/>
        </p:nvSpPr>
        <p:spPr>
          <a:xfrm>
            <a:off x="548640" y="5074920"/>
            <a:ext cx="11091672" cy="1097280"/>
          </a:xfrm>
          <a:prstGeom prst="rect">
            <a:avLst/>
          </a:prstGeom>
          <a:solidFill>
            <a:srgbClr val="E3F1F2"/>
          </a:solidFill>
          <a:ln/>
        </p:spPr>
      </p:sp>
      <p:sp>
        <p:nvSpPr>
          <p:cNvPr id="44" name="Shape 42"/>
          <p:cNvSpPr/>
          <p:nvPr/>
        </p:nvSpPr>
        <p:spPr>
          <a:xfrm>
            <a:off x="548640" y="5074920"/>
            <a:ext cx="73152" cy="1097280"/>
          </a:xfrm>
          <a:prstGeom prst="rect">
            <a:avLst/>
          </a:prstGeom>
          <a:solidFill>
            <a:srgbClr val="0E7C86"/>
          </a:solidFill>
          <a:ln/>
        </p:spPr>
      </p:sp>
      <p:sp>
        <p:nvSpPr>
          <p:cNvPr id="45" name="Text 43"/>
          <p:cNvSpPr txBox="1"/>
          <p:nvPr/>
        </p:nvSpPr>
        <p:spPr>
          <a:xfrm>
            <a:off x="822960" y="5193792"/>
            <a:ext cx="3657600" cy="256032"/>
          </a:xfrm>
          <a:prstGeom prst="rect">
            <a:avLst/>
          </a:prstGeom>
          <a:noFill/>
          <a:ln/>
        </p:spPr>
        <p:txBody>
          <a:bodyPr wrap="square" lIns="0" tIns="0" rIns="0" bIns="0" rtlCol="0" anchor="t"/>
          <a:lstStyle/>
          <a:p>
            <a:pPr indent="0" marL="0">
              <a:buNone/>
            </a:pPr>
            <a:r>
              <a:rPr lang="en-US" sz="1200" b="1" spc="200" kern="0" dirty="0">
                <a:solidFill>
                  <a:srgbClr val="0E7C86"/>
                </a:solidFill>
                <a:latin typeface="Calibri" pitchFamily="34" charset="0"/>
                <a:ea typeface="Calibri" pitchFamily="34" charset="-122"/>
                <a:cs typeface="Calibri" pitchFamily="34" charset="-120"/>
              </a:rPr>
              <a:t>CORE PRINCIPLE</a:t>
            </a:r>
            <a:endParaRPr lang="en-US" sz="1200" dirty="0"/>
          </a:p>
        </p:txBody>
      </p:sp>
      <p:sp>
        <p:nvSpPr>
          <p:cNvPr id="46" name="Text 44"/>
          <p:cNvSpPr txBox="1"/>
          <p:nvPr/>
        </p:nvSpPr>
        <p:spPr>
          <a:xfrm>
            <a:off x="822960" y="5486400"/>
            <a:ext cx="10424160" cy="548640"/>
          </a:xfrm>
          <a:prstGeom prst="rect">
            <a:avLst/>
          </a:prstGeom>
          <a:noFill/>
          <a:ln/>
        </p:spPr>
        <p:txBody>
          <a:bodyPr wrap="square" lIns="0" tIns="0" rIns="0" bIns="0" rtlCol="0" anchor="t"/>
          <a:lstStyle/>
          <a:p>
            <a:pPr indent="0" marL="0">
              <a:buNone/>
            </a:pPr>
            <a:r>
              <a:rPr lang="en-US" sz="2600" b="1" dirty="0">
                <a:solidFill>
                  <a:srgbClr val="1B2733"/>
                </a:solidFill>
                <a:latin typeface="Calibri" pitchFamily="34" charset="0"/>
                <a:ea typeface="Calibri" pitchFamily="34" charset="-122"/>
                <a:cs typeface="Calibri" pitchFamily="34" charset="-120"/>
              </a:rPr>
              <a:t>The system can reject a prediction instead of forcing a label.</a:t>
            </a:r>
            <a:endParaRPr lang="en-US" sz="2600" dirty="0"/>
          </a:p>
        </p:txBody>
      </p:sp>
      <p:sp>
        <p:nvSpPr>
          <p:cNvPr id="25" name="Slide Number Placeholder 0"/>
          <p:cNvSpPr>
            <a:spLocks noGrp="1"/>
          </p:cNvSpPr>
          <p:nvPr>
            <p:ph type="sldNum" sz="quarter" idx="4294967295"/>
          </p:nvPr>
        </p:nvSpPr>
        <p:spPr>
          <a:xfrm>
            <a:off x="10881360" y="6446520"/>
            <a:ext cx="758952"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C6B7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8595360" cy="594360"/>
          </a:xfrm>
          <a:prstGeom prst="rect">
            <a:avLst/>
          </a:prstGeom>
          <a:noFill/>
          <a:ln/>
        </p:spPr>
        <p:txBody>
          <a:bodyPr wrap="square" lIns="0" tIns="0" rIns="0" bIns="0" rtlCol="0" anchor="t"/>
          <a:lstStyle/>
          <a:p>
            <a:pPr indent="0" marL="0">
              <a:buNone/>
            </a:pPr>
            <a:r>
              <a:rPr lang="en-US" sz="3000" b="1" dirty="0">
                <a:solidFill>
                  <a:srgbClr val="1B2733"/>
                </a:solidFill>
                <a:latin typeface="Calibri" pitchFamily="34" charset="0"/>
                <a:ea typeface="Calibri" pitchFamily="34" charset="-122"/>
                <a:cs typeface="Calibri" pitchFamily="34" charset="-120"/>
              </a:rPr>
              <a:t>Data Engineering to Detection</a:t>
            </a:r>
            <a:endParaRPr lang="en-US" sz="3000" dirty="0"/>
          </a:p>
        </p:txBody>
      </p:sp>
      <p:sp>
        <p:nvSpPr>
          <p:cNvPr id="3" name="Text 1"/>
          <p:cNvSpPr txBox="1"/>
          <p:nvPr/>
        </p:nvSpPr>
        <p:spPr>
          <a:xfrm>
            <a:off x="548640" y="932688"/>
            <a:ext cx="10607040" cy="347472"/>
          </a:xfrm>
          <a:prstGeom prst="rect">
            <a:avLst/>
          </a:prstGeom>
          <a:noFill/>
          <a:ln/>
        </p:spPr>
        <p:txBody>
          <a:bodyPr wrap="square" lIns="0" tIns="0" rIns="0" bIns="0" rtlCol="0" anchor="t"/>
          <a:lstStyle/>
          <a:p>
            <a:pPr indent="0" marL="0">
              <a:buNone/>
            </a:pPr>
            <a:r>
              <a:rPr lang="en-US" sz="1600" dirty="0">
                <a:solidFill>
                  <a:srgbClr val="5C6B7A"/>
                </a:solidFill>
                <a:latin typeface="Calibri" pitchFamily="34" charset="0"/>
                <a:ea typeface="Calibri" pitchFamily="34" charset="-122"/>
                <a:cs typeface="Calibri" pitchFamily="34" charset="-120"/>
              </a:rPr>
              <a:t>Clean, auditable data feeds the detector; the detector feeds the classifier.</a:t>
            </a:r>
            <a:endParaRPr lang="en-US" sz="1600" dirty="0"/>
          </a:p>
        </p:txBody>
      </p:sp>
      <p:sp>
        <p:nvSpPr>
          <p:cNvPr id="4" name="Text 2"/>
          <p:cNvSpPr txBox="1"/>
          <p:nvPr/>
        </p:nvSpPr>
        <p:spPr>
          <a:xfrm>
            <a:off x="8778240" y="384048"/>
            <a:ext cx="2862072" cy="274320"/>
          </a:xfrm>
          <a:prstGeom prst="rect">
            <a:avLst/>
          </a:prstGeom>
          <a:noFill/>
          <a:ln/>
        </p:spPr>
        <p:txBody>
          <a:bodyPr wrap="square" lIns="0" tIns="0" rIns="0" bIns="0" rtlCol="0" anchor="t"/>
          <a:lstStyle/>
          <a:p>
            <a:pPr algn="r" indent="0" marL="0">
              <a:buNone/>
            </a:pPr>
            <a:r>
              <a:rPr lang="en-US" sz="1200" b="1" spc="150" kern="0" dirty="0">
                <a:solidFill>
                  <a:srgbClr val="0E7C86"/>
                </a:solidFill>
                <a:latin typeface="Calibri" pitchFamily="34" charset="0"/>
                <a:ea typeface="Calibri" pitchFamily="34" charset="-122"/>
                <a:cs typeface="Calibri" pitchFamily="34" charset="-120"/>
              </a:rPr>
              <a:t>SPEAKER  ·  Nirav + Krish</a:t>
            </a:r>
            <a:endParaRPr lang="en-US" sz="1200" dirty="0"/>
          </a:p>
        </p:txBody>
      </p:sp>
      <p:sp>
        <p:nvSpPr>
          <p:cNvPr id="5" name="Text 3"/>
          <p:cNvSpPr txBox="1"/>
          <p:nvPr/>
        </p:nvSpPr>
        <p:spPr>
          <a:xfrm>
            <a:off x="548640" y="1508760"/>
            <a:ext cx="5303520" cy="256032"/>
          </a:xfrm>
          <a:prstGeom prst="rect">
            <a:avLst/>
          </a:prstGeom>
          <a:noFill/>
          <a:ln/>
        </p:spPr>
        <p:txBody>
          <a:bodyPr wrap="square" lIns="0" tIns="0" rIns="0" bIns="0" rtlCol="0" anchor="t"/>
          <a:lstStyle/>
          <a:p>
            <a:pPr indent="0" marL="0">
              <a:buNone/>
            </a:pPr>
            <a:r>
              <a:rPr lang="en-US" sz="1200" b="1" spc="200" kern="0" dirty="0">
                <a:solidFill>
                  <a:srgbClr val="0E7C86"/>
                </a:solidFill>
                <a:latin typeface="Calibri" pitchFamily="34" charset="0"/>
                <a:ea typeface="Calibri" pitchFamily="34" charset="-122"/>
                <a:cs typeface="Calibri" pitchFamily="34" charset="-120"/>
              </a:rPr>
              <a:t>DATASET ENGINEERING  ·  NIRAV</a:t>
            </a:r>
            <a:endParaRPr lang="en-US" sz="1200" dirty="0"/>
          </a:p>
        </p:txBody>
      </p:sp>
      <p:sp>
        <p:nvSpPr>
          <p:cNvPr id="6" name="Shape 4"/>
          <p:cNvSpPr/>
          <p:nvPr/>
        </p:nvSpPr>
        <p:spPr>
          <a:xfrm>
            <a:off x="548640" y="1975104"/>
            <a:ext cx="82296" cy="82296"/>
          </a:xfrm>
          <a:prstGeom prst="rect">
            <a:avLst/>
          </a:prstGeom>
          <a:solidFill>
            <a:srgbClr val="0E7C86"/>
          </a:solidFill>
          <a:ln/>
        </p:spPr>
      </p:sp>
      <p:sp>
        <p:nvSpPr>
          <p:cNvPr id="7" name="Text 5"/>
          <p:cNvSpPr txBox="1"/>
          <p:nvPr/>
        </p:nvSpPr>
        <p:spPr>
          <a:xfrm>
            <a:off x="749808" y="1874520"/>
            <a:ext cx="5102352" cy="475488"/>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Collection and organisation of datasets</a:t>
            </a:r>
            <a:endParaRPr lang="en-US" sz="1600" dirty="0"/>
          </a:p>
        </p:txBody>
      </p:sp>
      <p:sp>
        <p:nvSpPr>
          <p:cNvPr id="8" name="Shape 6"/>
          <p:cNvSpPr/>
          <p:nvPr/>
        </p:nvSpPr>
        <p:spPr>
          <a:xfrm>
            <a:off x="548640" y="2450592"/>
            <a:ext cx="82296" cy="82296"/>
          </a:xfrm>
          <a:prstGeom prst="rect">
            <a:avLst/>
          </a:prstGeom>
          <a:solidFill>
            <a:srgbClr val="0E7C86"/>
          </a:solidFill>
          <a:ln/>
        </p:spPr>
      </p:sp>
      <p:sp>
        <p:nvSpPr>
          <p:cNvPr id="9" name="Text 7"/>
          <p:cNvSpPr txBox="1"/>
          <p:nvPr/>
        </p:nvSpPr>
        <p:spPr>
          <a:xfrm>
            <a:off x="749808" y="2350008"/>
            <a:ext cx="5102352" cy="475488"/>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Integrity checks (files open, hashes recorded)</a:t>
            </a:r>
            <a:endParaRPr lang="en-US" sz="1600" dirty="0"/>
          </a:p>
        </p:txBody>
      </p:sp>
      <p:sp>
        <p:nvSpPr>
          <p:cNvPr id="10" name="Shape 8"/>
          <p:cNvSpPr/>
          <p:nvPr/>
        </p:nvSpPr>
        <p:spPr>
          <a:xfrm>
            <a:off x="548640" y="2926080"/>
            <a:ext cx="82296" cy="82296"/>
          </a:xfrm>
          <a:prstGeom prst="rect">
            <a:avLst/>
          </a:prstGeom>
          <a:solidFill>
            <a:srgbClr val="0E7C86"/>
          </a:solidFill>
          <a:ln/>
        </p:spPr>
      </p:sp>
      <p:sp>
        <p:nvSpPr>
          <p:cNvPr id="11" name="Text 9"/>
          <p:cNvSpPr txBox="1"/>
          <p:nvPr/>
        </p:nvSpPr>
        <p:spPr>
          <a:xfrm>
            <a:off x="749808" y="2825496"/>
            <a:ext cx="5102352" cy="475488"/>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Taxonomy mapping to canonical classes</a:t>
            </a:r>
            <a:endParaRPr lang="en-US" sz="1600" dirty="0"/>
          </a:p>
        </p:txBody>
      </p:sp>
      <p:sp>
        <p:nvSpPr>
          <p:cNvPr id="12" name="Shape 10"/>
          <p:cNvSpPr/>
          <p:nvPr/>
        </p:nvSpPr>
        <p:spPr>
          <a:xfrm>
            <a:off x="548640" y="3401568"/>
            <a:ext cx="82296" cy="82296"/>
          </a:xfrm>
          <a:prstGeom prst="rect">
            <a:avLst/>
          </a:prstGeom>
          <a:solidFill>
            <a:srgbClr val="0E7C86"/>
          </a:solidFill>
          <a:ln/>
        </p:spPr>
      </p:sp>
      <p:sp>
        <p:nvSpPr>
          <p:cNvPr id="13" name="Text 11"/>
          <p:cNvSpPr txBox="1"/>
          <p:nvPr/>
        </p:nvSpPr>
        <p:spPr>
          <a:xfrm>
            <a:off x="749808" y="3300984"/>
            <a:ext cx="5102352" cy="475488"/>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Annotation validation (COCO / TACO style)</a:t>
            </a:r>
            <a:endParaRPr lang="en-US" sz="1600" dirty="0"/>
          </a:p>
        </p:txBody>
      </p:sp>
      <p:sp>
        <p:nvSpPr>
          <p:cNvPr id="14" name="Shape 12"/>
          <p:cNvSpPr/>
          <p:nvPr/>
        </p:nvSpPr>
        <p:spPr>
          <a:xfrm>
            <a:off x="548640" y="3877056"/>
            <a:ext cx="82296" cy="82296"/>
          </a:xfrm>
          <a:prstGeom prst="rect">
            <a:avLst/>
          </a:prstGeom>
          <a:solidFill>
            <a:srgbClr val="0E7C86"/>
          </a:solidFill>
          <a:ln/>
        </p:spPr>
      </p:sp>
      <p:sp>
        <p:nvSpPr>
          <p:cNvPr id="15" name="Text 13"/>
          <p:cNvSpPr txBox="1"/>
          <p:nvPr/>
        </p:nvSpPr>
        <p:spPr>
          <a:xfrm>
            <a:off x="749808" y="3776472"/>
            <a:ext cx="5102352" cy="475488"/>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Duplicate and provenance audits</a:t>
            </a:r>
            <a:endParaRPr lang="en-US" sz="1600" dirty="0"/>
          </a:p>
        </p:txBody>
      </p:sp>
      <p:sp>
        <p:nvSpPr>
          <p:cNvPr id="16" name="Shape 14"/>
          <p:cNvSpPr/>
          <p:nvPr/>
        </p:nvSpPr>
        <p:spPr>
          <a:xfrm>
            <a:off x="548640" y="4352544"/>
            <a:ext cx="82296" cy="82296"/>
          </a:xfrm>
          <a:prstGeom prst="rect">
            <a:avLst/>
          </a:prstGeom>
          <a:solidFill>
            <a:srgbClr val="0E7C86"/>
          </a:solidFill>
          <a:ln/>
        </p:spPr>
      </p:sp>
      <p:sp>
        <p:nvSpPr>
          <p:cNvPr id="17" name="Text 15"/>
          <p:cNvSpPr txBox="1"/>
          <p:nvPr/>
        </p:nvSpPr>
        <p:spPr>
          <a:xfrm>
            <a:off x="749808" y="4251960"/>
            <a:ext cx="5102352" cy="475488"/>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Train / validation / test organisation</a:t>
            </a:r>
            <a:endParaRPr lang="en-US" sz="1600" dirty="0"/>
          </a:p>
        </p:txBody>
      </p:sp>
      <p:sp>
        <p:nvSpPr>
          <p:cNvPr id="18" name="Text 16"/>
          <p:cNvSpPr txBox="1"/>
          <p:nvPr/>
        </p:nvSpPr>
        <p:spPr>
          <a:xfrm>
            <a:off x="6400800" y="1508760"/>
            <a:ext cx="5212080" cy="256032"/>
          </a:xfrm>
          <a:prstGeom prst="rect">
            <a:avLst/>
          </a:prstGeom>
          <a:noFill/>
          <a:ln/>
        </p:spPr>
        <p:txBody>
          <a:bodyPr wrap="square" lIns="0" tIns="0" rIns="0" bIns="0" rtlCol="0" anchor="t"/>
          <a:lstStyle/>
          <a:p>
            <a:pPr indent="0" marL="0">
              <a:buNone/>
            </a:pPr>
            <a:r>
              <a:rPr lang="en-US" sz="1200" b="1" spc="200" kern="0" dirty="0">
                <a:solidFill>
                  <a:srgbClr val="0E7C86"/>
                </a:solidFill>
                <a:latin typeface="Calibri" pitchFamily="34" charset="0"/>
                <a:ea typeface="Calibri" pitchFamily="34" charset="-122"/>
                <a:cs typeface="Calibri" pitchFamily="34" charset="-120"/>
              </a:rPr>
              <a:t>YOLO11s  ·  KRISH</a:t>
            </a:r>
            <a:endParaRPr lang="en-US" sz="1200" dirty="0"/>
          </a:p>
        </p:txBody>
      </p:sp>
      <p:sp>
        <p:nvSpPr>
          <p:cNvPr id="19" name="Shape 17"/>
          <p:cNvSpPr/>
          <p:nvPr/>
        </p:nvSpPr>
        <p:spPr>
          <a:xfrm>
            <a:off x="6400800" y="1975104"/>
            <a:ext cx="82296" cy="82296"/>
          </a:xfrm>
          <a:prstGeom prst="rect">
            <a:avLst/>
          </a:prstGeom>
          <a:solidFill>
            <a:srgbClr val="0E7C86"/>
          </a:solidFill>
          <a:ln/>
        </p:spPr>
      </p:sp>
      <p:sp>
        <p:nvSpPr>
          <p:cNvPr id="20" name="Text 18"/>
          <p:cNvSpPr txBox="1"/>
          <p:nvPr/>
        </p:nvSpPr>
        <p:spPr>
          <a:xfrm>
            <a:off x="6601968" y="1874520"/>
            <a:ext cx="5010912" cy="384048"/>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Object localisation</a:t>
            </a:r>
            <a:endParaRPr lang="en-US" sz="1500" dirty="0"/>
          </a:p>
        </p:txBody>
      </p:sp>
      <p:sp>
        <p:nvSpPr>
          <p:cNvPr id="21" name="Shape 19"/>
          <p:cNvSpPr/>
          <p:nvPr/>
        </p:nvSpPr>
        <p:spPr>
          <a:xfrm>
            <a:off x="6400800" y="2359152"/>
            <a:ext cx="82296" cy="82296"/>
          </a:xfrm>
          <a:prstGeom prst="rect">
            <a:avLst/>
          </a:prstGeom>
          <a:solidFill>
            <a:srgbClr val="0E7C86"/>
          </a:solidFill>
          <a:ln/>
        </p:spPr>
      </p:sp>
      <p:sp>
        <p:nvSpPr>
          <p:cNvPr id="22" name="Text 20"/>
          <p:cNvSpPr txBox="1"/>
          <p:nvPr/>
        </p:nvSpPr>
        <p:spPr>
          <a:xfrm>
            <a:off x="6601968" y="2258568"/>
            <a:ext cx="5010912" cy="384048"/>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Bounding boxes + confidence scores</a:t>
            </a:r>
            <a:endParaRPr lang="en-US" sz="1500" dirty="0"/>
          </a:p>
        </p:txBody>
      </p:sp>
      <p:sp>
        <p:nvSpPr>
          <p:cNvPr id="23" name="Shape 21"/>
          <p:cNvSpPr/>
          <p:nvPr/>
        </p:nvSpPr>
        <p:spPr>
          <a:xfrm>
            <a:off x="6400800" y="2743200"/>
            <a:ext cx="82296" cy="82296"/>
          </a:xfrm>
          <a:prstGeom prst="rect">
            <a:avLst/>
          </a:prstGeom>
          <a:solidFill>
            <a:srgbClr val="0E7C86"/>
          </a:solidFill>
          <a:ln/>
        </p:spPr>
      </p:sp>
      <p:sp>
        <p:nvSpPr>
          <p:cNvPr id="24" name="Text 22"/>
          <p:cNvSpPr txBox="1"/>
          <p:nvPr/>
        </p:nvSpPr>
        <p:spPr>
          <a:xfrm>
            <a:off x="6601968" y="2642616"/>
            <a:ext cx="5010912" cy="384048"/>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Detector → crop hand-off to ResNet50</a:t>
            </a:r>
            <a:endParaRPr lang="en-US" sz="1500" dirty="0"/>
          </a:p>
        </p:txBody>
      </p:sp>
      <p:sp>
        <p:nvSpPr>
          <p:cNvPr id="25" name="Shape 23"/>
          <p:cNvSpPr/>
          <p:nvPr/>
        </p:nvSpPr>
        <p:spPr>
          <a:xfrm>
            <a:off x="6400800" y="3063240"/>
            <a:ext cx="5239512" cy="2898648"/>
          </a:xfrm>
          <a:prstGeom prst="rect">
            <a:avLst/>
          </a:prstGeom>
          <a:solidFill>
            <a:srgbClr val="FFFFFF"/>
          </a:solidFill>
          <a:ln w="12700">
            <a:solidFill>
              <a:srgbClr val="D5DBE1"/>
            </a:solidFill>
            <a:prstDash val="solid"/>
          </a:ln>
        </p:spPr>
      </p:sp>
      <p:pic>
        <p:nvPicPr>
          <p:cNvPr id="26" name="Image 0" descr="taco_gt.jpg">    </p:cNvPr>
          <p:cNvPicPr>
            <a:picLocks noChangeAspect="1"/>
          </p:cNvPicPr>
          <p:nvPr/>
        </p:nvPicPr>
        <p:blipFill>
          <a:blip r:embed="rId1"/>
          <a:stretch>
            <a:fillRect/>
          </a:stretch>
        </p:blipFill>
        <p:spPr>
          <a:xfrm>
            <a:off x="6597396" y="3108960"/>
            <a:ext cx="4846320" cy="2785241"/>
          </a:xfrm>
          <a:prstGeom prst="rect">
            <a:avLst/>
          </a:prstGeom>
        </p:spPr>
      </p:pic>
      <p:sp>
        <p:nvSpPr>
          <p:cNvPr id="27" name="Text 24"/>
          <p:cNvSpPr txBox="1"/>
          <p:nvPr/>
        </p:nvSpPr>
        <p:spPr>
          <a:xfrm>
            <a:off x="6400800" y="6016752"/>
            <a:ext cx="5239512" cy="274320"/>
          </a:xfrm>
          <a:prstGeom prst="rect">
            <a:avLst/>
          </a:prstGeom>
          <a:noFill/>
          <a:ln/>
        </p:spPr>
        <p:txBody>
          <a:bodyPr wrap="square" lIns="0" tIns="0" rIns="0" bIns="0" rtlCol="0" anchor="t"/>
          <a:lstStyle/>
          <a:p>
            <a:pPr indent="0" marL="0">
              <a:buNone/>
            </a:pPr>
            <a:r>
              <a:rPr lang="en-US" sz="1200" dirty="0">
                <a:solidFill>
                  <a:srgbClr val="5C6B7A"/>
                </a:solidFill>
                <a:latin typeface="Calibri" pitchFamily="34" charset="0"/>
                <a:ea typeface="Calibri" pitchFamily="34" charset="-122"/>
                <a:cs typeface="Calibri" pitchFamily="34" charset="-120"/>
              </a:rPr>
              <a:t>Real TACO annotation-QA image (ground-truth box, not a prediction)</a:t>
            </a:r>
            <a:endParaRPr lang="en-US" sz="1200" dirty="0"/>
          </a:p>
        </p:txBody>
      </p:sp>
      <p:sp>
        <p:nvSpPr>
          <p:cNvPr id="28" name="Text 25"/>
          <p:cNvSpPr txBox="1"/>
          <p:nvPr/>
        </p:nvSpPr>
        <p:spPr>
          <a:xfrm>
            <a:off x="548640" y="5074920"/>
            <a:ext cx="2743200" cy="256032"/>
          </a:xfrm>
          <a:prstGeom prst="rect">
            <a:avLst/>
          </a:prstGeom>
          <a:noFill/>
          <a:ln/>
        </p:spPr>
        <p:txBody>
          <a:bodyPr wrap="square" lIns="0" tIns="0" rIns="0" bIns="0" rtlCol="0" anchor="t"/>
          <a:lstStyle/>
          <a:p>
            <a:pPr indent="0" marL="0">
              <a:buNone/>
            </a:pPr>
            <a:r>
              <a:rPr lang="en-US" sz="1200" b="1" spc="200" kern="0" dirty="0">
                <a:solidFill>
                  <a:srgbClr val="5C6B7A"/>
                </a:solidFill>
                <a:latin typeface="Calibri" pitchFamily="34" charset="0"/>
                <a:ea typeface="Calibri" pitchFamily="34" charset="-122"/>
                <a:cs typeface="Calibri" pitchFamily="34" charset="-120"/>
              </a:rPr>
              <a:t>HAND-OFF</a:t>
            </a:r>
            <a:endParaRPr lang="en-US" sz="1200" dirty="0"/>
          </a:p>
        </p:txBody>
      </p:sp>
      <p:sp>
        <p:nvSpPr>
          <p:cNvPr id="29" name="Shape 26"/>
          <p:cNvSpPr/>
          <p:nvPr/>
        </p:nvSpPr>
        <p:spPr>
          <a:xfrm>
            <a:off x="548640" y="5394960"/>
            <a:ext cx="950976" cy="566928"/>
          </a:xfrm>
          <a:prstGeom prst="rect">
            <a:avLst/>
          </a:prstGeom>
          <a:solidFill>
            <a:srgbClr val="FFFFFF"/>
          </a:solidFill>
          <a:ln w="12700">
            <a:solidFill>
              <a:srgbClr val="D5DBE1"/>
            </a:solidFill>
            <a:prstDash val="solid"/>
          </a:ln>
        </p:spPr>
      </p:sp>
      <p:sp>
        <p:nvSpPr>
          <p:cNvPr id="30" name="Text 27"/>
          <p:cNvSpPr txBox="1"/>
          <p:nvPr/>
        </p:nvSpPr>
        <p:spPr>
          <a:xfrm>
            <a:off x="621792" y="5394960"/>
            <a:ext cx="804672" cy="566928"/>
          </a:xfrm>
          <a:prstGeom prst="rect">
            <a:avLst/>
          </a:prstGeom>
          <a:noFill/>
          <a:ln/>
        </p:spPr>
        <p:txBody>
          <a:bodyPr wrap="square" lIns="0" tIns="0" rIns="0" bIns="0" rtlCol="0" anchor="ctr"/>
          <a:lstStyle/>
          <a:p>
            <a:pPr algn="ctr" indent="0" marL="0">
              <a:buNone/>
            </a:pPr>
            <a:r>
              <a:rPr lang="en-US" sz="1200" b="1" dirty="0">
                <a:solidFill>
                  <a:srgbClr val="1B2733"/>
                </a:solidFill>
                <a:latin typeface="Calibri" pitchFamily="34" charset="0"/>
                <a:ea typeface="Calibri" pitchFamily="34" charset="-122"/>
                <a:cs typeface="Calibri" pitchFamily="34" charset="-120"/>
              </a:rPr>
              <a:t>Dataset</a:t>
            </a:r>
            <a:endParaRPr lang="en-US" sz="1500" dirty="0"/>
          </a:p>
        </p:txBody>
      </p:sp>
      <p:sp>
        <p:nvSpPr>
          <p:cNvPr id="31" name="Shape 28"/>
          <p:cNvSpPr/>
          <p:nvPr/>
        </p:nvSpPr>
        <p:spPr>
          <a:xfrm>
            <a:off x="1508760" y="5678424"/>
            <a:ext cx="109728" cy="0"/>
          </a:xfrm>
          <a:prstGeom prst="line">
            <a:avLst/>
          </a:prstGeom>
          <a:noFill/>
          <a:ln w="19050">
            <a:solidFill>
              <a:srgbClr val="5C6B7A"/>
            </a:solidFill>
            <a:prstDash val="solid"/>
            <a:tailEnd type="triangle"/>
          </a:ln>
        </p:spPr>
      </p:sp>
      <p:sp>
        <p:nvSpPr>
          <p:cNvPr id="32" name="Shape 29"/>
          <p:cNvSpPr/>
          <p:nvPr/>
        </p:nvSpPr>
        <p:spPr>
          <a:xfrm>
            <a:off x="1627632" y="5394960"/>
            <a:ext cx="950976" cy="566928"/>
          </a:xfrm>
          <a:prstGeom prst="rect">
            <a:avLst/>
          </a:prstGeom>
          <a:solidFill>
            <a:srgbClr val="FFFFFF"/>
          </a:solidFill>
          <a:ln w="12700">
            <a:solidFill>
              <a:srgbClr val="D5DBE1"/>
            </a:solidFill>
            <a:prstDash val="solid"/>
          </a:ln>
        </p:spPr>
      </p:sp>
      <p:sp>
        <p:nvSpPr>
          <p:cNvPr id="33" name="Text 30"/>
          <p:cNvSpPr txBox="1"/>
          <p:nvPr/>
        </p:nvSpPr>
        <p:spPr>
          <a:xfrm>
            <a:off x="1700784" y="5394960"/>
            <a:ext cx="804672" cy="566928"/>
          </a:xfrm>
          <a:prstGeom prst="rect">
            <a:avLst/>
          </a:prstGeom>
          <a:noFill/>
          <a:ln/>
        </p:spPr>
        <p:txBody>
          <a:bodyPr wrap="square" lIns="0" tIns="0" rIns="0" bIns="0" rtlCol="0" anchor="ctr"/>
          <a:lstStyle/>
          <a:p>
            <a:pPr algn="ctr" indent="0" marL="0">
              <a:buNone/>
            </a:pPr>
            <a:r>
              <a:rPr lang="en-US" sz="1200" b="1" dirty="0">
                <a:solidFill>
                  <a:srgbClr val="1B2733"/>
                </a:solidFill>
                <a:latin typeface="Calibri" pitchFamily="34" charset="0"/>
                <a:ea typeface="Calibri" pitchFamily="34" charset="-122"/>
                <a:cs typeface="Calibri" pitchFamily="34" charset="-120"/>
              </a:rPr>
              <a:t>Annotation</a:t>
            </a:r>
            <a:endParaRPr lang="en-US" sz="1500" dirty="0"/>
          </a:p>
        </p:txBody>
      </p:sp>
      <p:sp>
        <p:nvSpPr>
          <p:cNvPr id="34" name="Shape 31"/>
          <p:cNvSpPr/>
          <p:nvPr/>
        </p:nvSpPr>
        <p:spPr>
          <a:xfrm>
            <a:off x="2587752" y="5678424"/>
            <a:ext cx="109728" cy="0"/>
          </a:xfrm>
          <a:prstGeom prst="line">
            <a:avLst/>
          </a:prstGeom>
          <a:noFill/>
          <a:ln w="19050">
            <a:solidFill>
              <a:srgbClr val="5C6B7A"/>
            </a:solidFill>
            <a:prstDash val="solid"/>
            <a:tailEnd type="triangle"/>
          </a:ln>
        </p:spPr>
      </p:sp>
      <p:sp>
        <p:nvSpPr>
          <p:cNvPr id="35" name="Shape 32"/>
          <p:cNvSpPr/>
          <p:nvPr/>
        </p:nvSpPr>
        <p:spPr>
          <a:xfrm>
            <a:off x="2706624" y="5394960"/>
            <a:ext cx="950976" cy="566928"/>
          </a:xfrm>
          <a:prstGeom prst="rect">
            <a:avLst/>
          </a:prstGeom>
          <a:solidFill>
            <a:srgbClr val="E3F1F2"/>
          </a:solidFill>
          <a:ln w="12700">
            <a:solidFill>
              <a:srgbClr val="0E7C86"/>
            </a:solidFill>
            <a:prstDash val="solid"/>
          </a:ln>
        </p:spPr>
      </p:sp>
      <p:sp>
        <p:nvSpPr>
          <p:cNvPr id="36" name="Text 33"/>
          <p:cNvSpPr txBox="1"/>
          <p:nvPr/>
        </p:nvSpPr>
        <p:spPr>
          <a:xfrm>
            <a:off x="2779776" y="5394960"/>
            <a:ext cx="804672" cy="566928"/>
          </a:xfrm>
          <a:prstGeom prst="rect">
            <a:avLst/>
          </a:prstGeom>
          <a:noFill/>
          <a:ln/>
        </p:spPr>
        <p:txBody>
          <a:bodyPr wrap="square" lIns="0" tIns="0" rIns="0" bIns="0" rtlCol="0" anchor="ctr"/>
          <a:lstStyle/>
          <a:p>
            <a:pPr algn="ctr" indent="0" marL="0">
              <a:buNone/>
            </a:pPr>
            <a:r>
              <a:rPr lang="en-US" sz="1200" b="1" dirty="0">
                <a:solidFill>
                  <a:srgbClr val="1B2733"/>
                </a:solidFill>
                <a:latin typeface="Calibri" pitchFamily="34" charset="0"/>
                <a:ea typeface="Calibri" pitchFamily="34" charset="-122"/>
                <a:cs typeface="Calibri" pitchFamily="34" charset="-120"/>
              </a:rPr>
              <a:t>YOLO11s</a:t>
            </a:r>
            <a:endParaRPr lang="en-US" sz="1500" dirty="0"/>
          </a:p>
        </p:txBody>
      </p:sp>
      <p:sp>
        <p:nvSpPr>
          <p:cNvPr id="37" name="Shape 34"/>
          <p:cNvSpPr/>
          <p:nvPr/>
        </p:nvSpPr>
        <p:spPr>
          <a:xfrm>
            <a:off x="3666744" y="5678424"/>
            <a:ext cx="109728" cy="0"/>
          </a:xfrm>
          <a:prstGeom prst="line">
            <a:avLst/>
          </a:prstGeom>
          <a:noFill/>
          <a:ln w="19050">
            <a:solidFill>
              <a:srgbClr val="5C6B7A"/>
            </a:solidFill>
            <a:prstDash val="solid"/>
            <a:tailEnd type="triangle"/>
          </a:ln>
        </p:spPr>
      </p:sp>
      <p:sp>
        <p:nvSpPr>
          <p:cNvPr id="38" name="Shape 35"/>
          <p:cNvSpPr/>
          <p:nvPr/>
        </p:nvSpPr>
        <p:spPr>
          <a:xfrm>
            <a:off x="3785616" y="5394960"/>
            <a:ext cx="950976" cy="566928"/>
          </a:xfrm>
          <a:prstGeom prst="rect">
            <a:avLst/>
          </a:prstGeom>
          <a:solidFill>
            <a:srgbClr val="E3F1F2"/>
          </a:solidFill>
          <a:ln w="12700">
            <a:solidFill>
              <a:srgbClr val="0E7C86"/>
            </a:solidFill>
            <a:prstDash val="solid"/>
          </a:ln>
        </p:spPr>
      </p:sp>
      <p:sp>
        <p:nvSpPr>
          <p:cNvPr id="39" name="Text 36"/>
          <p:cNvSpPr txBox="1"/>
          <p:nvPr/>
        </p:nvSpPr>
        <p:spPr>
          <a:xfrm>
            <a:off x="3858768" y="5394960"/>
            <a:ext cx="804672" cy="566928"/>
          </a:xfrm>
          <a:prstGeom prst="rect">
            <a:avLst/>
          </a:prstGeom>
          <a:noFill/>
          <a:ln/>
        </p:spPr>
        <p:txBody>
          <a:bodyPr wrap="square" lIns="0" tIns="0" rIns="0" bIns="0" rtlCol="0" anchor="ctr"/>
          <a:lstStyle/>
          <a:p>
            <a:pPr algn="ctr" indent="0" marL="0">
              <a:buNone/>
            </a:pPr>
            <a:r>
              <a:rPr lang="en-US" sz="1200" b="1" dirty="0">
                <a:solidFill>
                  <a:srgbClr val="1B2733"/>
                </a:solidFill>
                <a:latin typeface="Calibri" pitchFamily="34" charset="0"/>
                <a:ea typeface="Calibri" pitchFamily="34" charset="-122"/>
                <a:cs typeface="Calibri" pitchFamily="34" charset="-120"/>
              </a:rPr>
              <a:t>Bounding Box</a:t>
            </a:r>
            <a:endParaRPr lang="en-US" sz="1500" dirty="0"/>
          </a:p>
        </p:txBody>
      </p:sp>
      <p:sp>
        <p:nvSpPr>
          <p:cNvPr id="40" name="Shape 37"/>
          <p:cNvSpPr/>
          <p:nvPr/>
        </p:nvSpPr>
        <p:spPr>
          <a:xfrm>
            <a:off x="4745736" y="5678424"/>
            <a:ext cx="109728" cy="0"/>
          </a:xfrm>
          <a:prstGeom prst="line">
            <a:avLst/>
          </a:prstGeom>
          <a:noFill/>
          <a:ln w="19050">
            <a:solidFill>
              <a:srgbClr val="5C6B7A"/>
            </a:solidFill>
            <a:prstDash val="solid"/>
            <a:tailEnd type="triangle"/>
          </a:ln>
        </p:spPr>
      </p:sp>
      <p:sp>
        <p:nvSpPr>
          <p:cNvPr id="41" name="Shape 38"/>
          <p:cNvSpPr/>
          <p:nvPr/>
        </p:nvSpPr>
        <p:spPr>
          <a:xfrm>
            <a:off x="4864608" y="5394960"/>
            <a:ext cx="950976" cy="566928"/>
          </a:xfrm>
          <a:prstGeom prst="rect">
            <a:avLst/>
          </a:prstGeom>
          <a:solidFill>
            <a:srgbClr val="E3F1F2"/>
          </a:solidFill>
          <a:ln w="12700">
            <a:solidFill>
              <a:srgbClr val="0E7C86"/>
            </a:solidFill>
            <a:prstDash val="solid"/>
          </a:ln>
        </p:spPr>
      </p:sp>
      <p:sp>
        <p:nvSpPr>
          <p:cNvPr id="42" name="Text 39"/>
          <p:cNvSpPr txBox="1"/>
          <p:nvPr/>
        </p:nvSpPr>
        <p:spPr>
          <a:xfrm>
            <a:off x="4937760" y="5394960"/>
            <a:ext cx="804672" cy="566928"/>
          </a:xfrm>
          <a:prstGeom prst="rect">
            <a:avLst/>
          </a:prstGeom>
          <a:noFill/>
          <a:ln/>
        </p:spPr>
        <p:txBody>
          <a:bodyPr wrap="square" lIns="0" tIns="0" rIns="0" bIns="0" rtlCol="0" anchor="ctr"/>
          <a:lstStyle/>
          <a:p>
            <a:pPr algn="ctr" indent="0" marL="0">
              <a:buNone/>
            </a:pPr>
            <a:r>
              <a:rPr lang="en-US" sz="1200" b="1" dirty="0">
                <a:solidFill>
                  <a:srgbClr val="1B2733"/>
                </a:solidFill>
                <a:latin typeface="Calibri" pitchFamily="34" charset="0"/>
                <a:ea typeface="Calibri" pitchFamily="34" charset="-122"/>
                <a:cs typeface="Calibri" pitchFamily="34" charset="-120"/>
              </a:rPr>
              <a:t>Crop</a:t>
            </a:r>
            <a:endParaRPr lang="en-US" sz="1500" dirty="0"/>
          </a:p>
        </p:txBody>
      </p:sp>
      <p:sp>
        <p:nvSpPr>
          <p:cNvPr id="25" name="Slide Number Placeholder 0"/>
          <p:cNvSpPr>
            <a:spLocks noGrp="1"/>
          </p:cNvSpPr>
          <p:nvPr>
            <p:ph type="sldNum" sz="quarter" idx="4294967295"/>
          </p:nvPr>
        </p:nvSpPr>
        <p:spPr>
          <a:xfrm>
            <a:off x="10881360" y="6446520"/>
            <a:ext cx="758952"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C6B7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47472"/>
            <a:ext cx="8595360" cy="594360"/>
          </a:xfrm>
          <a:prstGeom prst="rect">
            <a:avLst/>
          </a:prstGeom>
          <a:noFill/>
          <a:ln/>
        </p:spPr>
        <p:txBody>
          <a:bodyPr wrap="square" lIns="0" tIns="0" rIns="0" bIns="0" rtlCol="0" anchor="t"/>
          <a:lstStyle/>
          <a:p>
            <a:pPr indent="0" marL="0">
              <a:buNone/>
            </a:pPr>
            <a:r>
              <a:rPr lang="en-US" sz="3000" b="1" dirty="0">
                <a:solidFill>
                  <a:srgbClr val="1B2733"/>
                </a:solidFill>
                <a:latin typeface="Calibri" pitchFamily="34" charset="0"/>
                <a:ea typeface="Calibri" pitchFamily="34" charset="-122"/>
                <a:cs typeface="Calibri" pitchFamily="34" charset="-120"/>
              </a:rPr>
              <a:t>Detector Performance</a:t>
            </a:r>
            <a:endParaRPr lang="en-US" sz="3000" dirty="0"/>
          </a:p>
        </p:txBody>
      </p:sp>
      <p:sp>
        <p:nvSpPr>
          <p:cNvPr id="3" name="Text 1"/>
          <p:cNvSpPr txBox="1"/>
          <p:nvPr/>
        </p:nvSpPr>
        <p:spPr>
          <a:xfrm>
            <a:off x="548640" y="932688"/>
            <a:ext cx="10607040" cy="347472"/>
          </a:xfrm>
          <a:prstGeom prst="rect">
            <a:avLst/>
          </a:prstGeom>
          <a:noFill/>
          <a:ln/>
        </p:spPr>
        <p:txBody>
          <a:bodyPr wrap="square" lIns="0" tIns="0" rIns="0" bIns="0" rtlCol="0" anchor="t"/>
          <a:lstStyle/>
          <a:p>
            <a:pPr indent="0" marL="0">
              <a:buNone/>
            </a:pPr>
            <a:r>
              <a:rPr lang="en-US" sz="1600" dirty="0">
                <a:solidFill>
                  <a:srgbClr val="5C6B7A"/>
                </a:solidFill>
                <a:latin typeface="Calibri" pitchFamily="34" charset="0"/>
                <a:ea typeface="Calibri" pitchFamily="34" charset="-122"/>
                <a:cs typeface="Calibri" pitchFamily="34" charset="-120"/>
              </a:rPr>
              <a:t>Current system bottleneck: object detection.</a:t>
            </a:r>
            <a:endParaRPr lang="en-US" sz="1600" dirty="0"/>
          </a:p>
        </p:txBody>
      </p:sp>
      <p:sp>
        <p:nvSpPr>
          <p:cNvPr id="4" name="Text 2"/>
          <p:cNvSpPr txBox="1"/>
          <p:nvPr/>
        </p:nvSpPr>
        <p:spPr>
          <a:xfrm>
            <a:off x="8778240" y="384048"/>
            <a:ext cx="2862072" cy="274320"/>
          </a:xfrm>
          <a:prstGeom prst="rect">
            <a:avLst/>
          </a:prstGeom>
          <a:noFill/>
          <a:ln/>
        </p:spPr>
        <p:txBody>
          <a:bodyPr wrap="square" lIns="0" tIns="0" rIns="0" bIns="0" rtlCol="0" anchor="t"/>
          <a:lstStyle/>
          <a:p>
            <a:pPr algn="r" indent="0" marL="0">
              <a:buNone/>
            </a:pPr>
            <a:r>
              <a:rPr lang="en-US" sz="1200" b="1" spc="150" kern="0" dirty="0">
                <a:solidFill>
                  <a:srgbClr val="0E7C86"/>
                </a:solidFill>
                <a:latin typeface="Calibri" pitchFamily="34" charset="0"/>
                <a:ea typeface="Calibri" pitchFamily="34" charset="-122"/>
                <a:cs typeface="Calibri" pitchFamily="34" charset="-120"/>
              </a:rPr>
              <a:t>SPEAKER  ·  Krish</a:t>
            </a:r>
            <a:endParaRPr lang="en-US" sz="1200" dirty="0"/>
          </a:p>
        </p:txBody>
      </p:sp>
      <p:sp>
        <p:nvSpPr>
          <p:cNvPr id="5" name="Text 3"/>
          <p:cNvSpPr txBox="1"/>
          <p:nvPr/>
        </p:nvSpPr>
        <p:spPr>
          <a:xfrm>
            <a:off x="685800" y="1481328"/>
            <a:ext cx="10515600" cy="256032"/>
          </a:xfrm>
          <a:prstGeom prst="rect">
            <a:avLst/>
          </a:prstGeom>
          <a:noFill/>
          <a:ln/>
        </p:spPr>
        <p:txBody>
          <a:bodyPr wrap="square" lIns="0" tIns="0" rIns="0" bIns="0" rtlCol="0" anchor="t"/>
          <a:lstStyle/>
          <a:p>
            <a:pPr indent="0" marL="0">
              <a:buNone/>
            </a:pPr>
            <a:r>
              <a:rPr lang="en-US" sz="1200" b="1" spc="200" kern="0" dirty="0">
                <a:solidFill>
                  <a:srgbClr val="0E7C86"/>
                </a:solidFill>
                <a:latin typeface="Calibri" pitchFamily="34" charset="0"/>
                <a:ea typeface="Calibri" pitchFamily="34" charset="-122"/>
                <a:cs typeface="Calibri" pitchFamily="34" charset="-120"/>
              </a:rPr>
              <a:t>E4 DETECTOR VALIDATION  ·  149 IMAGES  ·  407 INSTANCES  ·  DETECTOR METRICS</a:t>
            </a:r>
            <a:endParaRPr lang="en-US" sz="1200" dirty="0"/>
          </a:p>
        </p:txBody>
      </p:sp>
      <p:sp>
        <p:nvSpPr>
          <p:cNvPr id="6" name="Text 4"/>
          <p:cNvSpPr txBox="1"/>
          <p:nvPr/>
        </p:nvSpPr>
        <p:spPr>
          <a:xfrm>
            <a:off x="685800" y="1783080"/>
            <a:ext cx="2468880" cy="731520"/>
          </a:xfrm>
          <a:prstGeom prst="rect">
            <a:avLst/>
          </a:prstGeom>
          <a:noFill/>
          <a:ln/>
        </p:spPr>
        <p:txBody>
          <a:bodyPr wrap="square" lIns="0" tIns="0" rIns="0" bIns="0" rtlCol="0" anchor="t"/>
          <a:lstStyle/>
          <a:p>
            <a:pPr indent="0" marL="0">
              <a:buNone/>
            </a:pPr>
            <a:r>
              <a:rPr lang="en-US" sz="4400" b="1" dirty="0">
                <a:solidFill>
                  <a:srgbClr val="0E7C86"/>
                </a:solidFill>
                <a:latin typeface="Calibri" pitchFamily="34" charset="0"/>
                <a:ea typeface="Calibri" pitchFamily="34" charset="-122"/>
                <a:cs typeface="Calibri" pitchFamily="34" charset="-120"/>
              </a:rPr>
              <a:t>0.216</a:t>
            </a:r>
            <a:endParaRPr lang="en-US" sz="4400" dirty="0"/>
          </a:p>
        </p:txBody>
      </p:sp>
      <p:sp>
        <p:nvSpPr>
          <p:cNvPr id="7" name="Text 5"/>
          <p:cNvSpPr txBox="1"/>
          <p:nvPr/>
        </p:nvSpPr>
        <p:spPr>
          <a:xfrm>
            <a:off x="685800" y="2487168"/>
            <a:ext cx="2468880" cy="320040"/>
          </a:xfrm>
          <a:prstGeom prst="rect">
            <a:avLst/>
          </a:prstGeom>
          <a:noFill/>
          <a:ln/>
        </p:spPr>
        <p:txBody>
          <a:bodyPr wrap="square" lIns="0" tIns="0" rIns="0" bIns="0" rtlCol="0" anchor="t"/>
          <a:lstStyle/>
          <a:p>
            <a:pPr indent="0" marL="0">
              <a:buNone/>
            </a:pPr>
            <a:r>
              <a:rPr lang="en-US" sz="1500" dirty="0">
                <a:solidFill>
                  <a:srgbClr val="5C6B7A"/>
                </a:solidFill>
                <a:latin typeface="Calibri" pitchFamily="34" charset="0"/>
                <a:ea typeface="Calibri" pitchFamily="34" charset="-122"/>
                <a:cs typeface="Calibri" pitchFamily="34" charset="-120"/>
              </a:rPr>
              <a:t>Precision</a:t>
            </a:r>
            <a:endParaRPr lang="en-US" sz="1500" dirty="0"/>
          </a:p>
        </p:txBody>
      </p:sp>
      <p:sp>
        <p:nvSpPr>
          <p:cNvPr id="8" name="Shape 6"/>
          <p:cNvSpPr/>
          <p:nvPr/>
        </p:nvSpPr>
        <p:spPr>
          <a:xfrm>
            <a:off x="3246120" y="1874520"/>
            <a:ext cx="0" cy="914400"/>
          </a:xfrm>
          <a:prstGeom prst="line">
            <a:avLst/>
          </a:prstGeom>
          <a:noFill/>
          <a:ln w="12700">
            <a:solidFill>
              <a:srgbClr val="D5DBE1"/>
            </a:solidFill>
            <a:prstDash val="solid"/>
          </a:ln>
        </p:spPr>
      </p:sp>
      <p:sp>
        <p:nvSpPr>
          <p:cNvPr id="9" name="Text 7"/>
          <p:cNvSpPr txBox="1"/>
          <p:nvPr/>
        </p:nvSpPr>
        <p:spPr>
          <a:xfrm>
            <a:off x="3429000" y="1783080"/>
            <a:ext cx="2468880" cy="731520"/>
          </a:xfrm>
          <a:prstGeom prst="rect">
            <a:avLst/>
          </a:prstGeom>
          <a:noFill/>
          <a:ln/>
        </p:spPr>
        <p:txBody>
          <a:bodyPr wrap="square" lIns="0" tIns="0" rIns="0" bIns="0" rtlCol="0" anchor="t"/>
          <a:lstStyle/>
          <a:p>
            <a:pPr indent="0" marL="0">
              <a:buNone/>
            </a:pPr>
            <a:r>
              <a:rPr lang="en-US" sz="4400" b="1" dirty="0">
                <a:solidFill>
                  <a:srgbClr val="0E7C86"/>
                </a:solidFill>
                <a:latin typeface="Calibri" pitchFamily="34" charset="0"/>
                <a:ea typeface="Calibri" pitchFamily="34" charset="-122"/>
                <a:cs typeface="Calibri" pitchFamily="34" charset="-120"/>
              </a:rPr>
              <a:t>0.261</a:t>
            </a:r>
            <a:endParaRPr lang="en-US" sz="4400" dirty="0"/>
          </a:p>
        </p:txBody>
      </p:sp>
      <p:sp>
        <p:nvSpPr>
          <p:cNvPr id="10" name="Text 8"/>
          <p:cNvSpPr txBox="1"/>
          <p:nvPr/>
        </p:nvSpPr>
        <p:spPr>
          <a:xfrm>
            <a:off x="3429000" y="2487168"/>
            <a:ext cx="2468880" cy="320040"/>
          </a:xfrm>
          <a:prstGeom prst="rect">
            <a:avLst/>
          </a:prstGeom>
          <a:noFill/>
          <a:ln/>
        </p:spPr>
        <p:txBody>
          <a:bodyPr wrap="square" lIns="0" tIns="0" rIns="0" bIns="0" rtlCol="0" anchor="t"/>
          <a:lstStyle/>
          <a:p>
            <a:pPr indent="0" marL="0">
              <a:buNone/>
            </a:pPr>
            <a:r>
              <a:rPr lang="en-US" sz="1500" dirty="0">
                <a:solidFill>
                  <a:srgbClr val="5C6B7A"/>
                </a:solidFill>
                <a:latin typeface="Calibri" pitchFamily="34" charset="0"/>
                <a:ea typeface="Calibri" pitchFamily="34" charset="-122"/>
                <a:cs typeface="Calibri" pitchFamily="34" charset="-120"/>
              </a:rPr>
              <a:t>Recall</a:t>
            </a:r>
            <a:endParaRPr lang="en-US" sz="1500" dirty="0"/>
          </a:p>
        </p:txBody>
      </p:sp>
      <p:sp>
        <p:nvSpPr>
          <p:cNvPr id="11" name="Shape 9"/>
          <p:cNvSpPr/>
          <p:nvPr/>
        </p:nvSpPr>
        <p:spPr>
          <a:xfrm>
            <a:off x="5989320" y="1874520"/>
            <a:ext cx="0" cy="914400"/>
          </a:xfrm>
          <a:prstGeom prst="line">
            <a:avLst/>
          </a:prstGeom>
          <a:noFill/>
          <a:ln w="12700">
            <a:solidFill>
              <a:srgbClr val="D5DBE1"/>
            </a:solidFill>
            <a:prstDash val="solid"/>
          </a:ln>
        </p:spPr>
      </p:sp>
      <p:sp>
        <p:nvSpPr>
          <p:cNvPr id="12" name="Text 10"/>
          <p:cNvSpPr txBox="1"/>
          <p:nvPr/>
        </p:nvSpPr>
        <p:spPr>
          <a:xfrm>
            <a:off x="6172200" y="1783080"/>
            <a:ext cx="2468880" cy="731520"/>
          </a:xfrm>
          <a:prstGeom prst="rect">
            <a:avLst/>
          </a:prstGeom>
          <a:noFill/>
          <a:ln/>
        </p:spPr>
        <p:txBody>
          <a:bodyPr wrap="square" lIns="0" tIns="0" rIns="0" bIns="0" rtlCol="0" anchor="t"/>
          <a:lstStyle/>
          <a:p>
            <a:pPr indent="0" marL="0">
              <a:buNone/>
            </a:pPr>
            <a:r>
              <a:rPr lang="en-US" sz="4400" b="1" dirty="0">
                <a:solidFill>
                  <a:srgbClr val="0E7C86"/>
                </a:solidFill>
                <a:latin typeface="Calibri" pitchFamily="34" charset="0"/>
                <a:ea typeface="Calibri" pitchFamily="34" charset="-122"/>
                <a:cs typeface="Calibri" pitchFamily="34" charset="-120"/>
              </a:rPr>
              <a:t>0.232</a:t>
            </a:r>
            <a:endParaRPr lang="en-US" sz="4400" dirty="0"/>
          </a:p>
        </p:txBody>
      </p:sp>
      <p:sp>
        <p:nvSpPr>
          <p:cNvPr id="13" name="Text 11"/>
          <p:cNvSpPr txBox="1"/>
          <p:nvPr/>
        </p:nvSpPr>
        <p:spPr>
          <a:xfrm>
            <a:off x="6172200" y="2487168"/>
            <a:ext cx="2468880" cy="320040"/>
          </a:xfrm>
          <a:prstGeom prst="rect">
            <a:avLst/>
          </a:prstGeom>
          <a:noFill/>
          <a:ln/>
        </p:spPr>
        <p:txBody>
          <a:bodyPr wrap="square" lIns="0" tIns="0" rIns="0" bIns="0" rtlCol="0" anchor="t"/>
          <a:lstStyle/>
          <a:p>
            <a:pPr indent="0" marL="0">
              <a:buNone/>
            </a:pPr>
            <a:r>
              <a:rPr lang="en-US" sz="1500" dirty="0">
                <a:solidFill>
                  <a:srgbClr val="5C6B7A"/>
                </a:solidFill>
                <a:latin typeface="Calibri" pitchFamily="34" charset="0"/>
                <a:ea typeface="Calibri" pitchFamily="34" charset="-122"/>
                <a:cs typeface="Calibri" pitchFamily="34" charset="-120"/>
              </a:rPr>
              <a:t>mAP@0.50</a:t>
            </a:r>
            <a:endParaRPr lang="en-US" sz="1500" dirty="0"/>
          </a:p>
        </p:txBody>
      </p:sp>
      <p:sp>
        <p:nvSpPr>
          <p:cNvPr id="14" name="Shape 12"/>
          <p:cNvSpPr/>
          <p:nvPr/>
        </p:nvSpPr>
        <p:spPr>
          <a:xfrm>
            <a:off x="8732520" y="1874520"/>
            <a:ext cx="0" cy="914400"/>
          </a:xfrm>
          <a:prstGeom prst="line">
            <a:avLst/>
          </a:prstGeom>
          <a:noFill/>
          <a:ln w="12700">
            <a:solidFill>
              <a:srgbClr val="D5DBE1"/>
            </a:solidFill>
            <a:prstDash val="solid"/>
          </a:ln>
        </p:spPr>
      </p:sp>
      <p:sp>
        <p:nvSpPr>
          <p:cNvPr id="15" name="Text 13"/>
          <p:cNvSpPr txBox="1"/>
          <p:nvPr/>
        </p:nvSpPr>
        <p:spPr>
          <a:xfrm>
            <a:off x="8915400" y="1783080"/>
            <a:ext cx="2468880" cy="731520"/>
          </a:xfrm>
          <a:prstGeom prst="rect">
            <a:avLst/>
          </a:prstGeom>
          <a:noFill/>
          <a:ln/>
        </p:spPr>
        <p:txBody>
          <a:bodyPr wrap="square" lIns="0" tIns="0" rIns="0" bIns="0" rtlCol="0" anchor="t"/>
          <a:lstStyle/>
          <a:p>
            <a:pPr indent="0" marL="0">
              <a:buNone/>
            </a:pPr>
            <a:r>
              <a:rPr lang="en-US" sz="4400" b="1" dirty="0">
                <a:solidFill>
                  <a:srgbClr val="0E7C86"/>
                </a:solidFill>
                <a:latin typeface="Calibri" pitchFamily="34" charset="0"/>
                <a:ea typeface="Calibri" pitchFamily="34" charset="-122"/>
                <a:cs typeface="Calibri" pitchFamily="34" charset="-120"/>
              </a:rPr>
              <a:t>0.188</a:t>
            </a:r>
            <a:endParaRPr lang="en-US" sz="4400" dirty="0"/>
          </a:p>
        </p:txBody>
      </p:sp>
      <p:sp>
        <p:nvSpPr>
          <p:cNvPr id="16" name="Text 14"/>
          <p:cNvSpPr txBox="1"/>
          <p:nvPr/>
        </p:nvSpPr>
        <p:spPr>
          <a:xfrm>
            <a:off x="8915400" y="2487168"/>
            <a:ext cx="2468880" cy="320040"/>
          </a:xfrm>
          <a:prstGeom prst="rect">
            <a:avLst/>
          </a:prstGeom>
          <a:noFill/>
          <a:ln/>
        </p:spPr>
        <p:txBody>
          <a:bodyPr wrap="square" lIns="0" tIns="0" rIns="0" bIns="0" rtlCol="0" anchor="t"/>
          <a:lstStyle/>
          <a:p>
            <a:pPr indent="0" marL="0">
              <a:buNone/>
            </a:pPr>
            <a:r>
              <a:rPr lang="en-US" sz="1500" dirty="0">
                <a:solidFill>
                  <a:srgbClr val="5C6B7A"/>
                </a:solidFill>
                <a:latin typeface="Calibri" pitchFamily="34" charset="0"/>
                <a:ea typeface="Calibri" pitchFamily="34" charset="-122"/>
                <a:cs typeface="Calibri" pitchFamily="34" charset="-120"/>
              </a:rPr>
              <a:t>mAP@0.50:0.95</a:t>
            </a:r>
            <a:endParaRPr lang="en-US" sz="1500" dirty="0"/>
          </a:p>
        </p:txBody>
      </p:sp>
      <p:sp>
        <p:nvSpPr>
          <p:cNvPr id="17" name="Shape 15"/>
          <p:cNvSpPr/>
          <p:nvPr/>
        </p:nvSpPr>
        <p:spPr>
          <a:xfrm>
            <a:off x="685800" y="3017520"/>
            <a:ext cx="10817352" cy="0"/>
          </a:xfrm>
          <a:prstGeom prst="line">
            <a:avLst/>
          </a:prstGeom>
          <a:noFill/>
          <a:ln w="12700">
            <a:solidFill>
              <a:srgbClr val="D5DBE1"/>
            </a:solidFill>
            <a:prstDash val="solid"/>
          </a:ln>
        </p:spPr>
      </p:sp>
      <p:sp>
        <p:nvSpPr>
          <p:cNvPr id="18" name="Text 16"/>
          <p:cNvSpPr txBox="1"/>
          <p:nvPr/>
        </p:nvSpPr>
        <p:spPr>
          <a:xfrm>
            <a:off x="685800" y="3154680"/>
            <a:ext cx="5943600" cy="256032"/>
          </a:xfrm>
          <a:prstGeom prst="rect">
            <a:avLst/>
          </a:prstGeom>
          <a:noFill/>
          <a:ln/>
        </p:spPr>
        <p:txBody>
          <a:bodyPr wrap="square" lIns="0" tIns="0" rIns="0" bIns="0" rtlCol="0" anchor="t"/>
          <a:lstStyle/>
          <a:p>
            <a:pPr indent="0" marL="0">
              <a:buNone/>
            </a:pPr>
            <a:r>
              <a:rPr lang="en-US" sz="1200" b="1" spc="200" kern="0" dirty="0">
                <a:solidFill>
                  <a:srgbClr val="5C6B7A"/>
                </a:solidFill>
                <a:latin typeface="Calibri" pitchFamily="34" charset="0"/>
                <a:ea typeface="Calibri" pitchFamily="34" charset="-122"/>
                <a:cs typeface="Calibri" pitchFamily="34" charset="-120"/>
              </a:rPr>
              <a:t>PER-CLASS mAP@0.50   ·   SCALE 0 → 1.0</a:t>
            </a:r>
            <a:endParaRPr lang="en-US" sz="1200" dirty="0"/>
          </a:p>
        </p:txBody>
      </p:sp>
      <p:sp>
        <p:nvSpPr>
          <p:cNvPr id="19" name="Text 17"/>
          <p:cNvSpPr txBox="1"/>
          <p:nvPr/>
        </p:nvSpPr>
        <p:spPr>
          <a:xfrm>
            <a:off x="685800" y="3547872"/>
            <a:ext cx="1920240" cy="365760"/>
          </a:xfrm>
          <a:prstGeom prst="rect">
            <a:avLst/>
          </a:prstGeom>
          <a:noFill/>
          <a:ln/>
        </p:spPr>
        <p:txBody>
          <a:bodyPr wrap="square" lIns="0" tIns="0" rIns="0" bIns="0" rtlCol="0" anchor="ctr"/>
          <a:lstStyle/>
          <a:p>
            <a:pPr indent="0" marL="0">
              <a:buNone/>
            </a:pPr>
            <a:r>
              <a:rPr lang="en-US" sz="1600" dirty="0">
                <a:solidFill>
                  <a:srgbClr val="1B2733"/>
                </a:solidFill>
                <a:latin typeface="Calibri" pitchFamily="34" charset="0"/>
                <a:ea typeface="Calibri" pitchFamily="34" charset="-122"/>
                <a:cs typeface="Calibri" pitchFamily="34" charset="-120"/>
              </a:rPr>
              <a:t>plastic</a:t>
            </a:r>
            <a:endParaRPr lang="en-US" sz="1600" dirty="0"/>
          </a:p>
        </p:txBody>
      </p:sp>
      <p:sp>
        <p:nvSpPr>
          <p:cNvPr id="20" name="Shape 18"/>
          <p:cNvSpPr/>
          <p:nvPr/>
        </p:nvSpPr>
        <p:spPr>
          <a:xfrm>
            <a:off x="2697480" y="3621024"/>
            <a:ext cx="3108960" cy="237744"/>
          </a:xfrm>
          <a:prstGeom prst="rect">
            <a:avLst/>
          </a:prstGeom>
          <a:solidFill>
            <a:srgbClr val="EAEEF2"/>
          </a:solidFill>
          <a:ln/>
        </p:spPr>
      </p:sp>
      <p:sp>
        <p:nvSpPr>
          <p:cNvPr id="21" name="Shape 19"/>
          <p:cNvSpPr/>
          <p:nvPr/>
        </p:nvSpPr>
        <p:spPr>
          <a:xfrm>
            <a:off x="2697480" y="3621024"/>
            <a:ext cx="1377269" cy="237744"/>
          </a:xfrm>
          <a:prstGeom prst="rect">
            <a:avLst/>
          </a:prstGeom>
          <a:solidFill>
            <a:srgbClr val="0E7C86"/>
          </a:solidFill>
          <a:ln/>
        </p:spPr>
      </p:sp>
      <p:sp>
        <p:nvSpPr>
          <p:cNvPr id="22" name="Text 20"/>
          <p:cNvSpPr txBox="1"/>
          <p:nvPr/>
        </p:nvSpPr>
        <p:spPr>
          <a:xfrm>
            <a:off x="5943600" y="3547872"/>
            <a:ext cx="822960" cy="365760"/>
          </a:xfrm>
          <a:prstGeom prst="rect">
            <a:avLst/>
          </a:prstGeom>
          <a:noFill/>
          <a:ln/>
        </p:spPr>
        <p:txBody>
          <a:bodyPr wrap="square" lIns="0" tIns="0" rIns="0" bIns="0" rtlCol="0" anchor="ctr"/>
          <a:lstStyle/>
          <a:p>
            <a:pPr indent="0" marL="0">
              <a:buNone/>
            </a:pPr>
            <a:r>
              <a:rPr lang="en-US" sz="1600" b="1" dirty="0">
                <a:solidFill>
                  <a:srgbClr val="1B2733"/>
                </a:solidFill>
                <a:latin typeface="Calibri" pitchFamily="34" charset="0"/>
                <a:ea typeface="Calibri" pitchFamily="34" charset="-122"/>
                <a:cs typeface="Calibri" pitchFamily="34" charset="-120"/>
              </a:rPr>
              <a:t>0.443</a:t>
            </a:r>
            <a:endParaRPr lang="en-US" sz="1600" dirty="0"/>
          </a:p>
        </p:txBody>
      </p:sp>
      <p:sp>
        <p:nvSpPr>
          <p:cNvPr id="23" name="Text 21"/>
          <p:cNvSpPr txBox="1"/>
          <p:nvPr/>
        </p:nvSpPr>
        <p:spPr>
          <a:xfrm>
            <a:off x="685800" y="4005072"/>
            <a:ext cx="1920240" cy="365760"/>
          </a:xfrm>
          <a:prstGeom prst="rect">
            <a:avLst/>
          </a:prstGeom>
          <a:noFill/>
          <a:ln/>
        </p:spPr>
        <p:txBody>
          <a:bodyPr wrap="square" lIns="0" tIns="0" rIns="0" bIns="0" rtlCol="0" anchor="ctr"/>
          <a:lstStyle/>
          <a:p>
            <a:pPr indent="0" marL="0">
              <a:buNone/>
            </a:pPr>
            <a:r>
              <a:rPr lang="en-US" sz="1600" dirty="0">
                <a:solidFill>
                  <a:srgbClr val="1B2733"/>
                </a:solidFill>
                <a:latin typeface="Calibri" pitchFamily="34" charset="0"/>
                <a:ea typeface="Calibri" pitchFamily="34" charset="-122"/>
                <a:cs typeface="Calibri" pitchFamily="34" charset="-120"/>
              </a:rPr>
              <a:t>metal</a:t>
            </a:r>
            <a:endParaRPr lang="en-US" sz="1600" dirty="0"/>
          </a:p>
        </p:txBody>
      </p:sp>
      <p:sp>
        <p:nvSpPr>
          <p:cNvPr id="24" name="Shape 22"/>
          <p:cNvSpPr/>
          <p:nvPr/>
        </p:nvSpPr>
        <p:spPr>
          <a:xfrm>
            <a:off x="2697480" y="4078224"/>
            <a:ext cx="3108960" cy="237744"/>
          </a:xfrm>
          <a:prstGeom prst="rect">
            <a:avLst/>
          </a:prstGeom>
          <a:solidFill>
            <a:srgbClr val="EAEEF2"/>
          </a:solidFill>
          <a:ln/>
        </p:spPr>
      </p:sp>
      <p:sp>
        <p:nvSpPr>
          <p:cNvPr id="25" name="Shape 23"/>
          <p:cNvSpPr/>
          <p:nvPr/>
        </p:nvSpPr>
        <p:spPr>
          <a:xfrm>
            <a:off x="2697480" y="4078224"/>
            <a:ext cx="1153424" cy="237744"/>
          </a:xfrm>
          <a:prstGeom prst="rect">
            <a:avLst/>
          </a:prstGeom>
          <a:solidFill>
            <a:srgbClr val="0E7C86"/>
          </a:solidFill>
          <a:ln/>
        </p:spPr>
      </p:sp>
      <p:sp>
        <p:nvSpPr>
          <p:cNvPr id="26" name="Text 24"/>
          <p:cNvSpPr txBox="1"/>
          <p:nvPr/>
        </p:nvSpPr>
        <p:spPr>
          <a:xfrm>
            <a:off x="5943600" y="4005072"/>
            <a:ext cx="822960" cy="365760"/>
          </a:xfrm>
          <a:prstGeom prst="rect">
            <a:avLst/>
          </a:prstGeom>
          <a:noFill/>
          <a:ln/>
        </p:spPr>
        <p:txBody>
          <a:bodyPr wrap="square" lIns="0" tIns="0" rIns="0" bIns="0" rtlCol="0" anchor="ctr"/>
          <a:lstStyle/>
          <a:p>
            <a:pPr indent="0" marL="0">
              <a:buNone/>
            </a:pPr>
            <a:r>
              <a:rPr lang="en-US" sz="1600" b="1" dirty="0">
                <a:solidFill>
                  <a:srgbClr val="1B2733"/>
                </a:solidFill>
                <a:latin typeface="Calibri" pitchFamily="34" charset="0"/>
                <a:ea typeface="Calibri" pitchFamily="34" charset="-122"/>
                <a:cs typeface="Calibri" pitchFamily="34" charset="-120"/>
              </a:rPr>
              <a:t>0.371</a:t>
            </a:r>
            <a:endParaRPr lang="en-US" sz="1600" dirty="0"/>
          </a:p>
        </p:txBody>
      </p:sp>
      <p:sp>
        <p:nvSpPr>
          <p:cNvPr id="27" name="Text 25"/>
          <p:cNvSpPr txBox="1"/>
          <p:nvPr/>
        </p:nvSpPr>
        <p:spPr>
          <a:xfrm>
            <a:off x="685800" y="4462272"/>
            <a:ext cx="1920240" cy="365760"/>
          </a:xfrm>
          <a:prstGeom prst="rect">
            <a:avLst/>
          </a:prstGeom>
          <a:noFill/>
          <a:ln/>
        </p:spPr>
        <p:txBody>
          <a:bodyPr wrap="square" lIns="0" tIns="0" rIns="0" bIns="0" rtlCol="0" anchor="ctr"/>
          <a:lstStyle/>
          <a:p>
            <a:pPr indent="0" marL="0">
              <a:buNone/>
            </a:pPr>
            <a:r>
              <a:rPr lang="en-US" sz="1600" dirty="0">
                <a:solidFill>
                  <a:srgbClr val="1B2733"/>
                </a:solidFill>
                <a:latin typeface="Calibri" pitchFamily="34" charset="0"/>
                <a:ea typeface="Calibri" pitchFamily="34" charset="-122"/>
                <a:cs typeface="Calibri" pitchFamily="34" charset="-120"/>
              </a:rPr>
              <a:t>paper/cardboard</a:t>
            </a:r>
            <a:endParaRPr lang="en-US" sz="1600" dirty="0"/>
          </a:p>
        </p:txBody>
      </p:sp>
      <p:sp>
        <p:nvSpPr>
          <p:cNvPr id="28" name="Shape 26"/>
          <p:cNvSpPr/>
          <p:nvPr/>
        </p:nvSpPr>
        <p:spPr>
          <a:xfrm>
            <a:off x="2697480" y="4535424"/>
            <a:ext cx="3108960" cy="237744"/>
          </a:xfrm>
          <a:prstGeom prst="rect">
            <a:avLst/>
          </a:prstGeom>
          <a:solidFill>
            <a:srgbClr val="EAEEF2"/>
          </a:solidFill>
          <a:ln/>
        </p:spPr>
      </p:sp>
      <p:sp>
        <p:nvSpPr>
          <p:cNvPr id="29" name="Shape 27"/>
          <p:cNvSpPr/>
          <p:nvPr/>
        </p:nvSpPr>
        <p:spPr>
          <a:xfrm>
            <a:off x="2697480" y="4535424"/>
            <a:ext cx="830092" cy="237744"/>
          </a:xfrm>
          <a:prstGeom prst="rect">
            <a:avLst/>
          </a:prstGeom>
          <a:solidFill>
            <a:srgbClr val="0E7C86"/>
          </a:solidFill>
          <a:ln/>
        </p:spPr>
      </p:sp>
      <p:sp>
        <p:nvSpPr>
          <p:cNvPr id="30" name="Text 28"/>
          <p:cNvSpPr txBox="1"/>
          <p:nvPr/>
        </p:nvSpPr>
        <p:spPr>
          <a:xfrm>
            <a:off x="5943600" y="4462272"/>
            <a:ext cx="822960" cy="365760"/>
          </a:xfrm>
          <a:prstGeom prst="rect">
            <a:avLst/>
          </a:prstGeom>
          <a:noFill/>
          <a:ln/>
        </p:spPr>
        <p:txBody>
          <a:bodyPr wrap="square" lIns="0" tIns="0" rIns="0" bIns="0" rtlCol="0" anchor="ctr"/>
          <a:lstStyle/>
          <a:p>
            <a:pPr indent="0" marL="0">
              <a:buNone/>
            </a:pPr>
            <a:r>
              <a:rPr lang="en-US" sz="1600" b="1" dirty="0">
                <a:solidFill>
                  <a:srgbClr val="1B2733"/>
                </a:solidFill>
                <a:latin typeface="Calibri" pitchFamily="34" charset="0"/>
                <a:ea typeface="Calibri" pitchFamily="34" charset="-122"/>
                <a:cs typeface="Calibri" pitchFamily="34" charset="-120"/>
              </a:rPr>
              <a:t>0.267</a:t>
            </a:r>
            <a:endParaRPr lang="en-US" sz="1600" dirty="0"/>
          </a:p>
        </p:txBody>
      </p:sp>
      <p:sp>
        <p:nvSpPr>
          <p:cNvPr id="31" name="Text 29"/>
          <p:cNvSpPr txBox="1"/>
          <p:nvPr/>
        </p:nvSpPr>
        <p:spPr>
          <a:xfrm>
            <a:off x="685800" y="4919472"/>
            <a:ext cx="1920240" cy="365760"/>
          </a:xfrm>
          <a:prstGeom prst="rect">
            <a:avLst/>
          </a:prstGeom>
          <a:noFill/>
          <a:ln/>
        </p:spPr>
        <p:txBody>
          <a:bodyPr wrap="square" lIns="0" tIns="0" rIns="0" bIns="0" rtlCol="0" anchor="ctr"/>
          <a:lstStyle/>
          <a:p>
            <a:pPr indent="0" marL="0">
              <a:buNone/>
            </a:pPr>
            <a:r>
              <a:rPr lang="en-US" sz="1600" dirty="0">
                <a:solidFill>
                  <a:srgbClr val="1B2733"/>
                </a:solidFill>
                <a:latin typeface="Calibri" pitchFamily="34" charset="0"/>
                <a:ea typeface="Calibri" pitchFamily="34" charset="-122"/>
                <a:cs typeface="Calibri" pitchFamily="34" charset="-120"/>
              </a:rPr>
              <a:t>other_trash</a:t>
            </a:r>
            <a:endParaRPr lang="en-US" sz="1600" dirty="0"/>
          </a:p>
        </p:txBody>
      </p:sp>
      <p:sp>
        <p:nvSpPr>
          <p:cNvPr id="32" name="Shape 30"/>
          <p:cNvSpPr/>
          <p:nvPr/>
        </p:nvSpPr>
        <p:spPr>
          <a:xfrm>
            <a:off x="2697480" y="4992624"/>
            <a:ext cx="3108960" cy="237744"/>
          </a:xfrm>
          <a:prstGeom prst="rect">
            <a:avLst/>
          </a:prstGeom>
          <a:solidFill>
            <a:srgbClr val="EAEEF2"/>
          </a:solidFill>
          <a:ln/>
        </p:spPr>
      </p:sp>
      <p:sp>
        <p:nvSpPr>
          <p:cNvPr id="33" name="Shape 31"/>
          <p:cNvSpPr/>
          <p:nvPr/>
        </p:nvSpPr>
        <p:spPr>
          <a:xfrm>
            <a:off x="2697480" y="4992624"/>
            <a:ext cx="202082" cy="237744"/>
          </a:xfrm>
          <a:prstGeom prst="rect">
            <a:avLst/>
          </a:prstGeom>
          <a:solidFill>
            <a:srgbClr val="0E7C86"/>
          </a:solidFill>
          <a:ln/>
        </p:spPr>
      </p:sp>
      <p:sp>
        <p:nvSpPr>
          <p:cNvPr id="34" name="Text 32"/>
          <p:cNvSpPr txBox="1"/>
          <p:nvPr/>
        </p:nvSpPr>
        <p:spPr>
          <a:xfrm>
            <a:off x="5943600" y="4919472"/>
            <a:ext cx="822960" cy="365760"/>
          </a:xfrm>
          <a:prstGeom prst="rect">
            <a:avLst/>
          </a:prstGeom>
          <a:noFill/>
          <a:ln/>
        </p:spPr>
        <p:txBody>
          <a:bodyPr wrap="square" lIns="0" tIns="0" rIns="0" bIns="0" rtlCol="0" anchor="ctr"/>
          <a:lstStyle/>
          <a:p>
            <a:pPr indent="0" marL="0">
              <a:buNone/>
            </a:pPr>
            <a:r>
              <a:rPr lang="en-US" sz="1600" b="1" dirty="0">
                <a:solidFill>
                  <a:srgbClr val="1B2733"/>
                </a:solidFill>
                <a:latin typeface="Calibri" pitchFamily="34" charset="0"/>
                <a:ea typeface="Calibri" pitchFamily="34" charset="-122"/>
                <a:cs typeface="Calibri" pitchFamily="34" charset="-120"/>
              </a:rPr>
              <a:t>0.065</a:t>
            </a:r>
            <a:endParaRPr lang="en-US" sz="1600" dirty="0"/>
          </a:p>
        </p:txBody>
      </p:sp>
      <p:sp>
        <p:nvSpPr>
          <p:cNvPr id="35" name="Text 33"/>
          <p:cNvSpPr txBox="1"/>
          <p:nvPr/>
        </p:nvSpPr>
        <p:spPr>
          <a:xfrm>
            <a:off x="685800" y="5376672"/>
            <a:ext cx="1920240" cy="365760"/>
          </a:xfrm>
          <a:prstGeom prst="rect">
            <a:avLst/>
          </a:prstGeom>
          <a:noFill/>
          <a:ln/>
        </p:spPr>
        <p:txBody>
          <a:bodyPr wrap="square" lIns="0" tIns="0" rIns="0" bIns="0" rtlCol="0" anchor="ctr"/>
          <a:lstStyle/>
          <a:p>
            <a:pPr indent="0" marL="0">
              <a:buNone/>
            </a:pPr>
            <a:r>
              <a:rPr lang="en-US" sz="1600" dirty="0">
                <a:solidFill>
                  <a:srgbClr val="1B2733"/>
                </a:solidFill>
                <a:latin typeface="Calibri" pitchFamily="34" charset="0"/>
                <a:ea typeface="Calibri" pitchFamily="34" charset="-122"/>
                <a:cs typeface="Calibri" pitchFamily="34" charset="-120"/>
              </a:rPr>
              <a:t>glass</a:t>
            </a:r>
            <a:endParaRPr lang="en-US" sz="1600" dirty="0"/>
          </a:p>
        </p:txBody>
      </p:sp>
      <p:sp>
        <p:nvSpPr>
          <p:cNvPr id="36" name="Shape 34"/>
          <p:cNvSpPr/>
          <p:nvPr/>
        </p:nvSpPr>
        <p:spPr>
          <a:xfrm>
            <a:off x="2697480" y="5449824"/>
            <a:ext cx="3108960" cy="237744"/>
          </a:xfrm>
          <a:prstGeom prst="rect">
            <a:avLst/>
          </a:prstGeom>
          <a:solidFill>
            <a:srgbClr val="EAEEF2"/>
          </a:solidFill>
          <a:ln/>
        </p:spPr>
      </p:sp>
      <p:sp>
        <p:nvSpPr>
          <p:cNvPr id="37" name="Shape 35"/>
          <p:cNvSpPr/>
          <p:nvPr/>
        </p:nvSpPr>
        <p:spPr>
          <a:xfrm>
            <a:off x="2697480" y="5449824"/>
            <a:ext cx="49122" cy="237744"/>
          </a:xfrm>
          <a:prstGeom prst="rect">
            <a:avLst/>
          </a:prstGeom>
          <a:solidFill>
            <a:srgbClr val="0E7C86"/>
          </a:solidFill>
          <a:ln/>
        </p:spPr>
      </p:sp>
      <p:sp>
        <p:nvSpPr>
          <p:cNvPr id="38" name="Text 36"/>
          <p:cNvSpPr txBox="1"/>
          <p:nvPr/>
        </p:nvSpPr>
        <p:spPr>
          <a:xfrm>
            <a:off x="5943600" y="5376672"/>
            <a:ext cx="822960" cy="365760"/>
          </a:xfrm>
          <a:prstGeom prst="rect">
            <a:avLst/>
          </a:prstGeom>
          <a:noFill/>
          <a:ln/>
        </p:spPr>
        <p:txBody>
          <a:bodyPr wrap="square" lIns="0" tIns="0" rIns="0" bIns="0" rtlCol="0" anchor="ctr"/>
          <a:lstStyle/>
          <a:p>
            <a:pPr indent="0" marL="0">
              <a:buNone/>
            </a:pPr>
            <a:r>
              <a:rPr lang="en-US" sz="1600" b="1" dirty="0">
                <a:solidFill>
                  <a:srgbClr val="1B2733"/>
                </a:solidFill>
                <a:latin typeface="Calibri" pitchFamily="34" charset="0"/>
                <a:ea typeface="Calibri" pitchFamily="34" charset="-122"/>
                <a:cs typeface="Calibri" pitchFamily="34" charset="-120"/>
              </a:rPr>
              <a:t>0.0158</a:t>
            </a:r>
            <a:endParaRPr lang="en-US" sz="1600" dirty="0"/>
          </a:p>
        </p:txBody>
      </p:sp>
      <p:sp>
        <p:nvSpPr>
          <p:cNvPr id="39" name="Shape 37"/>
          <p:cNvSpPr/>
          <p:nvPr/>
        </p:nvSpPr>
        <p:spPr>
          <a:xfrm>
            <a:off x="7223760" y="3154680"/>
            <a:ext cx="4343400" cy="1417320"/>
          </a:xfrm>
          <a:prstGeom prst="rect">
            <a:avLst/>
          </a:prstGeom>
          <a:solidFill>
            <a:srgbClr val="F7F8FA"/>
          </a:solidFill>
          <a:ln w="12700">
            <a:solidFill>
              <a:srgbClr val="D5DBE1"/>
            </a:solidFill>
            <a:prstDash val="solid"/>
          </a:ln>
        </p:spPr>
      </p:sp>
      <p:sp>
        <p:nvSpPr>
          <p:cNvPr id="40" name="Text 38"/>
          <p:cNvSpPr txBox="1"/>
          <p:nvPr/>
        </p:nvSpPr>
        <p:spPr>
          <a:xfrm>
            <a:off x="7360920" y="3246120"/>
            <a:ext cx="4114800" cy="256032"/>
          </a:xfrm>
          <a:prstGeom prst="rect">
            <a:avLst/>
          </a:prstGeom>
          <a:noFill/>
          <a:ln/>
        </p:spPr>
        <p:txBody>
          <a:bodyPr wrap="square" lIns="0" tIns="0" rIns="0" bIns="0" rtlCol="0" anchor="t"/>
          <a:lstStyle/>
          <a:p>
            <a:pPr indent="0" marL="0">
              <a:buNone/>
            </a:pPr>
            <a:r>
              <a:rPr lang="en-US" sz="1200" b="1" spc="150" kern="0" dirty="0">
                <a:solidFill>
                  <a:srgbClr val="5C6B7A"/>
                </a:solidFill>
                <a:latin typeface="Calibri" pitchFamily="34" charset="0"/>
                <a:ea typeface="Calibri" pitchFamily="34" charset="-122"/>
                <a:cs typeface="Calibri" pitchFamily="34" charset="-120"/>
              </a:rPr>
              <a:t>SEPARATE TACO PRACTICAL BASELINE</a:t>
            </a:r>
            <a:endParaRPr lang="en-US" sz="1200" dirty="0"/>
          </a:p>
        </p:txBody>
      </p:sp>
      <p:sp>
        <p:nvSpPr>
          <p:cNvPr id="41" name="Text 39"/>
          <p:cNvSpPr txBox="1"/>
          <p:nvPr/>
        </p:nvSpPr>
        <p:spPr>
          <a:xfrm>
            <a:off x="7360920" y="3520440"/>
            <a:ext cx="4114800" cy="457200"/>
          </a:xfrm>
          <a:prstGeom prst="rect">
            <a:avLst/>
          </a:prstGeom>
          <a:noFill/>
          <a:ln/>
        </p:spPr>
        <p:txBody>
          <a:bodyPr wrap="square" lIns="0" tIns="0" rIns="0" bIns="0" rtlCol="0" anchor="t"/>
          <a:lstStyle/>
          <a:p>
            <a:pPr indent="0" marL="0">
              <a:buNone/>
            </a:pPr>
            <a:r>
              <a:rPr lang="en-US" sz="1200" i="1" dirty="0">
                <a:solidFill>
                  <a:srgbClr val="5C6B7A"/>
                </a:solidFill>
                <a:latin typeface="Calibri" pitchFamily="34" charset="0"/>
                <a:ea typeface="Calibri" pitchFamily="34" charset="-122"/>
                <a:cs typeface="Calibri" pitchFamily="34" charset="-120"/>
              </a:rPr>
              <a:t>Different evaluation setting — shown for context, not merged with E4.</a:t>
            </a:r>
            <a:endParaRPr lang="en-US" sz="1200" dirty="0"/>
          </a:p>
        </p:txBody>
      </p:sp>
      <p:sp>
        <p:nvSpPr>
          <p:cNvPr id="42" name="Text 40"/>
          <p:cNvSpPr txBox="1"/>
          <p:nvPr/>
        </p:nvSpPr>
        <p:spPr>
          <a:xfrm>
            <a:off x="7360920" y="3977640"/>
            <a:ext cx="4114800" cy="5486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P 0.282  ·  R 0.387</a:t>
            </a:r>
            <a:endParaRPr lang="en-US" sz="1500" dirty="0"/>
          </a:p>
          <a:p>
            <a:pPr indent="0" marL="0">
              <a:buNone/>
            </a:pPr>
            <a:r>
              <a:rPr lang="en-US" sz="1500" dirty="0">
                <a:solidFill>
                  <a:srgbClr val="1B2733"/>
                </a:solidFill>
                <a:latin typeface="Calibri" pitchFamily="34" charset="0"/>
                <a:ea typeface="Calibri" pitchFamily="34" charset="-122"/>
                <a:cs typeface="Calibri" pitchFamily="34" charset="-120"/>
              </a:rPr>
              <a:t>mAP@0.50 0.306  ·  mAP@0.50:0.95 0.236</a:t>
            </a:r>
            <a:endParaRPr lang="en-US" sz="1500" dirty="0"/>
          </a:p>
        </p:txBody>
      </p:sp>
      <p:sp>
        <p:nvSpPr>
          <p:cNvPr id="43" name="Shape 41"/>
          <p:cNvSpPr/>
          <p:nvPr/>
        </p:nvSpPr>
        <p:spPr>
          <a:xfrm>
            <a:off x="7223760" y="4754880"/>
            <a:ext cx="4343400" cy="1280160"/>
          </a:xfrm>
          <a:prstGeom prst="rect">
            <a:avLst/>
          </a:prstGeom>
          <a:solidFill>
            <a:srgbClr val="FBE9EC"/>
          </a:solidFill>
          <a:ln/>
        </p:spPr>
      </p:sp>
      <p:sp>
        <p:nvSpPr>
          <p:cNvPr id="44" name="Shape 42"/>
          <p:cNvSpPr/>
          <p:nvPr/>
        </p:nvSpPr>
        <p:spPr>
          <a:xfrm>
            <a:off x="7223760" y="4754880"/>
            <a:ext cx="64008" cy="1280160"/>
          </a:xfrm>
          <a:prstGeom prst="rect">
            <a:avLst/>
          </a:prstGeom>
          <a:solidFill>
            <a:srgbClr val="B3394A"/>
          </a:solidFill>
          <a:ln/>
        </p:spPr>
      </p:sp>
      <p:sp>
        <p:nvSpPr>
          <p:cNvPr id="45" name="Text 43"/>
          <p:cNvSpPr txBox="1"/>
          <p:nvPr/>
        </p:nvSpPr>
        <p:spPr>
          <a:xfrm>
            <a:off x="7452360" y="4846320"/>
            <a:ext cx="3931920" cy="256032"/>
          </a:xfrm>
          <a:prstGeom prst="rect">
            <a:avLst/>
          </a:prstGeom>
          <a:noFill/>
          <a:ln/>
        </p:spPr>
        <p:txBody>
          <a:bodyPr wrap="square" lIns="0" tIns="0" rIns="0" bIns="0" rtlCol="0" anchor="t"/>
          <a:lstStyle/>
          <a:p>
            <a:pPr indent="0" marL="0">
              <a:buNone/>
            </a:pPr>
            <a:r>
              <a:rPr lang="en-US" sz="1200" b="1" spc="200" kern="0" dirty="0">
                <a:solidFill>
                  <a:srgbClr val="B3394A"/>
                </a:solidFill>
                <a:latin typeface="Calibri" pitchFamily="34" charset="0"/>
                <a:ea typeface="Calibri" pitchFamily="34" charset="-122"/>
                <a:cs typeface="Calibri" pitchFamily="34" charset="-120"/>
              </a:rPr>
              <a:t>CURRENT BOTTLENECK</a:t>
            </a:r>
            <a:endParaRPr lang="en-US" sz="1200" dirty="0"/>
          </a:p>
        </p:txBody>
      </p:sp>
      <p:sp>
        <p:nvSpPr>
          <p:cNvPr id="46" name="Text 44"/>
          <p:cNvSpPr txBox="1"/>
          <p:nvPr/>
        </p:nvSpPr>
        <p:spPr>
          <a:xfrm>
            <a:off x="7452360" y="5120640"/>
            <a:ext cx="3931920" cy="457200"/>
          </a:xfrm>
          <a:prstGeom prst="rect">
            <a:avLst/>
          </a:prstGeom>
          <a:noFill/>
          <a:ln/>
        </p:spPr>
        <p:txBody>
          <a:bodyPr wrap="square" lIns="0" tIns="0" rIns="0" bIns="0" rtlCol="0" anchor="t"/>
          <a:lstStyle/>
          <a:p>
            <a:pPr indent="0" marL="0">
              <a:buNone/>
            </a:pPr>
            <a:r>
              <a:rPr lang="en-US" sz="2600" b="1" dirty="0">
                <a:solidFill>
                  <a:srgbClr val="1B2733"/>
                </a:solidFill>
                <a:latin typeface="Calibri" pitchFamily="34" charset="0"/>
                <a:ea typeface="Calibri" pitchFamily="34" charset="-122"/>
                <a:cs typeface="Calibri" pitchFamily="34" charset="-120"/>
              </a:rPr>
              <a:t>Object detection</a:t>
            </a:r>
            <a:endParaRPr lang="en-US" sz="2600" dirty="0"/>
          </a:p>
        </p:txBody>
      </p:sp>
      <p:sp>
        <p:nvSpPr>
          <p:cNvPr id="47" name="Text 45"/>
          <p:cNvSpPr txBox="1"/>
          <p:nvPr/>
        </p:nvSpPr>
        <p:spPr>
          <a:xfrm>
            <a:off x="7452360" y="5623560"/>
            <a:ext cx="3931920" cy="320040"/>
          </a:xfrm>
          <a:prstGeom prst="rect">
            <a:avLst/>
          </a:prstGeom>
          <a:noFill/>
          <a:ln/>
        </p:spPr>
        <p:txBody>
          <a:bodyPr wrap="square" lIns="0" tIns="0" rIns="0" bIns="0" rtlCol="0" anchor="t"/>
          <a:lstStyle/>
          <a:p>
            <a:pPr indent="0" marL="0">
              <a:buNone/>
            </a:pPr>
            <a:r>
              <a:rPr lang="en-US" sz="1400" dirty="0">
                <a:solidFill>
                  <a:srgbClr val="5C6B7A"/>
                </a:solidFill>
                <a:latin typeface="Calibri" pitchFamily="34" charset="0"/>
                <a:ea typeface="Calibri" pitchFamily="34" charset="-122"/>
                <a:cs typeface="Calibri" pitchFamily="34" charset="-120"/>
              </a:rPr>
              <a:t>glass 0.0158 · other_trash 0.065</a:t>
            </a:r>
            <a:endParaRPr lang="en-US" sz="1400" dirty="0"/>
          </a:p>
        </p:txBody>
      </p:sp>
      <p:sp>
        <p:nvSpPr>
          <p:cNvPr id="25" name="Slide Number Placeholder 0"/>
          <p:cNvSpPr>
            <a:spLocks noGrp="1"/>
          </p:cNvSpPr>
          <p:nvPr>
            <p:ph type="sldNum" sz="quarter" idx="4294967295"/>
          </p:nvPr>
        </p:nvSpPr>
        <p:spPr>
          <a:xfrm>
            <a:off x="10881360" y="6446520"/>
            <a:ext cx="758952"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C6B7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47472"/>
            <a:ext cx="8595360" cy="594360"/>
          </a:xfrm>
          <a:prstGeom prst="rect">
            <a:avLst/>
          </a:prstGeom>
          <a:noFill/>
          <a:ln/>
        </p:spPr>
        <p:txBody>
          <a:bodyPr wrap="square" lIns="0" tIns="0" rIns="0" bIns="0" rtlCol="0" anchor="t"/>
          <a:lstStyle/>
          <a:p>
            <a:pPr indent="0" marL="0">
              <a:buNone/>
            </a:pPr>
            <a:r>
              <a:rPr lang="en-US" sz="3000" b="1" dirty="0">
                <a:solidFill>
                  <a:srgbClr val="1B2733"/>
                </a:solidFill>
                <a:latin typeface="Calibri" pitchFamily="34" charset="0"/>
                <a:ea typeface="Calibri" pitchFamily="34" charset="-122"/>
                <a:cs typeface="Calibri" pitchFamily="34" charset="-120"/>
              </a:rPr>
              <a:t>ResNet50 Classification</a:t>
            </a:r>
            <a:endParaRPr lang="en-US" sz="3000" dirty="0"/>
          </a:p>
        </p:txBody>
      </p:sp>
      <p:sp>
        <p:nvSpPr>
          <p:cNvPr id="3" name="Text 1"/>
          <p:cNvSpPr txBox="1"/>
          <p:nvPr/>
        </p:nvSpPr>
        <p:spPr>
          <a:xfrm>
            <a:off x="548640" y="932688"/>
            <a:ext cx="10607040" cy="347472"/>
          </a:xfrm>
          <a:prstGeom prst="rect">
            <a:avLst/>
          </a:prstGeom>
          <a:noFill/>
          <a:ln/>
        </p:spPr>
        <p:txBody>
          <a:bodyPr wrap="square" lIns="0" tIns="0" rIns="0" bIns="0" rtlCol="0" anchor="t"/>
          <a:lstStyle/>
          <a:p>
            <a:pPr indent="0" marL="0">
              <a:buNone/>
            </a:pPr>
            <a:r>
              <a:rPr lang="en-US" sz="1600" dirty="0">
                <a:solidFill>
                  <a:srgbClr val="5C6B7A"/>
                </a:solidFill>
                <a:latin typeface="Calibri" pitchFamily="34" charset="0"/>
                <a:ea typeface="Calibri" pitchFamily="34" charset="-122"/>
                <a:cs typeface="Calibri" pitchFamily="34" charset="-120"/>
              </a:rPr>
              <a:t>Fine-grained classification is strong on its evaluated splits.</a:t>
            </a:r>
            <a:endParaRPr lang="en-US" sz="1600" dirty="0"/>
          </a:p>
        </p:txBody>
      </p:sp>
      <p:sp>
        <p:nvSpPr>
          <p:cNvPr id="4" name="Text 2"/>
          <p:cNvSpPr txBox="1"/>
          <p:nvPr/>
        </p:nvSpPr>
        <p:spPr>
          <a:xfrm>
            <a:off x="8778240" y="384048"/>
            <a:ext cx="2862072" cy="274320"/>
          </a:xfrm>
          <a:prstGeom prst="rect">
            <a:avLst/>
          </a:prstGeom>
          <a:noFill/>
          <a:ln/>
        </p:spPr>
        <p:txBody>
          <a:bodyPr wrap="square" lIns="0" tIns="0" rIns="0" bIns="0" rtlCol="0" anchor="t"/>
          <a:lstStyle/>
          <a:p>
            <a:pPr algn="r" indent="0" marL="0">
              <a:buNone/>
            </a:pPr>
            <a:r>
              <a:rPr lang="en-US" sz="1200" b="1" spc="150" kern="0" dirty="0">
                <a:solidFill>
                  <a:srgbClr val="0E7C86"/>
                </a:solidFill>
                <a:latin typeface="Calibri" pitchFamily="34" charset="0"/>
                <a:ea typeface="Calibri" pitchFamily="34" charset="-122"/>
                <a:cs typeface="Calibri" pitchFamily="34" charset="-120"/>
              </a:rPr>
              <a:t>SPEAKER  ·  Drashtant</a:t>
            </a:r>
            <a:endParaRPr lang="en-US" sz="1200" dirty="0"/>
          </a:p>
        </p:txBody>
      </p:sp>
      <p:sp>
        <p:nvSpPr>
          <p:cNvPr id="5" name="Text 3"/>
          <p:cNvSpPr txBox="1"/>
          <p:nvPr/>
        </p:nvSpPr>
        <p:spPr>
          <a:xfrm>
            <a:off x="685800" y="1481328"/>
            <a:ext cx="2743200" cy="256032"/>
          </a:xfrm>
          <a:prstGeom prst="rect">
            <a:avLst/>
          </a:prstGeom>
          <a:noFill/>
          <a:ln/>
        </p:spPr>
        <p:txBody>
          <a:bodyPr wrap="square" lIns="0" tIns="0" rIns="0" bIns="0" rtlCol="0" anchor="t"/>
          <a:lstStyle/>
          <a:p>
            <a:pPr indent="0" marL="0">
              <a:buNone/>
            </a:pPr>
            <a:r>
              <a:rPr lang="en-US" sz="1200" b="1" spc="200" kern="0" dirty="0">
                <a:solidFill>
                  <a:srgbClr val="0E7C86"/>
                </a:solidFill>
                <a:latin typeface="Calibri" pitchFamily="34" charset="0"/>
                <a:ea typeface="Calibri" pitchFamily="34" charset="-122"/>
                <a:cs typeface="Calibri" pitchFamily="34" charset="-120"/>
              </a:rPr>
              <a:t>ARCHITECTURE</a:t>
            </a:r>
            <a:endParaRPr lang="en-US" sz="1200" dirty="0"/>
          </a:p>
        </p:txBody>
      </p:sp>
      <p:sp>
        <p:nvSpPr>
          <p:cNvPr id="6" name="Shape 4"/>
          <p:cNvSpPr/>
          <p:nvPr/>
        </p:nvSpPr>
        <p:spPr>
          <a:xfrm>
            <a:off x="685800" y="1810512"/>
            <a:ext cx="2651760" cy="365760"/>
          </a:xfrm>
          <a:prstGeom prst="rect">
            <a:avLst/>
          </a:prstGeom>
          <a:solidFill>
            <a:srgbClr val="22313F"/>
          </a:solidFill>
          <a:ln w="12700">
            <a:solidFill>
              <a:srgbClr val="22313F"/>
            </a:solidFill>
            <a:prstDash val="solid"/>
          </a:ln>
        </p:spPr>
      </p:sp>
      <p:sp>
        <p:nvSpPr>
          <p:cNvPr id="7" name="Text 5"/>
          <p:cNvSpPr txBox="1"/>
          <p:nvPr/>
        </p:nvSpPr>
        <p:spPr>
          <a:xfrm>
            <a:off x="758952" y="1810512"/>
            <a:ext cx="2505456"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ImageNet-pretrained ResNet50</a:t>
            </a:r>
            <a:endParaRPr lang="en-US" sz="1500" dirty="0"/>
          </a:p>
        </p:txBody>
      </p:sp>
      <p:sp>
        <p:nvSpPr>
          <p:cNvPr id="8" name="Shape 6"/>
          <p:cNvSpPr/>
          <p:nvPr/>
        </p:nvSpPr>
        <p:spPr>
          <a:xfrm>
            <a:off x="2011680" y="2185416"/>
            <a:ext cx="0" cy="164592"/>
          </a:xfrm>
          <a:prstGeom prst="line">
            <a:avLst/>
          </a:prstGeom>
          <a:noFill/>
          <a:ln w="19050">
            <a:solidFill>
              <a:srgbClr val="5C6B7A"/>
            </a:solidFill>
            <a:prstDash val="solid"/>
            <a:tailEnd type="triangle"/>
          </a:ln>
        </p:spPr>
      </p:sp>
      <p:sp>
        <p:nvSpPr>
          <p:cNvPr id="9" name="Shape 7"/>
          <p:cNvSpPr/>
          <p:nvPr/>
        </p:nvSpPr>
        <p:spPr>
          <a:xfrm>
            <a:off x="685800" y="2359152"/>
            <a:ext cx="2651760" cy="365760"/>
          </a:xfrm>
          <a:prstGeom prst="rect">
            <a:avLst/>
          </a:prstGeom>
          <a:solidFill>
            <a:srgbClr val="FFFFFF"/>
          </a:solidFill>
          <a:ln w="12700">
            <a:solidFill>
              <a:srgbClr val="D5DBE1"/>
            </a:solidFill>
            <a:prstDash val="solid"/>
          </a:ln>
        </p:spPr>
      </p:sp>
      <p:sp>
        <p:nvSpPr>
          <p:cNvPr id="10" name="Text 8"/>
          <p:cNvSpPr txBox="1"/>
          <p:nvPr/>
        </p:nvSpPr>
        <p:spPr>
          <a:xfrm>
            <a:off x="758952" y="2359152"/>
            <a:ext cx="2505456" cy="365760"/>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2048 features</a:t>
            </a:r>
            <a:endParaRPr lang="en-US" sz="1500" dirty="0"/>
          </a:p>
        </p:txBody>
      </p:sp>
      <p:sp>
        <p:nvSpPr>
          <p:cNvPr id="11" name="Shape 9"/>
          <p:cNvSpPr/>
          <p:nvPr/>
        </p:nvSpPr>
        <p:spPr>
          <a:xfrm>
            <a:off x="2011680" y="2734056"/>
            <a:ext cx="0" cy="164592"/>
          </a:xfrm>
          <a:prstGeom prst="line">
            <a:avLst/>
          </a:prstGeom>
          <a:noFill/>
          <a:ln w="19050">
            <a:solidFill>
              <a:srgbClr val="5C6B7A"/>
            </a:solidFill>
            <a:prstDash val="solid"/>
            <a:tailEnd type="triangle"/>
          </a:ln>
        </p:spPr>
      </p:sp>
      <p:sp>
        <p:nvSpPr>
          <p:cNvPr id="12" name="Shape 10"/>
          <p:cNvSpPr/>
          <p:nvPr/>
        </p:nvSpPr>
        <p:spPr>
          <a:xfrm>
            <a:off x="685800" y="2907792"/>
            <a:ext cx="2651760" cy="365760"/>
          </a:xfrm>
          <a:prstGeom prst="rect">
            <a:avLst/>
          </a:prstGeom>
          <a:solidFill>
            <a:srgbClr val="FFFFFF"/>
          </a:solidFill>
          <a:ln w="12700">
            <a:solidFill>
              <a:srgbClr val="D5DBE1"/>
            </a:solidFill>
            <a:prstDash val="solid"/>
          </a:ln>
        </p:spPr>
      </p:sp>
      <p:sp>
        <p:nvSpPr>
          <p:cNvPr id="13" name="Text 11"/>
          <p:cNvSpPr txBox="1"/>
          <p:nvPr/>
        </p:nvSpPr>
        <p:spPr>
          <a:xfrm>
            <a:off x="758952" y="2907792"/>
            <a:ext cx="2505456" cy="365760"/>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Dropout 0.4</a:t>
            </a:r>
            <a:endParaRPr lang="en-US" sz="1500" dirty="0"/>
          </a:p>
        </p:txBody>
      </p:sp>
      <p:sp>
        <p:nvSpPr>
          <p:cNvPr id="14" name="Shape 12"/>
          <p:cNvSpPr/>
          <p:nvPr/>
        </p:nvSpPr>
        <p:spPr>
          <a:xfrm>
            <a:off x="2011680" y="3282696"/>
            <a:ext cx="0" cy="164592"/>
          </a:xfrm>
          <a:prstGeom prst="line">
            <a:avLst/>
          </a:prstGeom>
          <a:noFill/>
          <a:ln w="19050">
            <a:solidFill>
              <a:srgbClr val="5C6B7A"/>
            </a:solidFill>
            <a:prstDash val="solid"/>
            <a:tailEnd type="triangle"/>
          </a:ln>
        </p:spPr>
      </p:sp>
      <p:sp>
        <p:nvSpPr>
          <p:cNvPr id="15" name="Shape 13"/>
          <p:cNvSpPr/>
          <p:nvPr/>
        </p:nvSpPr>
        <p:spPr>
          <a:xfrm>
            <a:off x="685800" y="3456432"/>
            <a:ext cx="2651760" cy="365760"/>
          </a:xfrm>
          <a:prstGeom prst="rect">
            <a:avLst/>
          </a:prstGeom>
          <a:solidFill>
            <a:srgbClr val="FFFFFF"/>
          </a:solidFill>
          <a:ln w="12700">
            <a:solidFill>
              <a:srgbClr val="D5DBE1"/>
            </a:solidFill>
            <a:prstDash val="solid"/>
          </a:ln>
        </p:spPr>
      </p:sp>
      <p:sp>
        <p:nvSpPr>
          <p:cNvPr id="16" name="Text 14"/>
          <p:cNvSpPr txBox="1"/>
          <p:nvPr/>
        </p:nvSpPr>
        <p:spPr>
          <a:xfrm>
            <a:off x="758952" y="3456432"/>
            <a:ext cx="2505456" cy="365760"/>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Linear 2048 → 256</a:t>
            </a:r>
            <a:endParaRPr lang="en-US" sz="1500" dirty="0"/>
          </a:p>
        </p:txBody>
      </p:sp>
      <p:sp>
        <p:nvSpPr>
          <p:cNvPr id="17" name="Shape 15"/>
          <p:cNvSpPr/>
          <p:nvPr/>
        </p:nvSpPr>
        <p:spPr>
          <a:xfrm>
            <a:off x="2011680" y="3831336"/>
            <a:ext cx="0" cy="164592"/>
          </a:xfrm>
          <a:prstGeom prst="line">
            <a:avLst/>
          </a:prstGeom>
          <a:noFill/>
          <a:ln w="19050">
            <a:solidFill>
              <a:srgbClr val="5C6B7A"/>
            </a:solidFill>
            <a:prstDash val="solid"/>
            <a:tailEnd type="triangle"/>
          </a:ln>
        </p:spPr>
      </p:sp>
      <p:sp>
        <p:nvSpPr>
          <p:cNvPr id="18" name="Shape 16"/>
          <p:cNvSpPr/>
          <p:nvPr/>
        </p:nvSpPr>
        <p:spPr>
          <a:xfrm>
            <a:off x="685800" y="4005072"/>
            <a:ext cx="2651760" cy="365760"/>
          </a:xfrm>
          <a:prstGeom prst="rect">
            <a:avLst/>
          </a:prstGeom>
          <a:solidFill>
            <a:srgbClr val="FFFFFF"/>
          </a:solidFill>
          <a:ln w="12700">
            <a:solidFill>
              <a:srgbClr val="D5DBE1"/>
            </a:solidFill>
            <a:prstDash val="solid"/>
          </a:ln>
        </p:spPr>
      </p:sp>
      <p:sp>
        <p:nvSpPr>
          <p:cNvPr id="19" name="Text 17"/>
          <p:cNvSpPr txBox="1"/>
          <p:nvPr/>
        </p:nvSpPr>
        <p:spPr>
          <a:xfrm>
            <a:off x="758952" y="4005072"/>
            <a:ext cx="2505456" cy="365760"/>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ReLU</a:t>
            </a:r>
            <a:endParaRPr lang="en-US" sz="1500" dirty="0"/>
          </a:p>
        </p:txBody>
      </p:sp>
      <p:sp>
        <p:nvSpPr>
          <p:cNvPr id="20" name="Shape 18"/>
          <p:cNvSpPr/>
          <p:nvPr/>
        </p:nvSpPr>
        <p:spPr>
          <a:xfrm>
            <a:off x="2011680" y="4379976"/>
            <a:ext cx="0" cy="164592"/>
          </a:xfrm>
          <a:prstGeom prst="line">
            <a:avLst/>
          </a:prstGeom>
          <a:noFill/>
          <a:ln w="19050">
            <a:solidFill>
              <a:srgbClr val="5C6B7A"/>
            </a:solidFill>
            <a:prstDash val="solid"/>
            <a:tailEnd type="triangle"/>
          </a:ln>
        </p:spPr>
      </p:sp>
      <p:sp>
        <p:nvSpPr>
          <p:cNvPr id="21" name="Shape 19"/>
          <p:cNvSpPr/>
          <p:nvPr/>
        </p:nvSpPr>
        <p:spPr>
          <a:xfrm>
            <a:off x="685800" y="4553712"/>
            <a:ext cx="2651760" cy="365760"/>
          </a:xfrm>
          <a:prstGeom prst="rect">
            <a:avLst/>
          </a:prstGeom>
          <a:solidFill>
            <a:srgbClr val="FFFFFF"/>
          </a:solidFill>
          <a:ln w="12700">
            <a:solidFill>
              <a:srgbClr val="D5DBE1"/>
            </a:solidFill>
            <a:prstDash val="solid"/>
          </a:ln>
        </p:spPr>
      </p:sp>
      <p:sp>
        <p:nvSpPr>
          <p:cNvPr id="22" name="Text 20"/>
          <p:cNvSpPr txBox="1"/>
          <p:nvPr/>
        </p:nvSpPr>
        <p:spPr>
          <a:xfrm>
            <a:off x="758952" y="4553712"/>
            <a:ext cx="2505456" cy="365760"/>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Dropout 0.3</a:t>
            </a:r>
            <a:endParaRPr lang="en-US" sz="1500" dirty="0"/>
          </a:p>
        </p:txBody>
      </p:sp>
      <p:sp>
        <p:nvSpPr>
          <p:cNvPr id="23" name="Shape 21"/>
          <p:cNvSpPr/>
          <p:nvPr/>
        </p:nvSpPr>
        <p:spPr>
          <a:xfrm>
            <a:off x="2011680" y="4928616"/>
            <a:ext cx="0" cy="164592"/>
          </a:xfrm>
          <a:prstGeom prst="line">
            <a:avLst/>
          </a:prstGeom>
          <a:noFill/>
          <a:ln w="19050">
            <a:solidFill>
              <a:srgbClr val="5C6B7A"/>
            </a:solidFill>
            <a:prstDash val="solid"/>
            <a:tailEnd type="triangle"/>
          </a:ln>
        </p:spPr>
      </p:sp>
      <p:sp>
        <p:nvSpPr>
          <p:cNvPr id="24" name="Shape 22"/>
          <p:cNvSpPr/>
          <p:nvPr/>
        </p:nvSpPr>
        <p:spPr>
          <a:xfrm>
            <a:off x="685800" y="5102352"/>
            <a:ext cx="2651760" cy="365760"/>
          </a:xfrm>
          <a:prstGeom prst="rect">
            <a:avLst/>
          </a:prstGeom>
          <a:solidFill>
            <a:srgbClr val="0E7C86"/>
          </a:solidFill>
          <a:ln w="12700">
            <a:solidFill>
              <a:srgbClr val="0E7C86"/>
            </a:solidFill>
            <a:prstDash val="solid"/>
          </a:ln>
        </p:spPr>
      </p:sp>
      <p:sp>
        <p:nvSpPr>
          <p:cNvPr id="25" name="Text 23"/>
          <p:cNvSpPr txBox="1"/>
          <p:nvPr/>
        </p:nvSpPr>
        <p:spPr>
          <a:xfrm>
            <a:off x="758952" y="5102352"/>
            <a:ext cx="2505456"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Linear 256 → 19</a:t>
            </a:r>
            <a:endParaRPr lang="en-US" sz="1500" dirty="0"/>
          </a:p>
        </p:txBody>
      </p:sp>
      <p:sp>
        <p:nvSpPr>
          <p:cNvPr id="26" name="Text 24"/>
          <p:cNvSpPr txBox="1"/>
          <p:nvPr/>
        </p:nvSpPr>
        <p:spPr>
          <a:xfrm>
            <a:off x="3657600" y="1481328"/>
            <a:ext cx="3474720" cy="256032"/>
          </a:xfrm>
          <a:prstGeom prst="rect">
            <a:avLst/>
          </a:prstGeom>
          <a:noFill/>
          <a:ln/>
        </p:spPr>
        <p:txBody>
          <a:bodyPr wrap="square" lIns="0" tIns="0" rIns="0" bIns="0" rtlCol="0" anchor="t"/>
          <a:lstStyle/>
          <a:p>
            <a:pPr indent="0" marL="0">
              <a:buNone/>
            </a:pPr>
            <a:r>
              <a:rPr lang="en-US" sz="1200" b="1" spc="200" kern="0" dirty="0">
                <a:solidFill>
                  <a:srgbClr val="0E7C86"/>
                </a:solidFill>
                <a:latin typeface="Calibri" pitchFamily="34" charset="0"/>
                <a:ea typeface="Calibri" pitchFamily="34" charset="-122"/>
                <a:cs typeface="Calibri" pitchFamily="34" charset="-120"/>
              </a:rPr>
              <a:t>PREPROCESSING</a:t>
            </a:r>
            <a:endParaRPr lang="en-US" sz="1200" dirty="0"/>
          </a:p>
        </p:txBody>
      </p:sp>
      <p:sp>
        <p:nvSpPr>
          <p:cNvPr id="27" name="Shape 25"/>
          <p:cNvSpPr/>
          <p:nvPr/>
        </p:nvSpPr>
        <p:spPr>
          <a:xfrm>
            <a:off x="3657600" y="1810512"/>
            <a:ext cx="786384" cy="640080"/>
          </a:xfrm>
          <a:prstGeom prst="rect">
            <a:avLst/>
          </a:prstGeom>
          <a:solidFill>
            <a:srgbClr val="E3F1F2"/>
          </a:solidFill>
          <a:ln w="12700">
            <a:solidFill>
              <a:srgbClr val="0E7C86"/>
            </a:solidFill>
            <a:prstDash val="solid"/>
          </a:ln>
        </p:spPr>
      </p:sp>
      <p:sp>
        <p:nvSpPr>
          <p:cNvPr id="28" name="Text 26"/>
          <p:cNvSpPr txBox="1"/>
          <p:nvPr/>
        </p:nvSpPr>
        <p:spPr>
          <a:xfrm>
            <a:off x="3730752" y="1810512"/>
            <a:ext cx="640080" cy="640080"/>
          </a:xfrm>
          <a:prstGeom prst="rect">
            <a:avLst/>
          </a:prstGeom>
          <a:noFill/>
          <a:ln/>
        </p:spPr>
        <p:txBody>
          <a:bodyPr wrap="square" lIns="0" tIns="0" rIns="0" bIns="0" rtlCol="0" anchor="ctr"/>
          <a:lstStyle/>
          <a:p>
            <a:pPr algn="ctr" indent="0" marL="0">
              <a:buNone/>
            </a:pPr>
            <a:r>
              <a:rPr lang="en-US" sz="1100" b="1" dirty="0">
                <a:solidFill>
                  <a:srgbClr val="1B2733"/>
                </a:solidFill>
                <a:latin typeface="Calibri" pitchFamily="34" charset="0"/>
                <a:ea typeface="Calibri" pitchFamily="34" charset="-122"/>
                <a:cs typeface="Calibri" pitchFamily="34" charset="-120"/>
              </a:rPr>
              <a:t>Resize 256</a:t>
            </a:r>
            <a:endParaRPr lang="en-US" sz="1500" dirty="0"/>
          </a:p>
        </p:txBody>
      </p:sp>
      <p:sp>
        <p:nvSpPr>
          <p:cNvPr id="29" name="Shape 27"/>
          <p:cNvSpPr/>
          <p:nvPr/>
        </p:nvSpPr>
        <p:spPr>
          <a:xfrm>
            <a:off x="4453128" y="2130552"/>
            <a:ext cx="82296" cy="0"/>
          </a:xfrm>
          <a:prstGeom prst="line">
            <a:avLst/>
          </a:prstGeom>
          <a:noFill/>
          <a:ln w="19050">
            <a:solidFill>
              <a:srgbClr val="5C6B7A"/>
            </a:solidFill>
            <a:prstDash val="solid"/>
            <a:tailEnd type="triangle"/>
          </a:ln>
        </p:spPr>
      </p:sp>
      <p:sp>
        <p:nvSpPr>
          <p:cNvPr id="30" name="Shape 28"/>
          <p:cNvSpPr/>
          <p:nvPr/>
        </p:nvSpPr>
        <p:spPr>
          <a:xfrm>
            <a:off x="4544568" y="1810512"/>
            <a:ext cx="786384" cy="640080"/>
          </a:xfrm>
          <a:prstGeom prst="rect">
            <a:avLst/>
          </a:prstGeom>
          <a:solidFill>
            <a:srgbClr val="E3F1F2"/>
          </a:solidFill>
          <a:ln w="12700">
            <a:solidFill>
              <a:srgbClr val="0E7C86"/>
            </a:solidFill>
            <a:prstDash val="solid"/>
          </a:ln>
        </p:spPr>
      </p:sp>
      <p:sp>
        <p:nvSpPr>
          <p:cNvPr id="31" name="Text 29"/>
          <p:cNvSpPr txBox="1"/>
          <p:nvPr/>
        </p:nvSpPr>
        <p:spPr>
          <a:xfrm>
            <a:off x="4617720" y="1810512"/>
            <a:ext cx="640080" cy="640080"/>
          </a:xfrm>
          <a:prstGeom prst="rect">
            <a:avLst/>
          </a:prstGeom>
          <a:noFill/>
          <a:ln/>
        </p:spPr>
        <p:txBody>
          <a:bodyPr wrap="square" lIns="0" tIns="0" rIns="0" bIns="0" rtlCol="0" anchor="ctr"/>
          <a:lstStyle/>
          <a:p>
            <a:pPr algn="ctr" indent="0" marL="0">
              <a:buNone/>
            </a:pPr>
            <a:r>
              <a:rPr lang="en-US" sz="1100" b="1" dirty="0">
                <a:solidFill>
                  <a:srgbClr val="1B2733"/>
                </a:solidFill>
                <a:latin typeface="Calibri" pitchFamily="34" charset="0"/>
                <a:ea typeface="Calibri" pitchFamily="34" charset="-122"/>
                <a:cs typeface="Calibri" pitchFamily="34" charset="-120"/>
              </a:rPr>
              <a:t>Center Crop 224×224</a:t>
            </a:r>
            <a:endParaRPr lang="en-US" sz="1500" dirty="0"/>
          </a:p>
        </p:txBody>
      </p:sp>
      <p:sp>
        <p:nvSpPr>
          <p:cNvPr id="32" name="Shape 30"/>
          <p:cNvSpPr/>
          <p:nvPr/>
        </p:nvSpPr>
        <p:spPr>
          <a:xfrm>
            <a:off x="5340096" y="2130552"/>
            <a:ext cx="82296" cy="0"/>
          </a:xfrm>
          <a:prstGeom prst="line">
            <a:avLst/>
          </a:prstGeom>
          <a:noFill/>
          <a:ln w="19050">
            <a:solidFill>
              <a:srgbClr val="5C6B7A"/>
            </a:solidFill>
            <a:prstDash val="solid"/>
            <a:tailEnd type="triangle"/>
          </a:ln>
        </p:spPr>
      </p:sp>
      <p:sp>
        <p:nvSpPr>
          <p:cNvPr id="33" name="Shape 31"/>
          <p:cNvSpPr/>
          <p:nvPr/>
        </p:nvSpPr>
        <p:spPr>
          <a:xfrm>
            <a:off x="5431536" y="1810512"/>
            <a:ext cx="786384" cy="640080"/>
          </a:xfrm>
          <a:prstGeom prst="rect">
            <a:avLst/>
          </a:prstGeom>
          <a:solidFill>
            <a:srgbClr val="E3F1F2"/>
          </a:solidFill>
          <a:ln w="12700">
            <a:solidFill>
              <a:srgbClr val="0E7C86"/>
            </a:solidFill>
            <a:prstDash val="solid"/>
          </a:ln>
        </p:spPr>
      </p:sp>
      <p:sp>
        <p:nvSpPr>
          <p:cNvPr id="34" name="Text 32"/>
          <p:cNvSpPr txBox="1"/>
          <p:nvPr/>
        </p:nvSpPr>
        <p:spPr>
          <a:xfrm>
            <a:off x="5504688" y="1810512"/>
            <a:ext cx="640080" cy="640080"/>
          </a:xfrm>
          <a:prstGeom prst="rect">
            <a:avLst/>
          </a:prstGeom>
          <a:noFill/>
          <a:ln/>
        </p:spPr>
        <p:txBody>
          <a:bodyPr wrap="square" lIns="0" tIns="0" rIns="0" bIns="0" rtlCol="0" anchor="ctr"/>
          <a:lstStyle/>
          <a:p>
            <a:pPr algn="ctr" indent="0" marL="0">
              <a:buNone/>
            </a:pPr>
            <a:r>
              <a:rPr lang="en-US" sz="1100" b="1" dirty="0">
                <a:solidFill>
                  <a:srgbClr val="1B2733"/>
                </a:solidFill>
                <a:latin typeface="Calibri" pitchFamily="34" charset="0"/>
                <a:ea typeface="Calibri" pitchFamily="34" charset="-122"/>
                <a:cs typeface="Calibri" pitchFamily="34" charset="-120"/>
              </a:rPr>
              <a:t>Tensor</a:t>
            </a:r>
            <a:endParaRPr lang="en-US" sz="1500" dirty="0"/>
          </a:p>
        </p:txBody>
      </p:sp>
      <p:sp>
        <p:nvSpPr>
          <p:cNvPr id="35" name="Shape 33"/>
          <p:cNvSpPr/>
          <p:nvPr/>
        </p:nvSpPr>
        <p:spPr>
          <a:xfrm>
            <a:off x="6227064" y="2130552"/>
            <a:ext cx="82296" cy="0"/>
          </a:xfrm>
          <a:prstGeom prst="line">
            <a:avLst/>
          </a:prstGeom>
          <a:noFill/>
          <a:ln w="19050">
            <a:solidFill>
              <a:srgbClr val="5C6B7A"/>
            </a:solidFill>
            <a:prstDash val="solid"/>
            <a:tailEnd type="triangle"/>
          </a:ln>
        </p:spPr>
      </p:sp>
      <p:sp>
        <p:nvSpPr>
          <p:cNvPr id="36" name="Shape 34"/>
          <p:cNvSpPr/>
          <p:nvPr/>
        </p:nvSpPr>
        <p:spPr>
          <a:xfrm>
            <a:off x="6318504" y="1810512"/>
            <a:ext cx="786384" cy="640080"/>
          </a:xfrm>
          <a:prstGeom prst="rect">
            <a:avLst/>
          </a:prstGeom>
          <a:solidFill>
            <a:srgbClr val="E3F1F2"/>
          </a:solidFill>
          <a:ln w="12700">
            <a:solidFill>
              <a:srgbClr val="0E7C86"/>
            </a:solidFill>
            <a:prstDash val="solid"/>
          </a:ln>
        </p:spPr>
      </p:sp>
      <p:sp>
        <p:nvSpPr>
          <p:cNvPr id="37" name="Text 35"/>
          <p:cNvSpPr txBox="1"/>
          <p:nvPr/>
        </p:nvSpPr>
        <p:spPr>
          <a:xfrm>
            <a:off x="6391656" y="1810512"/>
            <a:ext cx="640080" cy="640080"/>
          </a:xfrm>
          <a:prstGeom prst="rect">
            <a:avLst/>
          </a:prstGeom>
          <a:noFill/>
          <a:ln/>
        </p:spPr>
        <p:txBody>
          <a:bodyPr wrap="square" lIns="0" tIns="0" rIns="0" bIns="0" rtlCol="0" anchor="ctr"/>
          <a:lstStyle/>
          <a:p>
            <a:pPr algn="ctr" indent="0" marL="0">
              <a:buNone/>
            </a:pPr>
            <a:r>
              <a:rPr lang="en-US" sz="1100" b="1" dirty="0">
                <a:solidFill>
                  <a:srgbClr val="1B2733"/>
                </a:solidFill>
                <a:latin typeface="Calibri" pitchFamily="34" charset="0"/>
                <a:ea typeface="Calibri" pitchFamily="34" charset="-122"/>
                <a:cs typeface="Calibri" pitchFamily="34" charset="-120"/>
              </a:rPr>
              <a:t>ImageNet norm.</a:t>
            </a:r>
            <a:endParaRPr lang="en-US" sz="1500" dirty="0"/>
          </a:p>
        </p:txBody>
      </p:sp>
      <p:sp>
        <p:nvSpPr>
          <p:cNvPr id="38" name="Text 36"/>
          <p:cNvSpPr txBox="1"/>
          <p:nvPr/>
        </p:nvSpPr>
        <p:spPr>
          <a:xfrm>
            <a:off x="3657600" y="2743200"/>
            <a:ext cx="3474720" cy="256032"/>
          </a:xfrm>
          <a:prstGeom prst="rect">
            <a:avLst/>
          </a:prstGeom>
          <a:noFill/>
          <a:ln/>
        </p:spPr>
        <p:txBody>
          <a:bodyPr wrap="square" lIns="0" tIns="0" rIns="0" bIns="0" rtlCol="0" anchor="t"/>
          <a:lstStyle/>
          <a:p>
            <a:pPr indent="0" marL="0">
              <a:buNone/>
            </a:pPr>
            <a:r>
              <a:rPr lang="en-US" sz="1200" b="1" spc="200" kern="0" dirty="0">
                <a:solidFill>
                  <a:srgbClr val="0E7C86"/>
                </a:solidFill>
                <a:latin typeface="Calibri" pitchFamily="34" charset="0"/>
                <a:ea typeface="Calibri" pitchFamily="34" charset="-122"/>
                <a:cs typeface="Calibri" pitchFamily="34" charset="-120"/>
              </a:rPr>
              <a:t>TRAINING AND RESULTS</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0" y="3035808"/>
          <a:ext cx="3520440" cy="914400"/>
        </p:xfrm>
        <a:graphic>
          <a:graphicData uri="http://schemas.openxmlformats.org/drawingml/2006/table">
            <a:tbl>
              <a:tblPr/>
              <a:tblGrid>
                <a:gridCol w="777240"/>
                <a:gridCol w="2743200"/>
              </a:tblGrid>
              <a:tr h="50292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Stage</a:t>
                      </a:r>
                      <a:endParaRPr lang="en-US" sz="1300" dirty="0">
                        <a:latin typeface="Calibri" charset="0"/>
                        <a:ea typeface="Calibri" charset="0"/>
                        <a:cs typeface="Calibri" charset="0"/>
                      </a:endParaRPr>
                    </a:p>
                  </a:txBody>
                  <a:tcPr marL="64008" marR="64008"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231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Setting / result</a:t>
                      </a:r>
                      <a:endParaRPr lang="en-US" sz="1300" dirty="0">
                        <a:latin typeface="Calibri" charset="0"/>
                        <a:ea typeface="Calibri" charset="0"/>
                        <a:cs typeface="Calibri" charset="0"/>
                      </a:endParaRPr>
                    </a:p>
                  </a:txBody>
                  <a:tcPr marL="64008" marR="64008"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2313F"/>
                    </a:solidFill>
                  </a:tcPr>
                </a:tc>
              </a:tr>
              <a:tr h="502920">
                <a:tc>
                  <a:txBody>
                    <a:bodyPr/>
                    <a:lstStyle/>
                    <a:p>
                      <a:pPr indent="0" marL="0">
                        <a:buNone/>
                      </a:pPr>
                      <a:r>
                        <a:rPr lang="en-US" sz="1250" b="1" dirty="0">
                          <a:solidFill>
                            <a:srgbClr val="1B2733"/>
                          </a:solidFill>
                          <a:latin typeface="Calibri" pitchFamily="34" charset="0"/>
                          <a:ea typeface="Calibri" pitchFamily="34" charset="-122"/>
                          <a:cs typeface="Calibri" pitchFamily="34" charset="-120"/>
                        </a:rPr>
                        <a:t>Stage 1</a:t>
                      </a:r>
                      <a:endParaRPr lang="en-US" sz="1250" dirty="0">
                        <a:latin typeface="Calibri" charset="0"/>
                        <a:ea typeface="Calibri" charset="0"/>
                        <a:cs typeface="Calibri" charset="0"/>
                      </a:endParaRPr>
                    </a:p>
                  </a:txBody>
                  <a:tcPr marL="64008" marR="64008"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250" dirty="0">
                          <a:solidFill>
                            <a:srgbClr val="1B2733"/>
                          </a:solidFill>
                          <a:latin typeface="Calibri" pitchFamily="34" charset="0"/>
                          <a:ea typeface="Calibri" pitchFamily="34" charset="-122"/>
                          <a:cs typeface="Calibri" pitchFamily="34" charset="-120"/>
                        </a:rPr>
                        <a:t>25 epochs · batch 32 · LR 0.0005 · weight decay 0.0001</a:t>
                      </a:r>
                      <a:endParaRPr lang="en-US" sz="1250" dirty="0">
                        <a:latin typeface="Calibri" charset="0"/>
                        <a:ea typeface="Calibri" charset="0"/>
                        <a:cs typeface="Calibri" charset="0"/>
                      </a:endParaRPr>
                    </a:p>
                  </a:txBody>
                  <a:tcPr marL="64008" marR="64008"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02920">
                <a:tc>
                  <a:txBody>
                    <a:bodyPr/>
                    <a:lstStyle/>
                    <a:p>
                      <a:pPr indent="0" marL="0">
                        <a:buNone/>
                      </a:pPr>
                      <a:r>
                        <a:rPr lang="en-US" sz="1250" b="1" dirty="0">
                          <a:solidFill>
                            <a:srgbClr val="1B2733"/>
                          </a:solidFill>
                          <a:latin typeface="Calibri" pitchFamily="34" charset="0"/>
                          <a:ea typeface="Calibri" pitchFamily="34" charset="-122"/>
                          <a:cs typeface="Calibri" pitchFamily="34" charset="-120"/>
                        </a:rPr>
                        <a:t>Stage 1</a:t>
                      </a:r>
                      <a:endParaRPr lang="en-US" sz="1250" dirty="0">
                        <a:latin typeface="Calibri" charset="0"/>
                        <a:ea typeface="Calibri" charset="0"/>
                        <a:cs typeface="Calibri" charset="0"/>
                      </a:endParaRPr>
                    </a:p>
                  </a:txBody>
                  <a:tcPr marL="64008" marR="64008"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250" b="1" dirty="0">
                          <a:solidFill>
                            <a:srgbClr val="0E7C86"/>
                          </a:solidFill>
                          <a:latin typeface="Calibri" pitchFamily="34" charset="0"/>
                          <a:ea typeface="Calibri" pitchFamily="34" charset="-122"/>
                          <a:cs typeface="Calibri" pitchFamily="34" charset="-120"/>
                        </a:rPr>
                        <a:t>Best validation Macro-F1 95.75 %</a:t>
                      </a:r>
                      <a:endParaRPr lang="en-US" sz="1250" dirty="0">
                        <a:latin typeface="Calibri" charset="0"/>
                        <a:ea typeface="Calibri" charset="0"/>
                        <a:cs typeface="Calibri" charset="0"/>
                      </a:endParaRPr>
                    </a:p>
                  </a:txBody>
                  <a:tcPr marL="64008" marR="64008"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02920">
                <a:tc>
                  <a:txBody>
                    <a:bodyPr/>
                    <a:lstStyle/>
                    <a:p>
                      <a:pPr indent="0" marL="0">
                        <a:buNone/>
                      </a:pPr>
                      <a:r>
                        <a:rPr lang="en-US" sz="1250" b="1" dirty="0">
                          <a:solidFill>
                            <a:srgbClr val="1B2733"/>
                          </a:solidFill>
                          <a:latin typeface="Calibri" pitchFamily="34" charset="0"/>
                          <a:ea typeface="Calibri" pitchFamily="34" charset="-122"/>
                          <a:cs typeface="Calibri" pitchFamily="34" charset="-120"/>
                        </a:rPr>
                        <a:t>Stage 2</a:t>
                      </a:r>
                      <a:endParaRPr lang="en-US" sz="1250" dirty="0">
                        <a:latin typeface="Calibri" charset="0"/>
                        <a:ea typeface="Calibri" charset="0"/>
                        <a:cs typeface="Calibri" charset="0"/>
                      </a:endParaRPr>
                    </a:p>
                  </a:txBody>
                  <a:tcPr marL="64008" marR="64008"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250" b="1" dirty="0">
                          <a:solidFill>
                            <a:srgbClr val="0E7C86"/>
                          </a:solidFill>
                          <a:latin typeface="Calibri" pitchFamily="34" charset="0"/>
                          <a:ea typeface="Calibri" pitchFamily="34" charset="-122"/>
                          <a:cs typeface="Calibri" pitchFamily="34" charset="-120"/>
                        </a:rPr>
                        <a:t>Validation Macro-F1 96.80 %</a:t>
                      </a:r>
                      <a:endParaRPr lang="en-US" sz="1250" dirty="0">
                        <a:latin typeface="Calibri" charset="0"/>
                        <a:ea typeface="Calibri" charset="0"/>
                        <a:cs typeface="Calibri" charset="0"/>
                      </a:endParaRPr>
                    </a:p>
                  </a:txBody>
                  <a:tcPr marL="64008" marR="64008"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02920">
                <a:tc>
                  <a:txBody>
                    <a:bodyPr/>
                    <a:lstStyle/>
                    <a:p>
                      <a:pPr indent="0" marL="0">
                        <a:buNone/>
                      </a:pPr>
                      <a:r>
                        <a:rPr lang="en-US" sz="1250" b="1" dirty="0">
                          <a:solidFill>
                            <a:srgbClr val="1B2733"/>
                          </a:solidFill>
                          <a:latin typeface="Calibri" pitchFamily="34" charset="0"/>
                          <a:ea typeface="Calibri" pitchFamily="34" charset="-122"/>
                          <a:cs typeface="Calibri" pitchFamily="34" charset="-120"/>
                        </a:rPr>
                        <a:t>Stage 2</a:t>
                      </a:r>
                      <a:endParaRPr lang="en-US" sz="1250" dirty="0">
                        <a:latin typeface="Calibri" charset="0"/>
                        <a:ea typeface="Calibri" charset="0"/>
                        <a:cs typeface="Calibri" charset="0"/>
                      </a:endParaRPr>
                    </a:p>
                  </a:txBody>
                  <a:tcPr marL="64008" marR="64008"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250" b="1" dirty="0">
                          <a:solidFill>
                            <a:srgbClr val="0E7C86"/>
                          </a:solidFill>
                          <a:latin typeface="Calibri" pitchFamily="34" charset="0"/>
                          <a:ea typeface="Calibri" pitchFamily="34" charset="-122"/>
                          <a:cs typeface="Calibri" pitchFamily="34" charset="-120"/>
                        </a:rPr>
                        <a:t>Held-out test (2,646 images): Acc 95.73 % · Macro-F1 95.99 %</a:t>
                      </a:r>
                      <a:endParaRPr lang="en-US" sz="1250" dirty="0">
                        <a:latin typeface="Calibri" charset="0"/>
                        <a:ea typeface="Calibri" charset="0"/>
                        <a:cs typeface="Calibri" charset="0"/>
                      </a:endParaRPr>
                    </a:p>
                  </a:txBody>
                  <a:tcPr marL="64008" marR="64008"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pic>
        <p:nvPicPr>
          <p:cNvPr id="40" name="Image 0" descr="confusion_stage2.png">    </p:cNvPr>
          <p:cNvPicPr>
            <a:picLocks noChangeAspect="1"/>
          </p:cNvPicPr>
          <p:nvPr/>
        </p:nvPicPr>
        <p:blipFill>
          <a:blip r:embed="rId1"/>
          <a:stretch>
            <a:fillRect/>
          </a:stretch>
        </p:blipFill>
        <p:spPr>
          <a:xfrm>
            <a:off x="7452360" y="1463040"/>
            <a:ext cx="4160520" cy="4160520"/>
          </a:xfrm>
          <a:prstGeom prst="rect">
            <a:avLst/>
          </a:prstGeom>
        </p:spPr>
      </p:pic>
      <p:sp>
        <p:nvSpPr>
          <p:cNvPr id="41" name="Text 37"/>
          <p:cNvSpPr txBox="1"/>
          <p:nvPr/>
        </p:nvSpPr>
        <p:spPr>
          <a:xfrm>
            <a:off x="7452360" y="5669280"/>
            <a:ext cx="4160520" cy="274320"/>
          </a:xfrm>
          <a:prstGeom prst="rect">
            <a:avLst/>
          </a:prstGeom>
          <a:noFill/>
          <a:ln/>
        </p:spPr>
        <p:txBody>
          <a:bodyPr wrap="square" lIns="0" tIns="0" rIns="0" bIns="0" rtlCol="0" anchor="t"/>
          <a:lstStyle/>
          <a:p>
            <a:pPr algn="ctr" indent="0" marL="0">
              <a:buNone/>
            </a:pPr>
            <a:r>
              <a:rPr lang="en-US" sz="1200" dirty="0">
                <a:solidFill>
                  <a:srgbClr val="5C6B7A"/>
                </a:solidFill>
                <a:latin typeface="Calibri" pitchFamily="34" charset="0"/>
                <a:ea typeface="Calibri" pitchFamily="34" charset="-122"/>
                <a:cs typeface="Calibri" pitchFamily="34" charset="-120"/>
              </a:rPr>
              <a:t>Real Stage 2 held-out test confusion matrix</a:t>
            </a:r>
            <a:endParaRPr lang="en-US" sz="1200" dirty="0"/>
          </a:p>
        </p:txBody>
      </p:sp>
      <p:sp>
        <p:nvSpPr>
          <p:cNvPr id="42" name="Shape 38"/>
          <p:cNvSpPr/>
          <p:nvPr/>
        </p:nvSpPr>
        <p:spPr>
          <a:xfrm>
            <a:off x="685800" y="5760720"/>
            <a:ext cx="6492240" cy="411480"/>
          </a:xfrm>
          <a:prstGeom prst="rect">
            <a:avLst/>
          </a:prstGeom>
          <a:solidFill>
            <a:srgbClr val="FBE9EC"/>
          </a:solidFill>
          <a:ln/>
        </p:spPr>
      </p:sp>
      <p:sp>
        <p:nvSpPr>
          <p:cNvPr id="43" name="Text 39"/>
          <p:cNvSpPr txBox="1"/>
          <p:nvPr/>
        </p:nvSpPr>
        <p:spPr>
          <a:xfrm>
            <a:off x="685800" y="5760720"/>
            <a:ext cx="6492240" cy="411480"/>
          </a:xfrm>
          <a:prstGeom prst="rect">
            <a:avLst/>
          </a:prstGeom>
          <a:noFill/>
          <a:ln/>
        </p:spPr>
        <p:txBody>
          <a:bodyPr wrap="square" lIns="0" tIns="0" rIns="0" bIns="0" rtlCol="0" anchor="ctr"/>
          <a:lstStyle/>
          <a:p>
            <a:pPr algn="ctr" indent="0" marL="0">
              <a:buNone/>
            </a:pPr>
            <a:r>
              <a:rPr lang="en-US" sz="1500" b="1" dirty="0">
                <a:solidFill>
                  <a:srgbClr val="B3394A"/>
                </a:solidFill>
                <a:latin typeface="Calibri" pitchFamily="34" charset="0"/>
                <a:ea typeface="Calibri" pitchFamily="34" charset="-122"/>
                <a:cs typeface="Calibri" pitchFamily="34" charset="-120"/>
              </a:rPr>
              <a:t>CLASSIFIER METRICS — NOT END-TO-END SYSTEM ACCURACY</a:t>
            </a:r>
            <a:endParaRPr lang="en-US" sz="1500" dirty="0"/>
          </a:p>
        </p:txBody>
      </p:sp>
      <p:sp>
        <p:nvSpPr>
          <p:cNvPr id="25" name="Slide Number Placeholder 0"/>
          <p:cNvSpPr>
            <a:spLocks noGrp="1"/>
          </p:cNvSpPr>
          <p:nvPr>
            <p:ph type="sldNum" sz="quarter" idx="4294967295"/>
          </p:nvPr>
        </p:nvSpPr>
        <p:spPr>
          <a:xfrm>
            <a:off x="10881360" y="6446520"/>
            <a:ext cx="758952"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C6B7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47472"/>
            <a:ext cx="8595360" cy="594360"/>
          </a:xfrm>
          <a:prstGeom prst="rect">
            <a:avLst/>
          </a:prstGeom>
          <a:noFill/>
          <a:ln/>
        </p:spPr>
        <p:txBody>
          <a:bodyPr wrap="square" lIns="0" tIns="0" rIns="0" bIns="0" rtlCol="0" anchor="t"/>
          <a:lstStyle/>
          <a:p>
            <a:pPr indent="0" marL="0">
              <a:buNone/>
            </a:pPr>
            <a:r>
              <a:rPr lang="en-US" sz="3000" b="1" dirty="0">
                <a:solidFill>
                  <a:srgbClr val="1B2733"/>
                </a:solidFill>
                <a:latin typeface="Calibri" pitchFamily="34" charset="0"/>
                <a:ea typeface="Calibri" pitchFamily="34" charset="-122"/>
                <a:cs typeface="Calibri" pitchFamily="34" charset="-120"/>
              </a:rPr>
              <a:t>OOD and Semantic Compatibility</a:t>
            </a:r>
            <a:endParaRPr lang="en-US" sz="3000" dirty="0"/>
          </a:p>
        </p:txBody>
      </p:sp>
      <p:sp>
        <p:nvSpPr>
          <p:cNvPr id="3" name="Text 1"/>
          <p:cNvSpPr txBox="1"/>
          <p:nvPr/>
        </p:nvSpPr>
        <p:spPr>
          <a:xfrm>
            <a:off x="548640" y="932688"/>
            <a:ext cx="10607040" cy="347472"/>
          </a:xfrm>
          <a:prstGeom prst="rect">
            <a:avLst/>
          </a:prstGeom>
          <a:noFill/>
          <a:ln/>
        </p:spPr>
        <p:txBody>
          <a:bodyPr wrap="square" lIns="0" tIns="0" rIns="0" bIns="0" rtlCol="0" anchor="t"/>
          <a:lstStyle/>
          <a:p>
            <a:pPr indent="0" marL="0">
              <a:buNone/>
            </a:pPr>
            <a:r>
              <a:rPr lang="en-US" sz="1600" dirty="0">
                <a:solidFill>
                  <a:srgbClr val="5C6B7A"/>
                </a:solidFill>
                <a:latin typeface="Calibri" pitchFamily="34" charset="0"/>
                <a:ea typeface="Calibri" pitchFamily="34" charset="-122"/>
                <a:cs typeface="Calibri" pitchFamily="34" charset="-120"/>
              </a:rPr>
              <a:t>OOD checks feature-space support; compatibility checks detector–classifier consistency.</a:t>
            </a:r>
            <a:endParaRPr lang="en-US" sz="1600" dirty="0"/>
          </a:p>
        </p:txBody>
      </p:sp>
      <p:sp>
        <p:nvSpPr>
          <p:cNvPr id="4" name="Text 2"/>
          <p:cNvSpPr txBox="1"/>
          <p:nvPr/>
        </p:nvSpPr>
        <p:spPr>
          <a:xfrm>
            <a:off x="8778240" y="384048"/>
            <a:ext cx="2862072" cy="274320"/>
          </a:xfrm>
          <a:prstGeom prst="rect">
            <a:avLst/>
          </a:prstGeom>
          <a:noFill/>
          <a:ln/>
        </p:spPr>
        <p:txBody>
          <a:bodyPr wrap="square" lIns="0" tIns="0" rIns="0" bIns="0" rtlCol="0" anchor="t"/>
          <a:lstStyle/>
          <a:p>
            <a:pPr algn="r" indent="0" marL="0">
              <a:buNone/>
            </a:pPr>
            <a:r>
              <a:rPr lang="en-US" sz="1200" b="1" spc="150" kern="0" dirty="0">
                <a:solidFill>
                  <a:srgbClr val="0E7C86"/>
                </a:solidFill>
                <a:latin typeface="Calibri" pitchFamily="34" charset="0"/>
                <a:ea typeface="Calibri" pitchFamily="34" charset="-122"/>
                <a:cs typeface="Calibri" pitchFamily="34" charset="-120"/>
              </a:rPr>
              <a:t>SPEAKER  ·  Smit</a:t>
            </a:r>
            <a:endParaRPr lang="en-US" sz="1200" dirty="0"/>
          </a:p>
        </p:txBody>
      </p:sp>
      <p:sp>
        <p:nvSpPr>
          <p:cNvPr id="5" name="Text 3"/>
          <p:cNvSpPr txBox="1"/>
          <p:nvPr/>
        </p:nvSpPr>
        <p:spPr>
          <a:xfrm>
            <a:off x="548640" y="1481328"/>
            <a:ext cx="5029200" cy="256032"/>
          </a:xfrm>
          <a:prstGeom prst="rect">
            <a:avLst/>
          </a:prstGeom>
          <a:noFill/>
          <a:ln/>
        </p:spPr>
        <p:txBody>
          <a:bodyPr wrap="square" lIns="0" tIns="0" rIns="0" bIns="0" rtlCol="0" anchor="t"/>
          <a:lstStyle/>
          <a:p>
            <a:pPr indent="0" marL="0">
              <a:buNone/>
            </a:pPr>
            <a:r>
              <a:rPr lang="en-US" sz="1200" b="1" spc="200" kern="0" dirty="0">
                <a:solidFill>
                  <a:srgbClr val="0E7C86"/>
                </a:solidFill>
                <a:latin typeface="Calibri" pitchFamily="34" charset="0"/>
                <a:ea typeface="Calibri" pitchFamily="34" charset="-122"/>
                <a:cs typeface="Calibri" pitchFamily="34" charset="-120"/>
              </a:rPr>
              <a:t>OOD DETECTION</a:t>
            </a:r>
            <a:endParaRPr lang="en-US" sz="1200" dirty="0"/>
          </a:p>
        </p:txBody>
      </p:sp>
      <p:sp>
        <p:nvSpPr>
          <p:cNvPr id="6" name="Shape 4"/>
          <p:cNvSpPr/>
          <p:nvPr/>
        </p:nvSpPr>
        <p:spPr>
          <a:xfrm>
            <a:off x="548640" y="1810512"/>
            <a:ext cx="2834640" cy="347472"/>
          </a:xfrm>
          <a:prstGeom prst="rect">
            <a:avLst/>
          </a:prstGeom>
          <a:solidFill>
            <a:srgbClr val="FFFFFF"/>
          </a:solidFill>
          <a:ln w="12700">
            <a:solidFill>
              <a:srgbClr val="D5DBE1"/>
            </a:solidFill>
            <a:prstDash val="solid"/>
          </a:ln>
        </p:spPr>
      </p:sp>
      <p:sp>
        <p:nvSpPr>
          <p:cNvPr id="7" name="Text 5"/>
          <p:cNvSpPr txBox="1"/>
          <p:nvPr/>
        </p:nvSpPr>
        <p:spPr>
          <a:xfrm>
            <a:off x="621792" y="1810512"/>
            <a:ext cx="2688336" cy="347472"/>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Embedding (2048-d)</a:t>
            </a:r>
            <a:endParaRPr lang="en-US" sz="1500" dirty="0"/>
          </a:p>
        </p:txBody>
      </p:sp>
      <p:sp>
        <p:nvSpPr>
          <p:cNvPr id="8" name="Shape 6"/>
          <p:cNvSpPr/>
          <p:nvPr/>
        </p:nvSpPr>
        <p:spPr>
          <a:xfrm>
            <a:off x="1965960" y="2167128"/>
            <a:ext cx="0" cy="137160"/>
          </a:xfrm>
          <a:prstGeom prst="line">
            <a:avLst/>
          </a:prstGeom>
          <a:noFill/>
          <a:ln w="19050">
            <a:solidFill>
              <a:srgbClr val="5C6B7A"/>
            </a:solidFill>
            <a:prstDash val="solid"/>
            <a:tailEnd type="triangle"/>
          </a:ln>
        </p:spPr>
      </p:sp>
      <p:sp>
        <p:nvSpPr>
          <p:cNvPr id="9" name="Shape 7"/>
          <p:cNvSpPr/>
          <p:nvPr/>
        </p:nvSpPr>
        <p:spPr>
          <a:xfrm>
            <a:off x="548640" y="2313432"/>
            <a:ext cx="2834640" cy="347472"/>
          </a:xfrm>
          <a:prstGeom prst="rect">
            <a:avLst/>
          </a:prstGeom>
          <a:solidFill>
            <a:srgbClr val="FFFFFF"/>
          </a:solidFill>
          <a:ln w="12700">
            <a:solidFill>
              <a:srgbClr val="D5DBE1"/>
            </a:solidFill>
            <a:prstDash val="solid"/>
          </a:ln>
        </p:spPr>
      </p:sp>
      <p:sp>
        <p:nvSpPr>
          <p:cNvPr id="10" name="Text 8"/>
          <p:cNvSpPr txBox="1"/>
          <p:nvPr/>
        </p:nvSpPr>
        <p:spPr>
          <a:xfrm>
            <a:off x="621792" y="2313432"/>
            <a:ext cx="2688336" cy="347472"/>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Normalise</a:t>
            </a:r>
            <a:endParaRPr lang="en-US" sz="1500" dirty="0"/>
          </a:p>
        </p:txBody>
      </p:sp>
      <p:sp>
        <p:nvSpPr>
          <p:cNvPr id="11" name="Shape 9"/>
          <p:cNvSpPr/>
          <p:nvPr/>
        </p:nvSpPr>
        <p:spPr>
          <a:xfrm>
            <a:off x="1965960" y="2670048"/>
            <a:ext cx="0" cy="137160"/>
          </a:xfrm>
          <a:prstGeom prst="line">
            <a:avLst/>
          </a:prstGeom>
          <a:noFill/>
          <a:ln w="19050">
            <a:solidFill>
              <a:srgbClr val="5C6B7A"/>
            </a:solidFill>
            <a:prstDash val="solid"/>
            <a:tailEnd type="triangle"/>
          </a:ln>
        </p:spPr>
      </p:sp>
      <p:sp>
        <p:nvSpPr>
          <p:cNvPr id="12" name="Shape 10"/>
          <p:cNvSpPr/>
          <p:nvPr/>
        </p:nvSpPr>
        <p:spPr>
          <a:xfrm>
            <a:off x="548640" y="2816352"/>
            <a:ext cx="2834640" cy="347472"/>
          </a:xfrm>
          <a:prstGeom prst="rect">
            <a:avLst/>
          </a:prstGeom>
          <a:solidFill>
            <a:srgbClr val="FFFFFF"/>
          </a:solidFill>
          <a:ln w="12700">
            <a:solidFill>
              <a:srgbClr val="D5DBE1"/>
            </a:solidFill>
            <a:prstDash val="solid"/>
          </a:ln>
        </p:spPr>
      </p:sp>
      <p:sp>
        <p:nvSpPr>
          <p:cNvPr id="13" name="Text 11"/>
          <p:cNvSpPr txBox="1"/>
          <p:nvPr/>
        </p:nvSpPr>
        <p:spPr>
          <a:xfrm>
            <a:off x="621792" y="2816352"/>
            <a:ext cx="2688336" cy="347472"/>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Class centroids</a:t>
            </a:r>
            <a:endParaRPr lang="en-US" sz="1500" dirty="0"/>
          </a:p>
        </p:txBody>
      </p:sp>
      <p:sp>
        <p:nvSpPr>
          <p:cNvPr id="14" name="Shape 12"/>
          <p:cNvSpPr/>
          <p:nvPr/>
        </p:nvSpPr>
        <p:spPr>
          <a:xfrm>
            <a:off x="1965960" y="3172968"/>
            <a:ext cx="0" cy="137160"/>
          </a:xfrm>
          <a:prstGeom prst="line">
            <a:avLst/>
          </a:prstGeom>
          <a:noFill/>
          <a:ln w="19050">
            <a:solidFill>
              <a:srgbClr val="5C6B7A"/>
            </a:solidFill>
            <a:prstDash val="solid"/>
            <a:tailEnd type="triangle"/>
          </a:ln>
        </p:spPr>
      </p:sp>
      <p:sp>
        <p:nvSpPr>
          <p:cNvPr id="15" name="Shape 13"/>
          <p:cNvSpPr/>
          <p:nvPr/>
        </p:nvSpPr>
        <p:spPr>
          <a:xfrm>
            <a:off x="548640" y="3319272"/>
            <a:ext cx="2834640" cy="347472"/>
          </a:xfrm>
          <a:prstGeom prst="rect">
            <a:avLst/>
          </a:prstGeom>
          <a:solidFill>
            <a:srgbClr val="FFFFFF"/>
          </a:solidFill>
          <a:ln w="12700">
            <a:solidFill>
              <a:srgbClr val="D5DBE1"/>
            </a:solidFill>
            <a:prstDash val="solid"/>
          </a:ln>
        </p:spPr>
      </p:sp>
      <p:sp>
        <p:nvSpPr>
          <p:cNvPr id="16" name="Text 14"/>
          <p:cNvSpPr txBox="1"/>
          <p:nvPr/>
        </p:nvSpPr>
        <p:spPr>
          <a:xfrm>
            <a:off x="621792" y="3319272"/>
            <a:ext cx="2688336" cy="347472"/>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Cosine similarity</a:t>
            </a:r>
            <a:endParaRPr lang="en-US" sz="1500" dirty="0"/>
          </a:p>
        </p:txBody>
      </p:sp>
      <p:sp>
        <p:nvSpPr>
          <p:cNvPr id="17" name="Shape 15"/>
          <p:cNvSpPr/>
          <p:nvPr/>
        </p:nvSpPr>
        <p:spPr>
          <a:xfrm>
            <a:off x="1965960" y="3675888"/>
            <a:ext cx="0" cy="137160"/>
          </a:xfrm>
          <a:prstGeom prst="line">
            <a:avLst/>
          </a:prstGeom>
          <a:noFill/>
          <a:ln w="19050">
            <a:solidFill>
              <a:srgbClr val="5C6B7A"/>
            </a:solidFill>
            <a:prstDash val="solid"/>
            <a:tailEnd type="triangle"/>
          </a:ln>
        </p:spPr>
      </p:sp>
      <p:sp>
        <p:nvSpPr>
          <p:cNvPr id="18" name="Shape 16"/>
          <p:cNvSpPr/>
          <p:nvPr/>
        </p:nvSpPr>
        <p:spPr>
          <a:xfrm>
            <a:off x="548640" y="3822192"/>
            <a:ext cx="2834640" cy="347472"/>
          </a:xfrm>
          <a:prstGeom prst="rect">
            <a:avLst/>
          </a:prstGeom>
          <a:solidFill>
            <a:srgbClr val="0E7C86"/>
          </a:solidFill>
          <a:ln w="12700">
            <a:solidFill>
              <a:srgbClr val="0E7C86"/>
            </a:solidFill>
            <a:prstDash val="solid"/>
          </a:ln>
        </p:spPr>
      </p:sp>
      <p:sp>
        <p:nvSpPr>
          <p:cNvPr id="19" name="Text 17"/>
          <p:cNvSpPr txBox="1"/>
          <p:nvPr/>
        </p:nvSpPr>
        <p:spPr>
          <a:xfrm>
            <a:off x="621792" y="3822192"/>
            <a:ext cx="2688336"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Threshold  0.230447</a:t>
            </a:r>
            <a:endParaRPr lang="en-US" sz="1500" dirty="0"/>
          </a:p>
        </p:txBody>
      </p:sp>
      <p:sp>
        <p:nvSpPr>
          <p:cNvPr id="20" name="Text 18"/>
          <p:cNvSpPr txBox="1"/>
          <p:nvPr/>
        </p:nvSpPr>
        <p:spPr>
          <a:xfrm>
            <a:off x="3657600" y="1810512"/>
            <a:ext cx="2286000" cy="256032"/>
          </a:xfrm>
          <a:prstGeom prst="rect">
            <a:avLst/>
          </a:prstGeom>
          <a:noFill/>
          <a:ln/>
        </p:spPr>
        <p:txBody>
          <a:bodyPr wrap="square" lIns="0" tIns="0" rIns="0" bIns="0" rtlCol="0" anchor="t"/>
          <a:lstStyle/>
          <a:p>
            <a:pPr indent="0" marL="0">
              <a:buNone/>
            </a:pPr>
            <a:r>
              <a:rPr lang="en-US" sz="1200" b="1" spc="150" kern="0" dirty="0">
                <a:solidFill>
                  <a:srgbClr val="5C6B7A"/>
                </a:solidFill>
                <a:latin typeface="Calibri" pitchFamily="34" charset="0"/>
                <a:ea typeface="Calibri" pitchFamily="34" charset="-122"/>
                <a:cs typeface="Calibri" pitchFamily="34" charset="-120"/>
              </a:rPr>
              <a:t>REAL REJECTION EXAMPLE</a:t>
            </a:r>
            <a:endParaRPr lang="en-US" sz="1200" dirty="0"/>
          </a:p>
        </p:txBody>
      </p:sp>
      <p:sp>
        <p:nvSpPr>
          <p:cNvPr id="21" name="Text 19"/>
          <p:cNvSpPr txBox="1"/>
          <p:nvPr/>
        </p:nvSpPr>
        <p:spPr>
          <a:xfrm>
            <a:off x="3657600" y="2148840"/>
            <a:ext cx="2286000" cy="274320"/>
          </a:xfrm>
          <a:prstGeom prst="rect">
            <a:avLst/>
          </a:prstGeom>
          <a:noFill/>
          <a:ln/>
        </p:spPr>
        <p:txBody>
          <a:bodyPr wrap="square" lIns="0" tIns="0" rIns="0" bIns="0" rtlCol="0" anchor="t"/>
          <a:lstStyle/>
          <a:p>
            <a:pPr indent="0" marL="0">
              <a:buNone/>
            </a:pPr>
            <a:r>
              <a:rPr lang="en-US" sz="1300" dirty="0">
                <a:solidFill>
                  <a:srgbClr val="5C6B7A"/>
                </a:solidFill>
                <a:latin typeface="Calibri" pitchFamily="34" charset="0"/>
                <a:ea typeface="Calibri" pitchFamily="34" charset="-122"/>
                <a:cs typeface="Calibri" pitchFamily="34" charset="-120"/>
              </a:rPr>
              <a:t>Similarity</a:t>
            </a:r>
            <a:endParaRPr lang="en-US" sz="1300" dirty="0"/>
          </a:p>
        </p:txBody>
      </p:sp>
      <p:sp>
        <p:nvSpPr>
          <p:cNvPr id="22" name="Text 20"/>
          <p:cNvSpPr txBox="1"/>
          <p:nvPr/>
        </p:nvSpPr>
        <p:spPr>
          <a:xfrm>
            <a:off x="3657600" y="2395728"/>
            <a:ext cx="2194560" cy="502920"/>
          </a:xfrm>
          <a:prstGeom prst="rect">
            <a:avLst/>
          </a:prstGeom>
          <a:noFill/>
          <a:ln/>
        </p:spPr>
        <p:txBody>
          <a:bodyPr wrap="square" lIns="0" tIns="0" rIns="0" bIns="0" rtlCol="0" anchor="t"/>
          <a:lstStyle/>
          <a:p>
            <a:pPr indent="0" marL="0">
              <a:buNone/>
            </a:pPr>
            <a:r>
              <a:rPr lang="en-US" sz="3000" b="1" dirty="0">
                <a:solidFill>
                  <a:srgbClr val="B3394A"/>
                </a:solidFill>
                <a:latin typeface="Calibri" pitchFamily="34" charset="0"/>
                <a:ea typeface="Calibri" pitchFamily="34" charset="-122"/>
                <a:cs typeface="Calibri" pitchFamily="34" charset="-120"/>
              </a:rPr>
              <a:t>0.1996</a:t>
            </a:r>
            <a:endParaRPr lang="en-US" sz="3000" dirty="0"/>
          </a:p>
        </p:txBody>
      </p:sp>
      <p:sp>
        <p:nvSpPr>
          <p:cNvPr id="23" name="Text 21"/>
          <p:cNvSpPr txBox="1"/>
          <p:nvPr/>
        </p:nvSpPr>
        <p:spPr>
          <a:xfrm>
            <a:off x="3657600" y="2971800"/>
            <a:ext cx="2286000" cy="274320"/>
          </a:xfrm>
          <a:prstGeom prst="rect">
            <a:avLst/>
          </a:prstGeom>
          <a:noFill/>
          <a:ln/>
        </p:spPr>
        <p:txBody>
          <a:bodyPr wrap="square" lIns="0" tIns="0" rIns="0" bIns="0" rtlCol="0" anchor="t"/>
          <a:lstStyle/>
          <a:p>
            <a:pPr indent="0" marL="0">
              <a:buNone/>
            </a:pPr>
            <a:r>
              <a:rPr lang="en-US" sz="1300" dirty="0">
                <a:solidFill>
                  <a:srgbClr val="5C6B7A"/>
                </a:solidFill>
                <a:latin typeface="Calibri" pitchFamily="34" charset="0"/>
                <a:ea typeface="Calibri" pitchFamily="34" charset="-122"/>
                <a:cs typeface="Calibri" pitchFamily="34" charset="-120"/>
              </a:rPr>
              <a:t>Threshold</a:t>
            </a:r>
            <a:endParaRPr lang="en-US" sz="1300" dirty="0"/>
          </a:p>
        </p:txBody>
      </p:sp>
      <p:sp>
        <p:nvSpPr>
          <p:cNvPr id="24" name="Text 22"/>
          <p:cNvSpPr txBox="1"/>
          <p:nvPr/>
        </p:nvSpPr>
        <p:spPr>
          <a:xfrm>
            <a:off x="3657600" y="3218688"/>
            <a:ext cx="2194560" cy="502920"/>
          </a:xfrm>
          <a:prstGeom prst="rect">
            <a:avLst/>
          </a:prstGeom>
          <a:noFill/>
          <a:ln/>
        </p:spPr>
        <p:txBody>
          <a:bodyPr wrap="square" lIns="0" tIns="0" rIns="0" bIns="0" rtlCol="0" anchor="t"/>
          <a:lstStyle/>
          <a:p>
            <a:pPr indent="0" marL="0">
              <a:buNone/>
            </a:pPr>
            <a:r>
              <a:rPr lang="en-US" sz="3000" b="1" dirty="0">
                <a:solidFill>
                  <a:srgbClr val="1B2733"/>
                </a:solidFill>
                <a:latin typeface="Calibri" pitchFamily="34" charset="0"/>
                <a:ea typeface="Calibri" pitchFamily="34" charset="-122"/>
                <a:cs typeface="Calibri" pitchFamily="34" charset="-120"/>
              </a:rPr>
              <a:t>0.2304</a:t>
            </a:r>
            <a:endParaRPr lang="en-US" sz="3000" dirty="0"/>
          </a:p>
        </p:txBody>
      </p:sp>
      <p:sp>
        <p:nvSpPr>
          <p:cNvPr id="25" name="Shape 23"/>
          <p:cNvSpPr/>
          <p:nvPr/>
        </p:nvSpPr>
        <p:spPr>
          <a:xfrm>
            <a:off x="640080" y="4754880"/>
            <a:ext cx="3002158" cy="146304"/>
          </a:xfrm>
          <a:prstGeom prst="rect">
            <a:avLst/>
          </a:prstGeom>
          <a:solidFill>
            <a:srgbClr val="B3394A"/>
          </a:solidFill>
          <a:ln/>
        </p:spPr>
      </p:sp>
      <p:sp>
        <p:nvSpPr>
          <p:cNvPr id="26" name="Shape 24"/>
          <p:cNvSpPr/>
          <p:nvPr/>
        </p:nvSpPr>
        <p:spPr>
          <a:xfrm>
            <a:off x="3642238" y="4754880"/>
            <a:ext cx="2209922" cy="146304"/>
          </a:xfrm>
          <a:prstGeom prst="rect">
            <a:avLst/>
          </a:prstGeom>
          <a:solidFill>
            <a:srgbClr val="0E7C86"/>
          </a:solidFill>
          <a:ln/>
        </p:spPr>
      </p:sp>
      <p:sp>
        <p:nvSpPr>
          <p:cNvPr id="27" name="Shape 25"/>
          <p:cNvSpPr/>
          <p:nvPr/>
        </p:nvSpPr>
        <p:spPr>
          <a:xfrm>
            <a:off x="640080" y="4901184"/>
            <a:ext cx="0" cy="91440"/>
          </a:xfrm>
          <a:prstGeom prst="line">
            <a:avLst/>
          </a:prstGeom>
          <a:noFill/>
          <a:ln w="12700">
            <a:solidFill>
              <a:srgbClr val="5C6B7A"/>
            </a:solidFill>
            <a:prstDash val="solid"/>
          </a:ln>
        </p:spPr>
      </p:sp>
      <p:sp>
        <p:nvSpPr>
          <p:cNvPr id="28" name="Text 26"/>
          <p:cNvSpPr txBox="1"/>
          <p:nvPr/>
        </p:nvSpPr>
        <p:spPr>
          <a:xfrm>
            <a:off x="411480" y="5010912"/>
            <a:ext cx="457200" cy="228600"/>
          </a:xfrm>
          <a:prstGeom prst="rect">
            <a:avLst/>
          </a:prstGeom>
          <a:noFill/>
          <a:ln/>
        </p:spPr>
        <p:txBody>
          <a:bodyPr wrap="square" lIns="0" tIns="0" rIns="0" bIns="0" rtlCol="0" anchor="t"/>
          <a:lstStyle/>
          <a:p>
            <a:pPr algn="ctr" indent="0" marL="0">
              <a:buNone/>
            </a:pPr>
            <a:r>
              <a:rPr lang="en-US" sz="1200" dirty="0">
                <a:solidFill>
                  <a:srgbClr val="5C6B7A"/>
                </a:solidFill>
                <a:latin typeface="Calibri" pitchFamily="34" charset="0"/>
                <a:ea typeface="Calibri" pitchFamily="34" charset="-122"/>
                <a:cs typeface="Calibri" pitchFamily="34" charset="-120"/>
              </a:rPr>
              <a:t>0.0</a:t>
            </a:r>
            <a:endParaRPr lang="en-US" sz="1200" dirty="0"/>
          </a:p>
        </p:txBody>
      </p:sp>
      <p:sp>
        <p:nvSpPr>
          <p:cNvPr id="29" name="Shape 27"/>
          <p:cNvSpPr/>
          <p:nvPr/>
        </p:nvSpPr>
        <p:spPr>
          <a:xfrm>
            <a:off x="1943100" y="4901184"/>
            <a:ext cx="0" cy="91440"/>
          </a:xfrm>
          <a:prstGeom prst="line">
            <a:avLst/>
          </a:prstGeom>
          <a:noFill/>
          <a:ln w="12700">
            <a:solidFill>
              <a:srgbClr val="5C6B7A"/>
            </a:solidFill>
            <a:prstDash val="solid"/>
          </a:ln>
        </p:spPr>
      </p:sp>
      <p:sp>
        <p:nvSpPr>
          <p:cNvPr id="30" name="Text 28"/>
          <p:cNvSpPr txBox="1"/>
          <p:nvPr/>
        </p:nvSpPr>
        <p:spPr>
          <a:xfrm>
            <a:off x="1714500" y="5010912"/>
            <a:ext cx="457200" cy="228600"/>
          </a:xfrm>
          <a:prstGeom prst="rect">
            <a:avLst/>
          </a:prstGeom>
          <a:noFill/>
          <a:ln/>
        </p:spPr>
        <p:txBody>
          <a:bodyPr wrap="square" lIns="0" tIns="0" rIns="0" bIns="0" rtlCol="0" anchor="t"/>
          <a:lstStyle/>
          <a:p>
            <a:pPr algn="ctr" indent="0" marL="0">
              <a:buNone/>
            </a:pPr>
            <a:r>
              <a:rPr lang="en-US" sz="1200" dirty="0">
                <a:solidFill>
                  <a:srgbClr val="5C6B7A"/>
                </a:solidFill>
                <a:latin typeface="Calibri" pitchFamily="34" charset="0"/>
                <a:ea typeface="Calibri" pitchFamily="34" charset="-122"/>
                <a:cs typeface="Calibri" pitchFamily="34" charset="-120"/>
              </a:rPr>
              <a:t>0.1</a:t>
            </a:r>
            <a:endParaRPr lang="en-US" sz="1200" dirty="0"/>
          </a:p>
        </p:txBody>
      </p:sp>
      <p:sp>
        <p:nvSpPr>
          <p:cNvPr id="31" name="Shape 29"/>
          <p:cNvSpPr/>
          <p:nvPr/>
        </p:nvSpPr>
        <p:spPr>
          <a:xfrm>
            <a:off x="3246120" y="4901184"/>
            <a:ext cx="0" cy="91440"/>
          </a:xfrm>
          <a:prstGeom prst="line">
            <a:avLst/>
          </a:prstGeom>
          <a:noFill/>
          <a:ln w="12700">
            <a:solidFill>
              <a:srgbClr val="5C6B7A"/>
            </a:solidFill>
            <a:prstDash val="solid"/>
          </a:ln>
        </p:spPr>
      </p:sp>
      <p:sp>
        <p:nvSpPr>
          <p:cNvPr id="32" name="Text 30"/>
          <p:cNvSpPr txBox="1"/>
          <p:nvPr/>
        </p:nvSpPr>
        <p:spPr>
          <a:xfrm>
            <a:off x="3017520" y="5010912"/>
            <a:ext cx="457200" cy="228600"/>
          </a:xfrm>
          <a:prstGeom prst="rect">
            <a:avLst/>
          </a:prstGeom>
          <a:noFill/>
          <a:ln/>
        </p:spPr>
        <p:txBody>
          <a:bodyPr wrap="square" lIns="0" tIns="0" rIns="0" bIns="0" rtlCol="0" anchor="t"/>
          <a:lstStyle/>
          <a:p>
            <a:pPr algn="ctr" indent="0" marL="0">
              <a:buNone/>
            </a:pPr>
            <a:r>
              <a:rPr lang="en-US" sz="1200" dirty="0">
                <a:solidFill>
                  <a:srgbClr val="5C6B7A"/>
                </a:solidFill>
                <a:latin typeface="Calibri" pitchFamily="34" charset="0"/>
                <a:ea typeface="Calibri" pitchFamily="34" charset="-122"/>
                <a:cs typeface="Calibri" pitchFamily="34" charset="-120"/>
              </a:rPr>
              <a:t>0.2</a:t>
            </a:r>
            <a:endParaRPr lang="en-US" sz="1200" dirty="0"/>
          </a:p>
        </p:txBody>
      </p:sp>
      <p:sp>
        <p:nvSpPr>
          <p:cNvPr id="33" name="Shape 31"/>
          <p:cNvSpPr/>
          <p:nvPr/>
        </p:nvSpPr>
        <p:spPr>
          <a:xfrm>
            <a:off x="4549140" y="4901184"/>
            <a:ext cx="0" cy="91440"/>
          </a:xfrm>
          <a:prstGeom prst="line">
            <a:avLst/>
          </a:prstGeom>
          <a:noFill/>
          <a:ln w="12700">
            <a:solidFill>
              <a:srgbClr val="5C6B7A"/>
            </a:solidFill>
            <a:prstDash val="solid"/>
          </a:ln>
        </p:spPr>
      </p:sp>
      <p:sp>
        <p:nvSpPr>
          <p:cNvPr id="34" name="Text 32"/>
          <p:cNvSpPr txBox="1"/>
          <p:nvPr/>
        </p:nvSpPr>
        <p:spPr>
          <a:xfrm>
            <a:off x="4320540" y="5010912"/>
            <a:ext cx="457200" cy="228600"/>
          </a:xfrm>
          <a:prstGeom prst="rect">
            <a:avLst/>
          </a:prstGeom>
          <a:noFill/>
          <a:ln/>
        </p:spPr>
        <p:txBody>
          <a:bodyPr wrap="square" lIns="0" tIns="0" rIns="0" bIns="0" rtlCol="0" anchor="t"/>
          <a:lstStyle/>
          <a:p>
            <a:pPr algn="ctr" indent="0" marL="0">
              <a:buNone/>
            </a:pPr>
            <a:r>
              <a:rPr lang="en-US" sz="1200" dirty="0">
                <a:solidFill>
                  <a:srgbClr val="5C6B7A"/>
                </a:solidFill>
                <a:latin typeface="Calibri" pitchFamily="34" charset="0"/>
                <a:ea typeface="Calibri" pitchFamily="34" charset="-122"/>
                <a:cs typeface="Calibri" pitchFamily="34" charset="-120"/>
              </a:rPr>
              <a:t>0.3</a:t>
            </a:r>
            <a:endParaRPr lang="en-US" sz="1200" dirty="0"/>
          </a:p>
        </p:txBody>
      </p:sp>
      <p:sp>
        <p:nvSpPr>
          <p:cNvPr id="35" name="Shape 33"/>
          <p:cNvSpPr/>
          <p:nvPr/>
        </p:nvSpPr>
        <p:spPr>
          <a:xfrm>
            <a:off x="5852160" y="4901184"/>
            <a:ext cx="0" cy="91440"/>
          </a:xfrm>
          <a:prstGeom prst="line">
            <a:avLst/>
          </a:prstGeom>
          <a:noFill/>
          <a:ln w="12700">
            <a:solidFill>
              <a:srgbClr val="5C6B7A"/>
            </a:solidFill>
            <a:prstDash val="solid"/>
          </a:ln>
        </p:spPr>
      </p:sp>
      <p:sp>
        <p:nvSpPr>
          <p:cNvPr id="36" name="Text 34"/>
          <p:cNvSpPr txBox="1"/>
          <p:nvPr/>
        </p:nvSpPr>
        <p:spPr>
          <a:xfrm>
            <a:off x="5623560" y="5010912"/>
            <a:ext cx="457200" cy="228600"/>
          </a:xfrm>
          <a:prstGeom prst="rect">
            <a:avLst/>
          </a:prstGeom>
          <a:noFill/>
          <a:ln/>
        </p:spPr>
        <p:txBody>
          <a:bodyPr wrap="square" lIns="0" tIns="0" rIns="0" bIns="0" rtlCol="0" anchor="t"/>
          <a:lstStyle/>
          <a:p>
            <a:pPr algn="ctr" indent="0" marL="0">
              <a:buNone/>
            </a:pPr>
            <a:r>
              <a:rPr lang="en-US" sz="1200" dirty="0">
                <a:solidFill>
                  <a:srgbClr val="5C6B7A"/>
                </a:solidFill>
                <a:latin typeface="Calibri" pitchFamily="34" charset="0"/>
                <a:ea typeface="Calibri" pitchFamily="34" charset="-122"/>
                <a:cs typeface="Calibri" pitchFamily="34" charset="-120"/>
              </a:rPr>
              <a:t>0.4</a:t>
            </a:r>
            <a:endParaRPr lang="en-US" sz="1200" dirty="0"/>
          </a:p>
        </p:txBody>
      </p:sp>
      <p:sp>
        <p:nvSpPr>
          <p:cNvPr id="37" name="Shape 35"/>
          <p:cNvSpPr/>
          <p:nvPr/>
        </p:nvSpPr>
        <p:spPr>
          <a:xfrm>
            <a:off x="3642238" y="4434840"/>
            <a:ext cx="0" cy="466344"/>
          </a:xfrm>
          <a:prstGeom prst="line">
            <a:avLst/>
          </a:prstGeom>
          <a:noFill/>
          <a:ln w="28575">
            <a:solidFill>
              <a:srgbClr val="1B2733"/>
            </a:solidFill>
            <a:prstDash val="solid"/>
          </a:ln>
        </p:spPr>
      </p:sp>
      <p:sp>
        <p:nvSpPr>
          <p:cNvPr id="38" name="Shape 36"/>
          <p:cNvSpPr/>
          <p:nvPr/>
        </p:nvSpPr>
        <p:spPr>
          <a:xfrm>
            <a:off x="3112892" y="4700016"/>
            <a:ext cx="256032" cy="256032"/>
          </a:xfrm>
          <a:prstGeom prst="ellipse">
            <a:avLst/>
          </a:prstGeom>
          <a:solidFill>
            <a:srgbClr val="B3394A"/>
          </a:solidFill>
          <a:ln w="19050">
            <a:solidFill>
              <a:srgbClr val="FFFFFF"/>
            </a:solidFill>
            <a:prstDash val="solid"/>
          </a:ln>
        </p:spPr>
      </p:sp>
      <p:sp>
        <p:nvSpPr>
          <p:cNvPr id="39" name="Text 37"/>
          <p:cNvSpPr txBox="1"/>
          <p:nvPr/>
        </p:nvSpPr>
        <p:spPr>
          <a:xfrm>
            <a:off x="640080" y="4297680"/>
            <a:ext cx="2377440" cy="320040"/>
          </a:xfrm>
          <a:prstGeom prst="rect">
            <a:avLst/>
          </a:prstGeom>
          <a:noFill/>
          <a:ln/>
        </p:spPr>
        <p:txBody>
          <a:bodyPr wrap="square" lIns="0" tIns="0" rIns="0" bIns="0" rtlCol="0" anchor="t"/>
          <a:lstStyle/>
          <a:p>
            <a:pPr indent="0" marL="0">
              <a:buNone/>
            </a:pPr>
            <a:r>
              <a:rPr lang="en-US" sz="1500" b="1" dirty="0">
                <a:solidFill>
                  <a:srgbClr val="B3394A"/>
                </a:solidFill>
                <a:latin typeface="Calibri" pitchFamily="34" charset="0"/>
                <a:ea typeface="Calibri" pitchFamily="34" charset="-122"/>
                <a:cs typeface="Calibri" pitchFamily="34" charset="-120"/>
              </a:rPr>
              <a:t>0.1996 &lt; 0.2304</a:t>
            </a:r>
            <a:endParaRPr lang="en-US" sz="1500" dirty="0"/>
          </a:p>
        </p:txBody>
      </p:sp>
      <p:sp>
        <p:nvSpPr>
          <p:cNvPr id="40" name="Text 38"/>
          <p:cNvSpPr txBox="1"/>
          <p:nvPr/>
        </p:nvSpPr>
        <p:spPr>
          <a:xfrm>
            <a:off x="640080" y="5303520"/>
            <a:ext cx="2011680" cy="274320"/>
          </a:xfrm>
          <a:prstGeom prst="rect">
            <a:avLst/>
          </a:prstGeom>
          <a:noFill/>
          <a:ln/>
        </p:spPr>
        <p:txBody>
          <a:bodyPr wrap="square" lIns="0" tIns="0" rIns="0" bIns="0" rtlCol="0" anchor="t"/>
          <a:lstStyle/>
          <a:p>
            <a:pPr indent="0" marL="0">
              <a:buNone/>
            </a:pPr>
            <a:r>
              <a:rPr lang="en-US" sz="1200" b="1" spc="150" kern="0" dirty="0">
                <a:solidFill>
                  <a:srgbClr val="B3394A"/>
                </a:solidFill>
                <a:latin typeface="Calibri" pitchFamily="34" charset="0"/>
                <a:ea typeface="Calibri" pitchFamily="34" charset="-122"/>
                <a:cs typeface="Calibri" pitchFamily="34" charset="-120"/>
              </a:rPr>
              <a:t>UNSUPPORTED</a:t>
            </a:r>
            <a:endParaRPr lang="en-US" sz="1200" dirty="0"/>
          </a:p>
        </p:txBody>
      </p:sp>
      <p:sp>
        <p:nvSpPr>
          <p:cNvPr id="41" name="Text 39"/>
          <p:cNvSpPr txBox="1"/>
          <p:nvPr/>
        </p:nvSpPr>
        <p:spPr>
          <a:xfrm>
            <a:off x="3840480" y="5303520"/>
            <a:ext cx="2011680" cy="274320"/>
          </a:xfrm>
          <a:prstGeom prst="rect">
            <a:avLst/>
          </a:prstGeom>
          <a:noFill/>
          <a:ln/>
        </p:spPr>
        <p:txBody>
          <a:bodyPr wrap="square" lIns="0" tIns="0" rIns="0" bIns="0" rtlCol="0" anchor="t"/>
          <a:lstStyle/>
          <a:p>
            <a:pPr algn="r" indent="0" marL="0">
              <a:buNone/>
            </a:pPr>
            <a:r>
              <a:rPr lang="en-US" sz="1200" b="1" spc="150" kern="0" dirty="0">
                <a:solidFill>
                  <a:srgbClr val="0E7C86"/>
                </a:solidFill>
                <a:latin typeface="Calibri" pitchFamily="34" charset="0"/>
                <a:ea typeface="Calibri" pitchFamily="34" charset="-122"/>
                <a:cs typeface="Calibri" pitchFamily="34" charset="-120"/>
              </a:rPr>
              <a:t>SUPPORTED</a:t>
            </a:r>
            <a:endParaRPr lang="en-US" sz="1200" dirty="0"/>
          </a:p>
        </p:txBody>
      </p:sp>
      <p:sp>
        <p:nvSpPr>
          <p:cNvPr id="42" name="Shape 40"/>
          <p:cNvSpPr/>
          <p:nvPr/>
        </p:nvSpPr>
        <p:spPr>
          <a:xfrm>
            <a:off x="3657600" y="3749040"/>
            <a:ext cx="2194560" cy="457200"/>
          </a:xfrm>
          <a:prstGeom prst="rect">
            <a:avLst/>
          </a:prstGeom>
          <a:solidFill>
            <a:srgbClr val="B3394A"/>
          </a:solidFill>
          <a:ln/>
        </p:spPr>
      </p:sp>
      <p:sp>
        <p:nvSpPr>
          <p:cNvPr id="43" name="Text 41"/>
          <p:cNvSpPr txBox="1"/>
          <p:nvPr/>
        </p:nvSpPr>
        <p:spPr>
          <a:xfrm>
            <a:off x="3657600" y="374904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 REJECT</a:t>
            </a:r>
            <a:endParaRPr lang="en-US" sz="2000" dirty="0"/>
          </a:p>
        </p:txBody>
      </p:sp>
      <p:sp>
        <p:nvSpPr>
          <p:cNvPr id="44" name="Text 42"/>
          <p:cNvSpPr txBox="1"/>
          <p:nvPr/>
        </p:nvSpPr>
        <p:spPr>
          <a:xfrm>
            <a:off x="6355080" y="1481328"/>
            <a:ext cx="5212080" cy="256032"/>
          </a:xfrm>
          <a:prstGeom prst="rect">
            <a:avLst/>
          </a:prstGeom>
          <a:noFill/>
          <a:ln/>
        </p:spPr>
        <p:txBody>
          <a:bodyPr wrap="square" lIns="0" tIns="0" rIns="0" bIns="0" rtlCol="0" anchor="t"/>
          <a:lstStyle/>
          <a:p>
            <a:pPr indent="0" marL="0">
              <a:buNone/>
            </a:pPr>
            <a:r>
              <a:rPr lang="en-US" sz="1200" b="1" spc="200" kern="0" dirty="0">
                <a:solidFill>
                  <a:srgbClr val="0E7C86"/>
                </a:solidFill>
                <a:latin typeface="Calibri" pitchFamily="34" charset="0"/>
                <a:ea typeface="Calibri" pitchFamily="34" charset="-122"/>
                <a:cs typeface="Calibri" pitchFamily="34" charset="-120"/>
              </a:rPr>
              <a:t>SEMANTIC COMPATIBILITY</a:t>
            </a:r>
            <a:endParaRPr lang="en-US" sz="1200" dirty="0"/>
          </a:p>
        </p:txBody>
      </p:sp>
      <p:sp>
        <p:nvSpPr>
          <p:cNvPr id="45" name="Shape 43"/>
          <p:cNvSpPr/>
          <p:nvPr/>
        </p:nvSpPr>
        <p:spPr>
          <a:xfrm>
            <a:off x="6355080" y="1810512"/>
            <a:ext cx="2834640" cy="347472"/>
          </a:xfrm>
          <a:prstGeom prst="rect">
            <a:avLst/>
          </a:prstGeom>
          <a:solidFill>
            <a:srgbClr val="FFFFFF"/>
          </a:solidFill>
          <a:ln w="12700">
            <a:solidFill>
              <a:srgbClr val="D5DBE1"/>
            </a:solidFill>
            <a:prstDash val="solid"/>
          </a:ln>
        </p:spPr>
      </p:sp>
      <p:sp>
        <p:nvSpPr>
          <p:cNvPr id="46" name="Text 44"/>
          <p:cNvSpPr txBox="1"/>
          <p:nvPr/>
        </p:nvSpPr>
        <p:spPr>
          <a:xfrm>
            <a:off x="6428232" y="1810512"/>
            <a:ext cx="2688336" cy="347472"/>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YOLO class</a:t>
            </a:r>
            <a:endParaRPr lang="en-US" sz="1500" dirty="0"/>
          </a:p>
        </p:txBody>
      </p:sp>
      <p:sp>
        <p:nvSpPr>
          <p:cNvPr id="47" name="Shape 45"/>
          <p:cNvSpPr/>
          <p:nvPr/>
        </p:nvSpPr>
        <p:spPr>
          <a:xfrm>
            <a:off x="7772400" y="2167128"/>
            <a:ext cx="0" cy="137160"/>
          </a:xfrm>
          <a:prstGeom prst="line">
            <a:avLst/>
          </a:prstGeom>
          <a:noFill/>
          <a:ln w="19050">
            <a:solidFill>
              <a:srgbClr val="5C6B7A"/>
            </a:solidFill>
            <a:prstDash val="solid"/>
            <a:tailEnd type="triangle"/>
          </a:ln>
        </p:spPr>
      </p:sp>
      <p:sp>
        <p:nvSpPr>
          <p:cNvPr id="48" name="Shape 46"/>
          <p:cNvSpPr/>
          <p:nvPr/>
        </p:nvSpPr>
        <p:spPr>
          <a:xfrm>
            <a:off x="6355080" y="2313432"/>
            <a:ext cx="2834640" cy="347472"/>
          </a:xfrm>
          <a:prstGeom prst="rect">
            <a:avLst/>
          </a:prstGeom>
          <a:solidFill>
            <a:srgbClr val="FFFFFF"/>
          </a:solidFill>
          <a:ln w="12700">
            <a:solidFill>
              <a:srgbClr val="D5DBE1"/>
            </a:solidFill>
            <a:prstDash val="solid"/>
          </a:ln>
        </p:spPr>
      </p:sp>
      <p:sp>
        <p:nvSpPr>
          <p:cNvPr id="49" name="Text 47"/>
          <p:cNvSpPr txBox="1"/>
          <p:nvPr/>
        </p:nvSpPr>
        <p:spPr>
          <a:xfrm>
            <a:off x="6428232" y="2313432"/>
            <a:ext cx="2688336" cy="347472"/>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Allowed ResNet classes</a:t>
            </a:r>
            <a:endParaRPr lang="en-US" sz="1500" dirty="0"/>
          </a:p>
        </p:txBody>
      </p:sp>
      <p:sp>
        <p:nvSpPr>
          <p:cNvPr id="50" name="Shape 48"/>
          <p:cNvSpPr/>
          <p:nvPr/>
        </p:nvSpPr>
        <p:spPr>
          <a:xfrm>
            <a:off x="7772400" y="2670048"/>
            <a:ext cx="0" cy="137160"/>
          </a:xfrm>
          <a:prstGeom prst="line">
            <a:avLst/>
          </a:prstGeom>
          <a:noFill/>
          <a:ln w="19050">
            <a:solidFill>
              <a:srgbClr val="5C6B7A"/>
            </a:solidFill>
            <a:prstDash val="solid"/>
            <a:tailEnd type="triangle"/>
          </a:ln>
        </p:spPr>
      </p:sp>
      <p:sp>
        <p:nvSpPr>
          <p:cNvPr id="51" name="Shape 49"/>
          <p:cNvSpPr/>
          <p:nvPr/>
        </p:nvSpPr>
        <p:spPr>
          <a:xfrm>
            <a:off x="6355080" y="2816352"/>
            <a:ext cx="2834640" cy="347472"/>
          </a:xfrm>
          <a:prstGeom prst="rect">
            <a:avLst/>
          </a:prstGeom>
          <a:solidFill>
            <a:srgbClr val="FFFFFF"/>
          </a:solidFill>
          <a:ln w="12700">
            <a:solidFill>
              <a:srgbClr val="D5DBE1"/>
            </a:solidFill>
            <a:prstDash val="solid"/>
          </a:ln>
        </p:spPr>
      </p:sp>
      <p:sp>
        <p:nvSpPr>
          <p:cNvPr id="52" name="Text 50"/>
          <p:cNvSpPr txBox="1"/>
          <p:nvPr/>
        </p:nvSpPr>
        <p:spPr>
          <a:xfrm>
            <a:off x="6428232" y="2816352"/>
            <a:ext cx="2688336" cy="347472"/>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Predicted class</a:t>
            </a:r>
            <a:endParaRPr lang="en-US" sz="1500" dirty="0"/>
          </a:p>
        </p:txBody>
      </p:sp>
      <p:sp>
        <p:nvSpPr>
          <p:cNvPr id="53" name="Shape 51"/>
          <p:cNvSpPr/>
          <p:nvPr/>
        </p:nvSpPr>
        <p:spPr>
          <a:xfrm>
            <a:off x="7772400" y="3172968"/>
            <a:ext cx="0" cy="137160"/>
          </a:xfrm>
          <a:prstGeom prst="line">
            <a:avLst/>
          </a:prstGeom>
          <a:noFill/>
          <a:ln w="19050">
            <a:solidFill>
              <a:srgbClr val="5C6B7A"/>
            </a:solidFill>
            <a:prstDash val="solid"/>
            <a:tailEnd type="triangle"/>
          </a:ln>
        </p:spPr>
      </p:sp>
      <p:sp>
        <p:nvSpPr>
          <p:cNvPr id="54" name="Shape 52"/>
          <p:cNvSpPr/>
          <p:nvPr/>
        </p:nvSpPr>
        <p:spPr>
          <a:xfrm>
            <a:off x="6355080" y="3319272"/>
            <a:ext cx="2834640" cy="347472"/>
          </a:xfrm>
          <a:prstGeom prst="rect">
            <a:avLst/>
          </a:prstGeom>
          <a:solidFill>
            <a:srgbClr val="FFFFFF"/>
          </a:solidFill>
          <a:ln w="12700">
            <a:solidFill>
              <a:srgbClr val="D5DBE1"/>
            </a:solidFill>
            <a:prstDash val="solid"/>
          </a:ln>
        </p:spPr>
      </p:sp>
      <p:sp>
        <p:nvSpPr>
          <p:cNvPr id="55" name="Text 53"/>
          <p:cNvSpPr txBox="1"/>
          <p:nvPr/>
        </p:nvSpPr>
        <p:spPr>
          <a:xfrm>
            <a:off x="6428232" y="3319272"/>
            <a:ext cx="2688336" cy="347472"/>
          </a:xfrm>
          <a:prstGeom prst="rect">
            <a:avLst/>
          </a:prstGeom>
          <a:noFill/>
          <a:ln/>
        </p:spPr>
        <p:txBody>
          <a:bodyPr wrap="square" lIns="0" tIns="0" rIns="0" bIns="0" rtlCol="0" anchor="ctr"/>
          <a:lstStyle/>
          <a:p>
            <a:pPr algn="ctr" indent="0" marL="0">
              <a:buNone/>
            </a:pPr>
            <a:r>
              <a:rPr lang="en-US" sz="1300" b="1" dirty="0">
                <a:solidFill>
                  <a:srgbClr val="1B2733"/>
                </a:solidFill>
                <a:latin typeface="Calibri" pitchFamily="34" charset="0"/>
                <a:ea typeface="Calibri" pitchFamily="34" charset="-122"/>
                <a:cs typeface="Calibri" pitchFamily="34" charset="-120"/>
              </a:rPr>
              <a:t>Compatible?</a:t>
            </a:r>
            <a:endParaRPr lang="en-US" sz="1500" dirty="0"/>
          </a:p>
        </p:txBody>
      </p:sp>
      <p:sp>
        <p:nvSpPr>
          <p:cNvPr id="56" name="Shape 54"/>
          <p:cNvSpPr/>
          <p:nvPr/>
        </p:nvSpPr>
        <p:spPr>
          <a:xfrm>
            <a:off x="7772400" y="3675888"/>
            <a:ext cx="0" cy="137160"/>
          </a:xfrm>
          <a:prstGeom prst="line">
            <a:avLst/>
          </a:prstGeom>
          <a:noFill/>
          <a:ln w="19050">
            <a:solidFill>
              <a:srgbClr val="5C6B7A"/>
            </a:solidFill>
            <a:prstDash val="solid"/>
            <a:tailEnd type="triangle"/>
          </a:ln>
        </p:spPr>
      </p:sp>
      <p:sp>
        <p:nvSpPr>
          <p:cNvPr id="57" name="Shape 55"/>
          <p:cNvSpPr/>
          <p:nvPr/>
        </p:nvSpPr>
        <p:spPr>
          <a:xfrm>
            <a:off x="6355080" y="3822192"/>
            <a:ext cx="2834640" cy="347472"/>
          </a:xfrm>
          <a:prstGeom prst="rect">
            <a:avLst/>
          </a:prstGeom>
          <a:solidFill>
            <a:srgbClr val="22313F"/>
          </a:solidFill>
          <a:ln w="12700">
            <a:solidFill>
              <a:srgbClr val="22313F"/>
            </a:solidFill>
            <a:prstDash val="solid"/>
          </a:ln>
        </p:spPr>
      </p:sp>
      <p:sp>
        <p:nvSpPr>
          <p:cNvPr id="58" name="Text 56"/>
          <p:cNvSpPr txBox="1"/>
          <p:nvPr/>
        </p:nvSpPr>
        <p:spPr>
          <a:xfrm>
            <a:off x="6428232" y="3822192"/>
            <a:ext cx="2688336"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Accept / Reject</a:t>
            </a:r>
            <a:endParaRPr lang="en-US" sz="1500" dirty="0"/>
          </a:p>
        </p:txBody>
      </p:sp>
      <p:sp>
        <p:nvSpPr>
          <p:cNvPr id="59" name="Text 57"/>
          <p:cNvSpPr txBox="1"/>
          <p:nvPr/>
        </p:nvSpPr>
        <p:spPr>
          <a:xfrm>
            <a:off x="9418320" y="1810512"/>
            <a:ext cx="2194560" cy="274320"/>
          </a:xfrm>
          <a:prstGeom prst="rect">
            <a:avLst/>
          </a:prstGeom>
          <a:noFill/>
          <a:ln/>
        </p:spPr>
        <p:txBody>
          <a:bodyPr wrap="square" lIns="0" tIns="0" rIns="0" bIns="0" rtlCol="0" anchor="t"/>
          <a:lstStyle/>
          <a:p>
            <a:pPr indent="0" marL="0">
              <a:buNone/>
            </a:pPr>
            <a:r>
              <a:rPr lang="en-US" sz="1200" b="1" dirty="0">
                <a:solidFill>
                  <a:srgbClr val="5C6B7A"/>
                </a:solidFill>
                <a:latin typeface="Calibri" pitchFamily="34" charset="0"/>
                <a:ea typeface="Calibri" pitchFamily="34" charset="-122"/>
                <a:cs typeface="Calibri" pitchFamily="34" charset="-120"/>
              </a:rPr>
              <a:t>Allowed sets (examples)</a:t>
            </a:r>
            <a:endParaRPr lang="en-US" sz="1200" dirty="0"/>
          </a:p>
        </p:txBody>
      </p:sp>
      <p:sp>
        <p:nvSpPr>
          <p:cNvPr id="60" name="Text 58"/>
          <p:cNvSpPr txBox="1"/>
          <p:nvPr/>
        </p:nvSpPr>
        <p:spPr>
          <a:xfrm>
            <a:off x="9418320" y="2121408"/>
            <a:ext cx="2240280" cy="566928"/>
          </a:xfrm>
          <a:prstGeom prst="rect">
            <a:avLst/>
          </a:prstGeom>
          <a:noFill/>
          <a:ln/>
        </p:spPr>
        <p:txBody>
          <a:bodyPr wrap="square" lIns="0" tIns="0" rIns="0" bIns="0" rtlCol="0" anchor="t"/>
          <a:lstStyle/>
          <a:p>
            <a:pPr indent="0" marL="0">
              <a:buNone/>
            </a:pPr>
            <a:r>
              <a:rPr lang="en-US" sz="1300" b="1" dirty="0">
                <a:solidFill>
                  <a:srgbClr val="1B2733"/>
                </a:solidFill>
                <a:latin typeface="Calibri" pitchFamily="34" charset="0"/>
                <a:ea typeface="Calibri" pitchFamily="34" charset="-122"/>
                <a:cs typeface="Calibri" pitchFamily="34" charset="-120"/>
              </a:rPr>
              <a:t>metal</a:t>
            </a:r>
            <a:endParaRPr lang="en-US" sz="1500" dirty="0"/>
          </a:p>
          <a:p>
            <a:pPr indent="0" marL="0">
              <a:buNone/>
            </a:pPr>
            <a:r>
              <a:rPr lang="en-US" sz="1200" dirty="0">
                <a:solidFill>
                  <a:srgbClr val="5C6B7A"/>
                </a:solidFill>
                <a:latin typeface="Calibri" pitchFamily="34" charset="0"/>
                <a:ea typeface="Calibri" pitchFamily="34" charset="-122"/>
                <a:cs typeface="Calibri" pitchFamily="34" charset="-120"/>
              </a:rPr>
              <a:t>metal · battery · electronic_device</a:t>
            </a:r>
            <a:endParaRPr lang="en-US" sz="1500" dirty="0"/>
          </a:p>
        </p:txBody>
      </p:sp>
      <p:sp>
        <p:nvSpPr>
          <p:cNvPr id="61" name="Text 59"/>
          <p:cNvSpPr txBox="1"/>
          <p:nvPr/>
        </p:nvSpPr>
        <p:spPr>
          <a:xfrm>
            <a:off x="9418320" y="2706624"/>
            <a:ext cx="2240280" cy="566928"/>
          </a:xfrm>
          <a:prstGeom prst="rect">
            <a:avLst/>
          </a:prstGeom>
          <a:noFill/>
          <a:ln/>
        </p:spPr>
        <p:txBody>
          <a:bodyPr wrap="square" lIns="0" tIns="0" rIns="0" bIns="0" rtlCol="0" anchor="t"/>
          <a:lstStyle/>
          <a:p>
            <a:pPr indent="0" marL="0">
              <a:buNone/>
            </a:pPr>
            <a:r>
              <a:rPr lang="en-US" sz="1300" b="1" dirty="0">
                <a:solidFill>
                  <a:srgbClr val="1B2733"/>
                </a:solidFill>
                <a:latin typeface="Calibri" pitchFamily="34" charset="0"/>
                <a:ea typeface="Calibri" pitchFamily="34" charset="-122"/>
                <a:cs typeface="Calibri" pitchFamily="34" charset="-120"/>
              </a:rPr>
              <a:t>glass</a:t>
            </a:r>
            <a:endParaRPr lang="en-US" sz="1500" dirty="0"/>
          </a:p>
          <a:p>
            <a:pPr indent="0" marL="0">
              <a:buNone/>
            </a:pPr>
            <a:r>
              <a:rPr lang="en-US" sz="1200" dirty="0">
                <a:solidFill>
                  <a:srgbClr val="5C6B7A"/>
                </a:solidFill>
                <a:latin typeface="Calibri" pitchFamily="34" charset="0"/>
                <a:ea typeface="Calibri" pitchFamily="34" charset="-122"/>
                <a:cs typeface="Calibri" pitchFamily="34" charset="-120"/>
              </a:rPr>
              <a:t>glass · test_tube · medical_glasses</a:t>
            </a:r>
            <a:endParaRPr lang="en-US" sz="1500" dirty="0"/>
          </a:p>
        </p:txBody>
      </p:sp>
      <p:sp>
        <p:nvSpPr>
          <p:cNvPr id="62" name="Text 60"/>
          <p:cNvSpPr txBox="1"/>
          <p:nvPr/>
        </p:nvSpPr>
        <p:spPr>
          <a:xfrm>
            <a:off x="9418320" y="3291840"/>
            <a:ext cx="2240280" cy="566928"/>
          </a:xfrm>
          <a:prstGeom prst="rect">
            <a:avLst/>
          </a:prstGeom>
          <a:noFill/>
          <a:ln/>
        </p:spPr>
        <p:txBody>
          <a:bodyPr wrap="square" lIns="0" tIns="0" rIns="0" bIns="0" rtlCol="0" anchor="t"/>
          <a:lstStyle/>
          <a:p>
            <a:pPr indent="0" marL="0">
              <a:buNone/>
            </a:pPr>
            <a:r>
              <a:rPr lang="en-US" sz="1300" b="1" dirty="0">
                <a:solidFill>
                  <a:srgbClr val="1B2733"/>
                </a:solidFill>
                <a:latin typeface="Calibri" pitchFamily="34" charset="0"/>
                <a:ea typeface="Calibri" pitchFamily="34" charset="-122"/>
                <a:cs typeface="Calibri" pitchFamily="34" charset="-120"/>
              </a:rPr>
              <a:t>paper_cardboard</a:t>
            </a:r>
            <a:endParaRPr lang="en-US" sz="1500" dirty="0"/>
          </a:p>
          <a:p>
            <a:pPr indent="0" marL="0">
              <a:buNone/>
            </a:pPr>
            <a:r>
              <a:rPr lang="en-US" sz="1200" dirty="0">
                <a:solidFill>
                  <a:srgbClr val="5C6B7A"/>
                </a:solidFill>
                <a:latin typeface="Calibri" pitchFamily="34" charset="0"/>
                <a:ea typeface="Calibri" pitchFamily="34" charset="-122"/>
                <a:cs typeface="Calibri" pitchFamily="34" charset="-120"/>
              </a:rPr>
              <a:t>paper · cardboard</a:t>
            </a:r>
            <a:endParaRPr lang="en-US" sz="1500" dirty="0"/>
          </a:p>
        </p:txBody>
      </p:sp>
      <p:sp>
        <p:nvSpPr>
          <p:cNvPr id="63" name="Text 61"/>
          <p:cNvSpPr txBox="1"/>
          <p:nvPr/>
        </p:nvSpPr>
        <p:spPr>
          <a:xfrm>
            <a:off x="9418320" y="3877056"/>
            <a:ext cx="2240280" cy="566928"/>
          </a:xfrm>
          <a:prstGeom prst="rect">
            <a:avLst/>
          </a:prstGeom>
          <a:noFill/>
          <a:ln/>
        </p:spPr>
        <p:txBody>
          <a:bodyPr wrap="square" lIns="0" tIns="0" rIns="0" bIns="0" rtlCol="0" anchor="t"/>
          <a:lstStyle/>
          <a:p>
            <a:pPr indent="0" marL="0">
              <a:buNone/>
            </a:pPr>
            <a:r>
              <a:rPr lang="en-US" sz="1300" b="1" dirty="0">
                <a:solidFill>
                  <a:srgbClr val="1B2733"/>
                </a:solidFill>
                <a:latin typeface="Calibri" pitchFamily="34" charset="0"/>
                <a:ea typeface="Calibri" pitchFamily="34" charset="-122"/>
                <a:cs typeface="Calibri" pitchFamily="34" charset="-120"/>
              </a:rPr>
              <a:t>biological</a:t>
            </a:r>
            <a:endParaRPr lang="en-US" sz="1500" dirty="0"/>
          </a:p>
          <a:p>
            <a:pPr indent="0" marL="0">
              <a:buNone/>
            </a:pPr>
            <a:r>
              <a:rPr lang="en-US" sz="1200" dirty="0">
                <a:solidFill>
                  <a:srgbClr val="5C6B7A"/>
                </a:solidFill>
                <a:latin typeface="Calibri" pitchFamily="34" charset="0"/>
                <a:ea typeface="Calibri" pitchFamily="34" charset="-122"/>
                <a:cs typeface="Calibri" pitchFamily="34" charset="-120"/>
              </a:rPr>
              <a:t>biological</a:t>
            </a:r>
            <a:endParaRPr lang="en-US" sz="1500" dirty="0"/>
          </a:p>
        </p:txBody>
      </p:sp>
      <p:sp>
        <p:nvSpPr>
          <p:cNvPr id="64" name="Shape 62"/>
          <p:cNvSpPr/>
          <p:nvPr/>
        </p:nvSpPr>
        <p:spPr>
          <a:xfrm>
            <a:off x="6355080" y="4526280"/>
            <a:ext cx="5285232" cy="1097280"/>
          </a:xfrm>
          <a:prstGeom prst="rect">
            <a:avLst/>
          </a:prstGeom>
          <a:solidFill>
            <a:srgbClr val="E3F1F2"/>
          </a:solidFill>
          <a:ln/>
        </p:spPr>
      </p:sp>
      <p:sp>
        <p:nvSpPr>
          <p:cNvPr id="65" name="Text 63"/>
          <p:cNvSpPr txBox="1"/>
          <p:nvPr/>
        </p:nvSpPr>
        <p:spPr>
          <a:xfrm>
            <a:off x="6492240" y="4526280"/>
            <a:ext cx="5029200" cy="1097280"/>
          </a:xfrm>
          <a:prstGeom prst="rect">
            <a:avLst/>
          </a:prstGeom>
          <a:noFill/>
          <a:ln/>
        </p:spPr>
        <p:txBody>
          <a:bodyPr wrap="square" lIns="0" tIns="0" rIns="0" bIns="0" rtlCol="0" anchor="ctr"/>
          <a:lstStyle/>
          <a:p>
            <a:pPr indent="0" marL="0">
              <a:buNone/>
            </a:pPr>
            <a:r>
              <a:rPr lang="en-US" sz="1600" b="1" dirty="0">
                <a:solidFill>
                  <a:srgbClr val="0A5C64"/>
                </a:solidFill>
                <a:latin typeface="Calibri" pitchFamily="34" charset="0"/>
                <a:ea typeface="Calibri" pitchFamily="34" charset="-122"/>
                <a:cs typeface="Calibri" pitchFamily="34" charset="-120"/>
              </a:rPr>
              <a:t>A prediction is accepted only if the crop is supported by OOD AND the ResNet class is allowed for the YOLO class.</a:t>
            </a:r>
            <a:endParaRPr lang="en-US" sz="1600" dirty="0"/>
          </a:p>
        </p:txBody>
      </p:sp>
      <p:sp>
        <p:nvSpPr>
          <p:cNvPr id="25" name="Slide Number Placeholder 0"/>
          <p:cNvSpPr>
            <a:spLocks noGrp="1"/>
          </p:cNvSpPr>
          <p:nvPr>
            <p:ph type="sldNum" sz="quarter" idx="4294967295"/>
          </p:nvPr>
        </p:nvSpPr>
        <p:spPr>
          <a:xfrm>
            <a:off x="10881360" y="6446520"/>
            <a:ext cx="758952"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C6B7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47472"/>
            <a:ext cx="8595360" cy="594360"/>
          </a:xfrm>
          <a:prstGeom prst="rect">
            <a:avLst/>
          </a:prstGeom>
          <a:noFill/>
          <a:ln/>
        </p:spPr>
        <p:txBody>
          <a:bodyPr wrap="square" lIns="0" tIns="0" rIns="0" bIns="0" rtlCol="0" anchor="t"/>
          <a:lstStyle/>
          <a:p>
            <a:pPr indent="0" marL="0">
              <a:buNone/>
            </a:pPr>
            <a:r>
              <a:rPr lang="en-US" sz="3000" b="1" dirty="0">
                <a:solidFill>
                  <a:srgbClr val="1B2733"/>
                </a:solidFill>
                <a:latin typeface="Calibri" pitchFamily="34" charset="0"/>
                <a:ea typeface="Calibri" pitchFamily="34" charset="-122"/>
                <a:cs typeface="Calibri" pitchFamily="34" charset="-120"/>
              </a:rPr>
              <a:t>Integrated Evaluation</a:t>
            </a:r>
            <a:endParaRPr lang="en-US" sz="3000" dirty="0"/>
          </a:p>
        </p:txBody>
      </p:sp>
      <p:sp>
        <p:nvSpPr>
          <p:cNvPr id="3" name="Text 1"/>
          <p:cNvSpPr txBox="1"/>
          <p:nvPr/>
        </p:nvSpPr>
        <p:spPr>
          <a:xfrm>
            <a:off x="548640" y="932688"/>
            <a:ext cx="10607040" cy="347472"/>
          </a:xfrm>
          <a:prstGeom prst="rect">
            <a:avLst/>
          </a:prstGeom>
          <a:noFill/>
          <a:ln/>
        </p:spPr>
        <p:txBody>
          <a:bodyPr wrap="square" lIns="0" tIns="0" rIns="0" bIns="0" rtlCol="0" anchor="t"/>
          <a:lstStyle/>
          <a:p>
            <a:pPr indent="0" marL="0">
              <a:buNone/>
            </a:pPr>
            <a:r>
              <a:rPr lang="en-US" sz="1600" dirty="0">
                <a:solidFill>
                  <a:srgbClr val="5C6B7A"/>
                </a:solidFill>
                <a:latin typeface="Calibri" pitchFamily="34" charset="0"/>
                <a:ea typeface="Calibri" pitchFamily="34" charset="-122"/>
                <a:cs typeface="Calibri" pitchFamily="34" charset="-120"/>
              </a:rPr>
              <a:t>Every detection is accounted for; the Medical Waste result is a supported-subset classification score.</a:t>
            </a:r>
            <a:endParaRPr lang="en-US" sz="1600" dirty="0"/>
          </a:p>
        </p:txBody>
      </p:sp>
      <p:sp>
        <p:nvSpPr>
          <p:cNvPr id="4" name="Text 2"/>
          <p:cNvSpPr txBox="1"/>
          <p:nvPr/>
        </p:nvSpPr>
        <p:spPr>
          <a:xfrm>
            <a:off x="8778240" y="384048"/>
            <a:ext cx="2862072" cy="274320"/>
          </a:xfrm>
          <a:prstGeom prst="rect">
            <a:avLst/>
          </a:prstGeom>
          <a:noFill/>
          <a:ln/>
        </p:spPr>
        <p:txBody>
          <a:bodyPr wrap="square" lIns="0" tIns="0" rIns="0" bIns="0" rtlCol="0" anchor="t"/>
          <a:lstStyle/>
          <a:p>
            <a:pPr algn="r" indent="0" marL="0">
              <a:buNone/>
            </a:pPr>
            <a:r>
              <a:rPr lang="en-US" sz="1200" b="1" spc="150" kern="0" dirty="0">
                <a:solidFill>
                  <a:srgbClr val="0E7C86"/>
                </a:solidFill>
                <a:latin typeface="Calibri" pitchFamily="34" charset="0"/>
                <a:ea typeface="Calibri" pitchFamily="34" charset="-122"/>
                <a:cs typeface="Calibri" pitchFamily="34" charset="-120"/>
              </a:rPr>
              <a:t>SPEAKER  ·  Smit + Drashtant</a:t>
            </a:r>
            <a:endParaRPr lang="en-US" sz="1200" dirty="0"/>
          </a:p>
        </p:txBody>
      </p:sp>
      <p:sp>
        <p:nvSpPr>
          <p:cNvPr id="5" name="Text 3"/>
          <p:cNvSpPr txBox="1"/>
          <p:nvPr/>
        </p:nvSpPr>
        <p:spPr>
          <a:xfrm>
            <a:off x="548640" y="1481328"/>
            <a:ext cx="5029200" cy="256032"/>
          </a:xfrm>
          <a:prstGeom prst="rect">
            <a:avLst/>
          </a:prstGeom>
          <a:noFill/>
          <a:ln/>
        </p:spPr>
        <p:txBody>
          <a:bodyPr wrap="square" lIns="0" tIns="0" rIns="0" bIns="0" rtlCol="0" anchor="t"/>
          <a:lstStyle/>
          <a:p>
            <a:pPr indent="0" marL="0">
              <a:buNone/>
            </a:pPr>
            <a:r>
              <a:rPr lang="en-US" sz="1200" b="1" spc="200" kern="0" dirty="0">
                <a:solidFill>
                  <a:srgbClr val="0E7C86"/>
                </a:solidFill>
                <a:latin typeface="Calibri" pitchFamily="34" charset="0"/>
                <a:ea typeface="Calibri" pitchFamily="34" charset="-122"/>
                <a:cs typeface="Calibri" pitchFamily="34" charset="-120"/>
              </a:rPr>
              <a:t>PRODUCTION ACCOUNTING</a:t>
            </a:r>
            <a:endParaRPr lang="en-US" sz="1200" dirty="0"/>
          </a:p>
        </p:txBody>
      </p:sp>
      <p:sp>
        <p:nvSpPr>
          <p:cNvPr id="6" name="Shape 4"/>
          <p:cNvSpPr/>
          <p:nvPr/>
        </p:nvSpPr>
        <p:spPr>
          <a:xfrm>
            <a:off x="548640" y="1810512"/>
            <a:ext cx="4206240" cy="402336"/>
          </a:xfrm>
          <a:prstGeom prst="rect">
            <a:avLst/>
          </a:prstGeom>
          <a:solidFill>
            <a:srgbClr val="22313F"/>
          </a:solidFill>
          <a:ln w="12700">
            <a:solidFill>
              <a:srgbClr val="22313F"/>
            </a:solidFill>
            <a:prstDash val="solid"/>
          </a:ln>
        </p:spPr>
      </p:sp>
      <p:sp>
        <p:nvSpPr>
          <p:cNvPr id="7" name="Text 5"/>
          <p:cNvSpPr txBox="1"/>
          <p:nvPr/>
        </p:nvSpPr>
        <p:spPr>
          <a:xfrm>
            <a:off x="621792" y="1810512"/>
            <a:ext cx="4059936" cy="402336"/>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RAW DETECTIONS</a:t>
            </a:r>
            <a:endParaRPr lang="en-US" sz="1500" dirty="0"/>
          </a:p>
        </p:txBody>
      </p:sp>
      <p:sp>
        <p:nvSpPr>
          <p:cNvPr id="8" name="Shape 6"/>
          <p:cNvSpPr/>
          <p:nvPr/>
        </p:nvSpPr>
        <p:spPr>
          <a:xfrm>
            <a:off x="548640" y="2322576"/>
            <a:ext cx="4206240" cy="402336"/>
          </a:xfrm>
          <a:prstGeom prst="rect">
            <a:avLst/>
          </a:prstGeom>
          <a:solidFill>
            <a:srgbClr val="0E7C86"/>
          </a:solidFill>
          <a:ln w="12700">
            <a:solidFill>
              <a:srgbClr val="0E7C86"/>
            </a:solidFill>
            <a:prstDash val="solid"/>
          </a:ln>
        </p:spPr>
      </p:sp>
      <p:sp>
        <p:nvSpPr>
          <p:cNvPr id="9" name="Text 7"/>
          <p:cNvSpPr txBox="1"/>
          <p:nvPr/>
        </p:nvSpPr>
        <p:spPr>
          <a:xfrm>
            <a:off x="621792" y="2322576"/>
            <a:ext cx="4059936" cy="402336"/>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 ACCEPTED</a:t>
            </a:r>
            <a:endParaRPr lang="en-US" sz="1500" dirty="0"/>
          </a:p>
        </p:txBody>
      </p:sp>
      <p:sp>
        <p:nvSpPr>
          <p:cNvPr id="10" name="Shape 8"/>
          <p:cNvSpPr/>
          <p:nvPr/>
        </p:nvSpPr>
        <p:spPr>
          <a:xfrm>
            <a:off x="548640" y="2834640"/>
            <a:ext cx="4206240" cy="402336"/>
          </a:xfrm>
          <a:prstGeom prst="rect">
            <a:avLst/>
          </a:prstGeom>
          <a:solidFill>
            <a:srgbClr val="FFFFFF"/>
          </a:solidFill>
          <a:ln w="12700">
            <a:solidFill>
              <a:srgbClr val="D5DBE1"/>
            </a:solidFill>
            <a:prstDash val="solid"/>
          </a:ln>
        </p:spPr>
      </p:sp>
      <p:sp>
        <p:nvSpPr>
          <p:cNvPr id="11" name="Text 9"/>
          <p:cNvSpPr txBox="1"/>
          <p:nvPr/>
        </p:nvSpPr>
        <p:spPr>
          <a:xfrm>
            <a:off x="621792" y="2834640"/>
            <a:ext cx="4059936" cy="402336"/>
          </a:xfrm>
          <a:prstGeom prst="rect">
            <a:avLst/>
          </a:prstGeom>
          <a:noFill/>
          <a:ln/>
        </p:spPr>
        <p:txBody>
          <a:bodyPr wrap="square" lIns="0" tIns="0" rIns="0" bIns="0" rtlCol="0" anchor="ctr"/>
          <a:lstStyle/>
          <a:p>
            <a:pPr algn="l" indent="0" marL="0">
              <a:buNone/>
            </a:pPr>
            <a:r>
              <a:rPr lang="en-US" sz="1500" b="1" dirty="0">
                <a:solidFill>
                  <a:srgbClr val="1B2733"/>
                </a:solidFill>
                <a:latin typeface="Calibri" pitchFamily="34" charset="0"/>
                <a:ea typeface="Calibri" pitchFamily="34" charset="-122"/>
                <a:cs typeface="Calibri" pitchFamily="34" charset="-120"/>
              </a:rPr>
              <a:t>+ OOD REJECTED</a:t>
            </a:r>
            <a:endParaRPr lang="en-US" sz="1500" dirty="0"/>
          </a:p>
        </p:txBody>
      </p:sp>
      <p:sp>
        <p:nvSpPr>
          <p:cNvPr id="12" name="Shape 10"/>
          <p:cNvSpPr/>
          <p:nvPr/>
        </p:nvSpPr>
        <p:spPr>
          <a:xfrm>
            <a:off x="548640" y="3346704"/>
            <a:ext cx="4206240" cy="402336"/>
          </a:xfrm>
          <a:prstGeom prst="rect">
            <a:avLst/>
          </a:prstGeom>
          <a:solidFill>
            <a:srgbClr val="FFFFFF"/>
          </a:solidFill>
          <a:ln w="12700">
            <a:solidFill>
              <a:srgbClr val="D5DBE1"/>
            </a:solidFill>
            <a:prstDash val="solid"/>
          </a:ln>
        </p:spPr>
      </p:sp>
      <p:sp>
        <p:nvSpPr>
          <p:cNvPr id="13" name="Text 11"/>
          <p:cNvSpPr txBox="1"/>
          <p:nvPr/>
        </p:nvSpPr>
        <p:spPr>
          <a:xfrm>
            <a:off x="621792" y="3346704"/>
            <a:ext cx="4059936" cy="402336"/>
          </a:xfrm>
          <a:prstGeom prst="rect">
            <a:avLst/>
          </a:prstGeom>
          <a:noFill/>
          <a:ln/>
        </p:spPr>
        <p:txBody>
          <a:bodyPr wrap="square" lIns="0" tIns="0" rIns="0" bIns="0" rtlCol="0" anchor="ctr"/>
          <a:lstStyle/>
          <a:p>
            <a:pPr algn="l" indent="0" marL="0">
              <a:buNone/>
            </a:pPr>
            <a:r>
              <a:rPr lang="en-US" sz="1500" b="1" dirty="0">
                <a:solidFill>
                  <a:srgbClr val="1B2733"/>
                </a:solidFill>
                <a:latin typeface="Calibri" pitchFamily="34" charset="0"/>
                <a:ea typeface="Calibri" pitchFamily="34" charset="-122"/>
                <a:cs typeface="Calibri" pitchFamily="34" charset="-120"/>
              </a:rPr>
              <a:t>+ COMPATIBILITY REJECTED</a:t>
            </a:r>
            <a:endParaRPr lang="en-US" sz="1500" dirty="0"/>
          </a:p>
        </p:txBody>
      </p:sp>
      <p:sp>
        <p:nvSpPr>
          <p:cNvPr id="14" name="Shape 12"/>
          <p:cNvSpPr/>
          <p:nvPr/>
        </p:nvSpPr>
        <p:spPr>
          <a:xfrm>
            <a:off x="548640" y="3858768"/>
            <a:ext cx="4206240" cy="402336"/>
          </a:xfrm>
          <a:prstGeom prst="rect">
            <a:avLst/>
          </a:prstGeom>
          <a:solidFill>
            <a:srgbClr val="FFFFFF"/>
          </a:solidFill>
          <a:ln w="12700">
            <a:solidFill>
              <a:srgbClr val="D5DBE1"/>
            </a:solidFill>
            <a:prstDash val="solid"/>
          </a:ln>
        </p:spPr>
      </p:sp>
      <p:sp>
        <p:nvSpPr>
          <p:cNvPr id="15" name="Text 13"/>
          <p:cNvSpPr txBox="1"/>
          <p:nvPr/>
        </p:nvSpPr>
        <p:spPr>
          <a:xfrm>
            <a:off x="621792" y="3858768"/>
            <a:ext cx="4059936" cy="402336"/>
          </a:xfrm>
          <a:prstGeom prst="rect">
            <a:avLst/>
          </a:prstGeom>
          <a:noFill/>
          <a:ln/>
        </p:spPr>
        <p:txBody>
          <a:bodyPr wrap="square" lIns="0" tIns="0" rIns="0" bIns="0" rtlCol="0" anchor="ctr"/>
          <a:lstStyle/>
          <a:p>
            <a:pPr algn="l" indent="0" marL="0">
              <a:buNone/>
            </a:pPr>
            <a:r>
              <a:rPr lang="en-US" sz="1500" b="1" dirty="0">
                <a:solidFill>
                  <a:srgbClr val="1B2733"/>
                </a:solidFill>
                <a:latin typeface="Calibri" pitchFamily="34" charset="0"/>
                <a:ea typeface="Calibri" pitchFamily="34" charset="-122"/>
                <a:cs typeface="Calibri" pitchFamily="34" charset="-120"/>
              </a:rPr>
              <a:t>+ OTHER REJECTED</a:t>
            </a:r>
            <a:endParaRPr lang="en-US" sz="1500" dirty="0"/>
          </a:p>
        </p:txBody>
      </p:sp>
      <p:sp>
        <p:nvSpPr>
          <p:cNvPr id="16" name="Text 14"/>
          <p:cNvSpPr txBox="1"/>
          <p:nvPr/>
        </p:nvSpPr>
        <p:spPr>
          <a:xfrm>
            <a:off x="548640" y="4526280"/>
            <a:ext cx="5029200" cy="256032"/>
          </a:xfrm>
          <a:prstGeom prst="rect">
            <a:avLst/>
          </a:prstGeom>
          <a:noFill/>
          <a:ln/>
        </p:spPr>
        <p:txBody>
          <a:bodyPr wrap="square" lIns="0" tIns="0" rIns="0" bIns="0" rtlCol="0" anchor="t"/>
          <a:lstStyle/>
          <a:p>
            <a:pPr indent="0" marL="0">
              <a:buNone/>
            </a:pPr>
            <a:r>
              <a:rPr lang="en-US" sz="1200" b="1" spc="200" kern="0" dirty="0">
                <a:solidFill>
                  <a:srgbClr val="5C6B7A"/>
                </a:solidFill>
                <a:latin typeface="Calibri" pitchFamily="34" charset="0"/>
                <a:ea typeface="Calibri" pitchFamily="34" charset="-122"/>
                <a:cs typeface="Calibri" pitchFamily="34" charset="-120"/>
              </a:rPr>
              <a:t>SINGLE PRODUCTION INFERENCE EXAMPLE</a:t>
            </a:r>
            <a:endParaRPr lang="en-US" sz="1200" dirty="0"/>
          </a:p>
        </p:txBody>
      </p:sp>
      <p:sp>
        <p:nvSpPr>
          <p:cNvPr id="17" name="Text 15"/>
          <p:cNvSpPr txBox="1"/>
          <p:nvPr/>
        </p:nvSpPr>
        <p:spPr>
          <a:xfrm>
            <a:off x="548640" y="4800600"/>
            <a:ext cx="2743200" cy="320040"/>
          </a:xfrm>
          <a:prstGeom prst="rect">
            <a:avLst/>
          </a:prstGeom>
          <a:noFill/>
          <a:ln/>
        </p:spPr>
        <p:txBody>
          <a:bodyPr wrap="square" lIns="0" tIns="0" rIns="0" bIns="0" rtlCol="0" anchor="t"/>
          <a:lstStyle/>
          <a:p>
            <a:pPr indent="0" marL="0">
              <a:buNone/>
            </a:pPr>
            <a:r>
              <a:rPr lang="en-US" sz="1500" b="1" dirty="0">
                <a:solidFill>
                  <a:srgbClr val="1B2733"/>
                </a:solidFill>
                <a:latin typeface="Calibri" pitchFamily="34" charset="0"/>
                <a:ea typeface="Calibri" pitchFamily="34" charset="-122"/>
                <a:cs typeface="Calibri" pitchFamily="34" charset="-120"/>
              </a:rPr>
              <a:t>plastic_42.jpg</a:t>
            </a:r>
            <a:endParaRPr lang="en-US" sz="1500" dirty="0"/>
          </a:p>
        </p:txBody>
      </p:sp>
      <p:sp>
        <p:nvSpPr>
          <p:cNvPr id="18" name="Shape 16"/>
          <p:cNvSpPr/>
          <p:nvPr/>
        </p:nvSpPr>
        <p:spPr>
          <a:xfrm>
            <a:off x="548640" y="5166360"/>
            <a:ext cx="292608" cy="292608"/>
          </a:xfrm>
          <a:prstGeom prst="rect">
            <a:avLst/>
          </a:prstGeom>
          <a:solidFill>
            <a:srgbClr val="0E7C86"/>
          </a:solidFill>
          <a:ln w="15875">
            <a:solidFill>
              <a:srgbClr val="0E7C86"/>
            </a:solidFill>
            <a:prstDash val="solid"/>
          </a:ln>
        </p:spPr>
      </p:sp>
      <p:sp>
        <p:nvSpPr>
          <p:cNvPr id="19" name="Shape 17"/>
          <p:cNvSpPr/>
          <p:nvPr/>
        </p:nvSpPr>
        <p:spPr>
          <a:xfrm>
            <a:off x="960120" y="5166360"/>
            <a:ext cx="292608" cy="292608"/>
          </a:xfrm>
          <a:prstGeom prst="rect">
            <a:avLst/>
          </a:prstGeom>
          <a:solidFill>
            <a:srgbClr val="0E7C86"/>
          </a:solidFill>
          <a:ln w="15875">
            <a:solidFill>
              <a:srgbClr val="0E7C86"/>
            </a:solidFill>
            <a:prstDash val="solid"/>
          </a:ln>
        </p:spPr>
      </p:sp>
      <p:sp>
        <p:nvSpPr>
          <p:cNvPr id="20" name="Shape 18"/>
          <p:cNvSpPr/>
          <p:nvPr/>
        </p:nvSpPr>
        <p:spPr>
          <a:xfrm>
            <a:off x="1371600" y="5166360"/>
            <a:ext cx="292608" cy="292608"/>
          </a:xfrm>
          <a:prstGeom prst="rect">
            <a:avLst/>
          </a:prstGeom>
          <a:ln w="15875">
            <a:solidFill>
              <a:srgbClr val="5C6B7A"/>
            </a:solidFill>
            <a:prstDash val="solid"/>
          </a:ln>
        </p:spPr>
      </p:sp>
      <p:sp>
        <p:nvSpPr>
          <p:cNvPr id="21" name="Shape 19"/>
          <p:cNvSpPr/>
          <p:nvPr/>
        </p:nvSpPr>
        <p:spPr>
          <a:xfrm>
            <a:off x="1783080" y="5166360"/>
            <a:ext cx="292608" cy="292608"/>
          </a:xfrm>
          <a:prstGeom prst="rect">
            <a:avLst/>
          </a:prstGeom>
          <a:ln w="15875">
            <a:solidFill>
              <a:srgbClr val="5C6B7A"/>
            </a:solidFill>
            <a:prstDash val="solid"/>
          </a:ln>
        </p:spPr>
      </p:sp>
      <p:sp>
        <p:nvSpPr>
          <p:cNvPr id="22" name="Shape 20"/>
          <p:cNvSpPr/>
          <p:nvPr/>
        </p:nvSpPr>
        <p:spPr>
          <a:xfrm>
            <a:off x="2194560" y="5166360"/>
            <a:ext cx="292608" cy="292608"/>
          </a:xfrm>
          <a:prstGeom prst="rect">
            <a:avLst/>
          </a:prstGeom>
          <a:ln w="15875">
            <a:solidFill>
              <a:srgbClr val="5C6B7A"/>
            </a:solidFill>
            <a:prstDash val="solid"/>
          </a:ln>
        </p:spPr>
      </p:sp>
      <p:sp>
        <p:nvSpPr>
          <p:cNvPr id="23" name="Shape 21"/>
          <p:cNvSpPr/>
          <p:nvPr/>
        </p:nvSpPr>
        <p:spPr>
          <a:xfrm>
            <a:off x="2606040" y="5166360"/>
            <a:ext cx="292608" cy="292608"/>
          </a:xfrm>
          <a:prstGeom prst="rect">
            <a:avLst/>
          </a:prstGeom>
          <a:ln w="15875">
            <a:solidFill>
              <a:srgbClr val="5C6B7A"/>
            </a:solidFill>
            <a:prstDash val="solid"/>
          </a:ln>
        </p:spPr>
      </p:sp>
      <p:sp>
        <p:nvSpPr>
          <p:cNvPr id="24" name="Shape 22"/>
          <p:cNvSpPr/>
          <p:nvPr/>
        </p:nvSpPr>
        <p:spPr>
          <a:xfrm>
            <a:off x="3017520" y="5166360"/>
            <a:ext cx="292608" cy="292608"/>
          </a:xfrm>
          <a:prstGeom prst="rect">
            <a:avLst/>
          </a:prstGeom>
          <a:ln w="15875">
            <a:solidFill>
              <a:srgbClr val="5C6B7A"/>
            </a:solidFill>
            <a:prstDash val="solid"/>
          </a:ln>
        </p:spPr>
      </p:sp>
      <p:sp>
        <p:nvSpPr>
          <p:cNvPr id="25" name="Shape 23"/>
          <p:cNvSpPr/>
          <p:nvPr/>
        </p:nvSpPr>
        <p:spPr>
          <a:xfrm>
            <a:off x="3429000" y="5166360"/>
            <a:ext cx="292608" cy="292608"/>
          </a:xfrm>
          <a:prstGeom prst="rect">
            <a:avLst/>
          </a:prstGeom>
          <a:ln w="15875">
            <a:solidFill>
              <a:srgbClr val="5C6B7A"/>
            </a:solidFill>
            <a:prstDash val="solid"/>
          </a:ln>
        </p:spPr>
      </p:sp>
      <p:sp>
        <p:nvSpPr>
          <p:cNvPr id="26" name="Shape 24"/>
          <p:cNvSpPr/>
          <p:nvPr/>
        </p:nvSpPr>
        <p:spPr>
          <a:xfrm>
            <a:off x="3840480" y="5166360"/>
            <a:ext cx="292608" cy="292608"/>
          </a:xfrm>
          <a:prstGeom prst="rect">
            <a:avLst/>
          </a:prstGeom>
          <a:ln w="15875">
            <a:solidFill>
              <a:srgbClr val="5C6B7A"/>
            </a:solidFill>
            <a:prstDash val="solid"/>
          </a:ln>
        </p:spPr>
      </p:sp>
      <p:sp>
        <p:nvSpPr>
          <p:cNvPr id="27" name="Shape 25"/>
          <p:cNvSpPr/>
          <p:nvPr/>
        </p:nvSpPr>
        <p:spPr>
          <a:xfrm>
            <a:off x="4251960" y="5166360"/>
            <a:ext cx="292608" cy="292608"/>
          </a:xfrm>
          <a:prstGeom prst="rect">
            <a:avLst/>
          </a:prstGeom>
          <a:ln w="15875">
            <a:solidFill>
              <a:srgbClr val="5C6B7A"/>
            </a:solidFill>
            <a:prstDash val="solid"/>
          </a:ln>
        </p:spPr>
      </p:sp>
      <p:sp>
        <p:nvSpPr>
          <p:cNvPr id="28" name="Text 26"/>
          <p:cNvSpPr txBox="1"/>
          <p:nvPr/>
        </p:nvSpPr>
        <p:spPr>
          <a:xfrm>
            <a:off x="548640" y="5532120"/>
            <a:ext cx="5394960" cy="274320"/>
          </a:xfrm>
          <a:prstGeom prst="rect">
            <a:avLst/>
          </a:prstGeom>
          <a:noFill/>
          <a:ln/>
        </p:spPr>
        <p:txBody>
          <a:bodyPr wrap="square" lIns="0" tIns="0" rIns="0" bIns="0" rtlCol="0" anchor="t"/>
          <a:lstStyle/>
          <a:p>
            <a:pPr indent="0" marL="0">
              <a:buNone/>
            </a:pPr>
            <a:r>
              <a:rPr lang="en-US" sz="1400" b="1" dirty="0">
                <a:solidFill>
                  <a:srgbClr val="1B2733"/>
                </a:solidFill>
                <a:latin typeface="Calibri" pitchFamily="34" charset="0"/>
                <a:ea typeface="Calibri" pitchFamily="34" charset="-122"/>
                <a:cs typeface="Calibri" pitchFamily="34" charset="-120"/>
              </a:rPr>
              <a:t>10 raw detections → 2 accepted  ·  approx. 1,194.64 ms</a:t>
            </a:r>
            <a:endParaRPr lang="en-US" sz="1400" dirty="0"/>
          </a:p>
        </p:txBody>
      </p:sp>
      <p:sp>
        <p:nvSpPr>
          <p:cNvPr id="29" name="Text 27"/>
          <p:cNvSpPr txBox="1"/>
          <p:nvPr/>
        </p:nvSpPr>
        <p:spPr>
          <a:xfrm>
            <a:off x="548640" y="5806440"/>
            <a:ext cx="5394960" cy="274320"/>
          </a:xfrm>
          <a:prstGeom prst="rect">
            <a:avLst/>
          </a:prstGeom>
          <a:noFill/>
          <a:ln/>
        </p:spPr>
        <p:txBody>
          <a:bodyPr wrap="square" lIns="0" tIns="0" rIns="0" bIns="0" rtlCol="0" anchor="t"/>
          <a:lstStyle/>
          <a:p>
            <a:pPr indent="0" marL="0">
              <a:buNone/>
            </a:pPr>
            <a:r>
              <a:rPr lang="en-US" sz="1200" i="1" dirty="0">
                <a:solidFill>
                  <a:srgbClr val="5C6B7A"/>
                </a:solidFill>
                <a:latin typeface="Calibri" pitchFamily="34" charset="0"/>
                <a:ea typeface="Calibri" pitchFamily="34" charset="-122"/>
                <a:cs typeface="Calibri" pitchFamily="34" charset="-120"/>
              </a:rPr>
              <a:t>One example inference — not an average benchmark.</a:t>
            </a:r>
            <a:endParaRPr lang="en-US" sz="1200" dirty="0"/>
          </a:p>
        </p:txBody>
      </p:sp>
      <p:sp>
        <p:nvSpPr>
          <p:cNvPr id="30" name="Text 28"/>
          <p:cNvSpPr txBox="1"/>
          <p:nvPr/>
        </p:nvSpPr>
        <p:spPr>
          <a:xfrm>
            <a:off x="6355080" y="1481328"/>
            <a:ext cx="5212080" cy="256032"/>
          </a:xfrm>
          <a:prstGeom prst="rect">
            <a:avLst/>
          </a:prstGeom>
          <a:noFill/>
          <a:ln/>
        </p:spPr>
        <p:txBody>
          <a:bodyPr wrap="square" lIns="0" tIns="0" rIns="0" bIns="0" rtlCol="0" anchor="t"/>
          <a:lstStyle/>
          <a:p>
            <a:pPr indent="0" marL="0">
              <a:buNone/>
            </a:pPr>
            <a:r>
              <a:rPr lang="en-US" sz="1200" b="1" spc="200" kern="0" dirty="0">
                <a:solidFill>
                  <a:srgbClr val="0E7C86"/>
                </a:solidFill>
                <a:latin typeface="Calibri" pitchFamily="34" charset="0"/>
                <a:ea typeface="Calibri" pitchFamily="34" charset="-122"/>
                <a:cs typeface="Calibri" pitchFamily="34" charset="-120"/>
              </a:rPr>
              <a:t>MEDICAL WASTE 4.0  ·  SUPPORTED SUBSET</a:t>
            </a:r>
            <a:endParaRPr lang="en-US" sz="1200" dirty="0"/>
          </a:p>
        </p:txBody>
      </p:sp>
      <p:sp>
        <p:nvSpPr>
          <p:cNvPr id="31" name="Text 29"/>
          <p:cNvSpPr txBox="1"/>
          <p:nvPr/>
        </p:nvSpPr>
        <p:spPr>
          <a:xfrm>
            <a:off x="6355080" y="1737360"/>
            <a:ext cx="5212080" cy="1005840"/>
          </a:xfrm>
          <a:prstGeom prst="rect">
            <a:avLst/>
          </a:prstGeom>
          <a:noFill/>
          <a:ln/>
        </p:spPr>
        <p:txBody>
          <a:bodyPr wrap="square" lIns="0" tIns="0" rIns="0" bIns="0" rtlCol="0" anchor="t"/>
          <a:lstStyle/>
          <a:p>
            <a:pPr indent="0" marL="0">
              <a:buNone/>
            </a:pPr>
            <a:r>
              <a:rPr lang="en-US" sz="6400" b="1" dirty="0">
                <a:solidFill>
                  <a:srgbClr val="0E7C86"/>
                </a:solidFill>
                <a:latin typeface="Calibri" pitchFamily="34" charset="0"/>
                <a:ea typeface="Calibri" pitchFamily="34" charset="-122"/>
                <a:cs typeface="Calibri" pitchFamily="34" charset="-120"/>
              </a:rPr>
              <a:t>99.14%</a:t>
            </a:r>
            <a:endParaRPr lang="en-US" sz="6400" dirty="0"/>
          </a:p>
        </p:txBody>
      </p:sp>
      <p:sp>
        <p:nvSpPr>
          <p:cNvPr id="32" name="Text 30"/>
          <p:cNvSpPr txBox="1"/>
          <p:nvPr/>
        </p:nvSpPr>
        <p:spPr>
          <a:xfrm>
            <a:off x="6355080" y="2743200"/>
            <a:ext cx="5212080" cy="32004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classification accuracy on the supported subset</a:t>
            </a:r>
            <a:endParaRPr lang="en-US" sz="1600" dirty="0"/>
          </a:p>
        </p:txBody>
      </p:sp>
      <p:sp>
        <p:nvSpPr>
          <p:cNvPr id="33" name="Text 31"/>
          <p:cNvSpPr txBox="1"/>
          <p:nvPr/>
        </p:nvSpPr>
        <p:spPr>
          <a:xfrm>
            <a:off x="6355080" y="3200400"/>
            <a:ext cx="1737360" cy="457200"/>
          </a:xfrm>
          <a:prstGeom prst="rect">
            <a:avLst/>
          </a:prstGeom>
          <a:noFill/>
          <a:ln/>
        </p:spPr>
        <p:txBody>
          <a:bodyPr wrap="square" lIns="0" tIns="0" rIns="0" bIns="0" rtlCol="0" anchor="t"/>
          <a:lstStyle/>
          <a:p>
            <a:pPr indent="0" marL="0">
              <a:buNone/>
            </a:pPr>
            <a:r>
              <a:rPr lang="en-US" sz="2600" b="1" dirty="0">
                <a:solidFill>
                  <a:srgbClr val="1B2733"/>
                </a:solidFill>
                <a:latin typeface="Calibri" pitchFamily="34" charset="0"/>
                <a:ea typeface="Calibri" pitchFamily="34" charset="-122"/>
                <a:cs typeface="Calibri" pitchFamily="34" charset="-120"/>
              </a:rPr>
              <a:t>6,321</a:t>
            </a:r>
            <a:endParaRPr lang="en-US" sz="2600" dirty="0"/>
          </a:p>
        </p:txBody>
      </p:sp>
      <p:sp>
        <p:nvSpPr>
          <p:cNvPr id="34" name="Text 32"/>
          <p:cNvSpPr txBox="1"/>
          <p:nvPr/>
        </p:nvSpPr>
        <p:spPr>
          <a:xfrm>
            <a:off x="6355080" y="3657600"/>
            <a:ext cx="1737360" cy="274320"/>
          </a:xfrm>
          <a:prstGeom prst="rect">
            <a:avLst/>
          </a:prstGeom>
          <a:noFill/>
          <a:ln/>
        </p:spPr>
        <p:txBody>
          <a:bodyPr wrap="square" lIns="0" tIns="0" rIns="0" bIns="0" rtlCol="0" anchor="t"/>
          <a:lstStyle/>
          <a:p>
            <a:pPr indent="0" marL="0">
              <a:buNone/>
            </a:pPr>
            <a:r>
              <a:rPr lang="en-US" sz="1300" dirty="0">
                <a:solidFill>
                  <a:srgbClr val="5C6B7A"/>
                </a:solidFill>
                <a:latin typeface="Calibri" pitchFamily="34" charset="0"/>
                <a:ea typeface="Calibri" pitchFamily="34" charset="-122"/>
                <a:cs typeface="Calibri" pitchFamily="34" charset="-120"/>
              </a:rPr>
              <a:t>discovered</a:t>
            </a:r>
            <a:endParaRPr lang="en-US" sz="1300" dirty="0"/>
          </a:p>
        </p:txBody>
      </p:sp>
      <p:sp>
        <p:nvSpPr>
          <p:cNvPr id="35" name="Text 33"/>
          <p:cNvSpPr txBox="1"/>
          <p:nvPr/>
        </p:nvSpPr>
        <p:spPr>
          <a:xfrm>
            <a:off x="8138160" y="3200400"/>
            <a:ext cx="1737360" cy="457200"/>
          </a:xfrm>
          <a:prstGeom prst="rect">
            <a:avLst/>
          </a:prstGeom>
          <a:noFill/>
          <a:ln/>
        </p:spPr>
        <p:txBody>
          <a:bodyPr wrap="square" lIns="0" tIns="0" rIns="0" bIns="0" rtlCol="0" anchor="t"/>
          <a:lstStyle/>
          <a:p>
            <a:pPr indent="0" marL="0">
              <a:buNone/>
            </a:pPr>
            <a:r>
              <a:rPr lang="en-US" sz="2600" b="1" dirty="0">
                <a:solidFill>
                  <a:srgbClr val="1B2733"/>
                </a:solidFill>
                <a:latin typeface="Calibri" pitchFamily="34" charset="0"/>
                <a:ea typeface="Calibri" pitchFamily="34" charset="-122"/>
                <a:cs typeface="Calibri" pitchFamily="34" charset="-120"/>
              </a:rPr>
              <a:t>6,249</a:t>
            </a:r>
            <a:endParaRPr lang="en-US" sz="2600" dirty="0"/>
          </a:p>
        </p:txBody>
      </p:sp>
      <p:sp>
        <p:nvSpPr>
          <p:cNvPr id="36" name="Text 34"/>
          <p:cNvSpPr txBox="1"/>
          <p:nvPr/>
        </p:nvSpPr>
        <p:spPr>
          <a:xfrm>
            <a:off x="8138160" y="3657600"/>
            <a:ext cx="1737360" cy="274320"/>
          </a:xfrm>
          <a:prstGeom prst="rect">
            <a:avLst/>
          </a:prstGeom>
          <a:noFill/>
          <a:ln/>
        </p:spPr>
        <p:txBody>
          <a:bodyPr wrap="square" lIns="0" tIns="0" rIns="0" bIns="0" rtlCol="0" anchor="t"/>
          <a:lstStyle/>
          <a:p>
            <a:pPr indent="0" marL="0">
              <a:buNone/>
            </a:pPr>
            <a:r>
              <a:rPr lang="en-US" sz="1300" dirty="0">
                <a:solidFill>
                  <a:srgbClr val="5C6B7A"/>
                </a:solidFill>
                <a:latin typeface="Calibri" pitchFamily="34" charset="0"/>
                <a:ea typeface="Calibri" pitchFamily="34" charset="-122"/>
                <a:cs typeface="Calibri" pitchFamily="34" charset="-120"/>
              </a:rPr>
              <a:t>supported</a:t>
            </a:r>
            <a:endParaRPr lang="en-US" sz="1300" dirty="0"/>
          </a:p>
        </p:txBody>
      </p:sp>
      <p:sp>
        <p:nvSpPr>
          <p:cNvPr id="37" name="Text 35"/>
          <p:cNvSpPr txBox="1"/>
          <p:nvPr/>
        </p:nvSpPr>
        <p:spPr>
          <a:xfrm>
            <a:off x="9921240" y="3200400"/>
            <a:ext cx="1737360" cy="457200"/>
          </a:xfrm>
          <a:prstGeom prst="rect">
            <a:avLst/>
          </a:prstGeom>
          <a:noFill/>
          <a:ln/>
        </p:spPr>
        <p:txBody>
          <a:bodyPr wrap="square" lIns="0" tIns="0" rIns="0" bIns="0" rtlCol="0" anchor="t"/>
          <a:lstStyle/>
          <a:p>
            <a:pPr indent="0" marL="0">
              <a:buNone/>
            </a:pPr>
            <a:r>
              <a:rPr lang="en-US" sz="2600" b="1" dirty="0">
                <a:solidFill>
                  <a:srgbClr val="1B2733"/>
                </a:solidFill>
                <a:latin typeface="Calibri" pitchFamily="34" charset="0"/>
                <a:ea typeface="Calibri" pitchFamily="34" charset="-122"/>
                <a:cs typeface="Calibri" pitchFamily="34" charset="-120"/>
              </a:rPr>
              <a:t>72</a:t>
            </a:r>
            <a:endParaRPr lang="en-US" sz="2600" dirty="0"/>
          </a:p>
        </p:txBody>
      </p:sp>
      <p:sp>
        <p:nvSpPr>
          <p:cNvPr id="38" name="Text 36"/>
          <p:cNvSpPr txBox="1"/>
          <p:nvPr/>
        </p:nvSpPr>
        <p:spPr>
          <a:xfrm>
            <a:off x="9921240" y="3657600"/>
            <a:ext cx="1737360" cy="274320"/>
          </a:xfrm>
          <a:prstGeom prst="rect">
            <a:avLst/>
          </a:prstGeom>
          <a:noFill/>
          <a:ln/>
        </p:spPr>
        <p:txBody>
          <a:bodyPr wrap="square" lIns="0" tIns="0" rIns="0" bIns="0" rtlCol="0" anchor="t"/>
          <a:lstStyle/>
          <a:p>
            <a:pPr indent="0" marL="0">
              <a:buNone/>
            </a:pPr>
            <a:r>
              <a:rPr lang="en-US" sz="1300" dirty="0">
                <a:solidFill>
                  <a:srgbClr val="5C6B7A"/>
                </a:solidFill>
                <a:latin typeface="Calibri" pitchFamily="34" charset="0"/>
                <a:ea typeface="Calibri" pitchFamily="34" charset="-122"/>
                <a:cs typeface="Calibri" pitchFamily="34" charset="-120"/>
              </a:rPr>
              <a:t>excluded</a:t>
            </a:r>
            <a:endParaRPr lang="en-US" sz="1300" dirty="0"/>
          </a:p>
        </p:txBody>
      </p:sp>
      <p:sp>
        <p:nvSpPr>
          <p:cNvPr id="39" name="Text 37"/>
          <p:cNvSpPr txBox="1"/>
          <p:nvPr/>
        </p:nvSpPr>
        <p:spPr>
          <a:xfrm>
            <a:off x="6355080" y="4069080"/>
            <a:ext cx="1737360" cy="457200"/>
          </a:xfrm>
          <a:prstGeom prst="rect">
            <a:avLst/>
          </a:prstGeom>
          <a:noFill/>
          <a:ln/>
        </p:spPr>
        <p:txBody>
          <a:bodyPr wrap="square" lIns="0" tIns="0" rIns="0" bIns="0" rtlCol="0" anchor="t"/>
          <a:lstStyle/>
          <a:p>
            <a:pPr indent="0" marL="0">
              <a:buNone/>
            </a:pPr>
            <a:r>
              <a:rPr lang="en-US" sz="2600" b="1" dirty="0">
                <a:solidFill>
                  <a:srgbClr val="1B2733"/>
                </a:solidFill>
                <a:latin typeface="Calibri" pitchFamily="34" charset="0"/>
                <a:ea typeface="Calibri" pitchFamily="34" charset="-122"/>
                <a:cs typeface="Calibri" pitchFamily="34" charset="-120"/>
              </a:rPr>
              <a:t>6,195</a:t>
            </a:r>
            <a:endParaRPr lang="en-US" sz="2600" dirty="0"/>
          </a:p>
        </p:txBody>
      </p:sp>
      <p:sp>
        <p:nvSpPr>
          <p:cNvPr id="40" name="Text 38"/>
          <p:cNvSpPr txBox="1"/>
          <p:nvPr/>
        </p:nvSpPr>
        <p:spPr>
          <a:xfrm>
            <a:off x="6355080" y="4526280"/>
            <a:ext cx="1737360" cy="274320"/>
          </a:xfrm>
          <a:prstGeom prst="rect">
            <a:avLst/>
          </a:prstGeom>
          <a:noFill/>
          <a:ln/>
        </p:spPr>
        <p:txBody>
          <a:bodyPr wrap="square" lIns="0" tIns="0" rIns="0" bIns="0" rtlCol="0" anchor="t"/>
          <a:lstStyle/>
          <a:p>
            <a:pPr indent="0" marL="0">
              <a:buNone/>
            </a:pPr>
            <a:r>
              <a:rPr lang="en-US" sz="1300" dirty="0">
                <a:solidFill>
                  <a:srgbClr val="5C6B7A"/>
                </a:solidFill>
                <a:latin typeface="Calibri" pitchFamily="34" charset="0"/>
                <a:ea typeface="Calibri" pitchFamily="34" charset="-122"/>
                <a:cs typeface="Calibri" pitchFamily="34" charset="-120"/>
              </a:rPr>
              <a:t>correct</a:t>
            </a:r>
            <a:endParaRPr lang="en-US" sz="1300" dirty="0"/>
          </a:p>
        </p:txBody>
      </p:sp>
      <p:sp>
        <p:nvSpPr>
          <p:cNvPr id="41" name="Text 39"/>
          <p:cNvSpPr txBox="1"/>
          <p:nvPr/>
        </p:nvSpPr>
        <p:spPr>
          <a:xfrm>
            <a:off x="8138160" y="4069080"/>
            <a:ext cx="1737360" cy="457200"/>
          </a:xfrm>
          <a:prstGeom prst="rect">
            <a:avLst/>
          </a:prstGeom>
          <a:noFill/>
          <a:ln/>
        </p:spPr>
        <p:txBody>
          <a:bodyPr wrap="square" lIns="0" tIns="0" rIns="0" bIns="0" rtlCol="0" anchor="t"/>
          <a:lstStyle/>
          <a:p>
            <a:pPr indent="0" marL="0">
              <a:buNone/>
            </a:pPr>
            <a:r>
              <a:rPr lang="en-US" sz="2600" b="1" dirty="0">
                <a:solidFill>
                  <a:srgbClr val="1B2733"/>
                </a:solidFill>
                <a:latin typeface="Calibri" pitchFamily="34" charset="0"/>
                <a:ea typeface="Calibri" pitchFamily="34" charset="-122"/>
                <a:cs typeface="Calibri" pitchFamily="34" charset="-120"/>
              </a:rPr>
              <a:t>54</a:t>
            </a:r>
            <a:endParaRPr lang="en-US" sz="2600" dirty="0"/>
          </a:p>
        </p:txBody>
      </p:sp>
      <p:sp>
        <p:nvSpPr>
          <p:cNvPr id="42" name="Text 40"/>
          <p:cNvSpPr txBox="1"/>
          <p:nvPr/>
        </p:nvSpPr>
        <p:spPr>
          <a:xfrm>
            <a:off x="8138160" y="4526280"/>
            <a:ext cx="1737360" cy="274320"/>
          </a:xfrm>
          <a:prstGeom prst="rect">
            <a:avLst/>
          </a:prstGeom>
          <a:noFill/>
          <a:ln/>
        </p:spPr>
        <p:txBody>
          <a:bodyPr wrap="square" lIns="0" tIns="0" rIns="0" bIns="0" rtlCol="0" anchor="t"/>
          <a:lstStyle/>
          <a:p>
            <a:pPr indent="0" marL="0">
              <a:buNone/>
            </a:pPr>
            <a:r>
              <a:rPr lang="en-US" sz="1300" dirty="0">
                <a:solidFill>
                  <a:srgbClr val="5C6B7A"/>
                </a:solidFill>
                <a:latin typeface="Calibri" pitchFamily="34" charset="0"/>
                <a:ea typeface="Calibri" pitchFamily="34" charset="-122"/>
                <a:cs typeface="Calibri" pitchFamily="34" charset="-120"/>
              </a:rPr>
              <a:t>incorrect</a:t>
            </a:r>
            <a:endParaRPr lang="en-US" sz="1300" dirty="0"/>
          </a:p>
        </p:txBody>
      </p:sp>
      <p:sp>
        <p:nvSpPr>
          <p:cNvPr id="43" name="Text 41"/>
          <p:cNvSpPr txBox="1"/>
          <p:nvPr/>
        </p:nvSpPr>
        <p:spPr>
          <a:xfrm>
            <a:off x="9921240" y="4069080"/>
            <a:ext cx="1737360" cy="457200"/>
          </a:xfrm>
          <a:prstGeom prst="rect">
            <a:avLst/>
          </a:prstGeom>
          <a:noFill/>
          <a:ln/>
        </p:spPr>
        <p:txBody>
          <a:bodyPr wrap="square" lIns="0" tIns="0" rIns="0" bIns="0" rtlCol="0" anchor="t"/>
          <a:lstStyle/>
          <a:p>
            <a:pPr indent="0" marL="0">
              <a:buNone/>
            </a:pPr>
            <a:r>
              <a:rPr lang="en-US" sz="2600" b="1" dirty="0">
                <a:solidFill>
                  <a:srgbClr val="1B2733"/>
                </a:solidFill>
                <a:latin typeface="Calibri" pitchFamily="34" charset="0"/>
                <a:ea typeface="Calibri" pitchFamily="34" charset="-122"/>
                <a:cs typeface="Calibri" pitchFamily="34" charset="-120"/>
              </a:rPr>
              <a:t>0</a:t>
            </a:r>
            <a:endParaRPr lang="en-US" sz="2600" dirty="0"/>
          </a:p>
        </p:txBody>
      </p:sp>
      <p:sp>
        <p:nvSpPr>
          <p:cNvPr id="44" name="Text 42"/>
          <p:cNvSpPr txBox="1"/>
          <p:nvPr/>
        </p:nvSpPr>
        <p:spPr>
          <a:xfrm>
            <a:off x="9921240" y="4526280"/>
            <a:ext cx="1737360" cy="274320"/>
          </a:xfrm>
          <a:prstGeom prst="rect">
            <a:avLst/>
          </a:prstGeom>
          <a:noFill/>
          <a:ln/>
        </p:spPr>
        <p:txBody>
          <a:bodyPr wrap="square" lIns="0" tIns="0" rIns="0" bIns="0" rtlCol="0" anchor="t"/>
          <a:lstStyle/>
          <a:p>
            <a:pPr indent="0" marL="0">
              <a:buNone/>
            </a:pPr>
            <a:r>
              <a:rPr lang="en-US" sz="1300" dirty="0">
                <a:solidFill>
                  <a:srgbClr val="5C6B7A"/>
                </a:solidFill>
                <a:latin typeface="Calibri" pitchFamily="34" charset="0"/>
                <a:ea typeface="Calibri" pitchFamily="34" charset="-122"/>
                <a:cs typeface="Calibri" pitchFamily="34" charset="-120"/>
              </a:rPr>
              <a:t>inference errors</a:t>
            </a:r>
            <a:endParaRPr lang="en-US" sz="1300" dirty="0"/>
          </a:p>
        </p:txBody>
      </p:sp>
      <p:sp>
        <p:nvSpPr>
          <p:cNvPr id="45" name="Shape 43"/>
          <p:cNvSpPr/>
          <p:nvPr/>
        </p:nvSpPr>
        <p:spPr>
          <a:xfrm>
            <a:off x="6355080" y="5029200"/>
            <a:ext cx="5285232" cy="1188720"/>
          </a:xfrm>
          <a:prstGeom prst="rect">
            <a:avLst/>
          </a:prstGeom>
          <a:solidFill>
            <a:srgbClr val="FBE9EC"/>
          </a:solidFill>
          <a:ln/>
        </p:spPr>
      </p:sp>
      <p:sp>
        <p:nvSpPr>
          <p:cNvPr id="46" name="Shape 44"/>
          <p:cNvSpPr/>
          <p:nvPr/>
        </p:nvSpPr>
        <p:spPr>
          <a:xfrm>
            <a:off x="6355080" y="5029200"/>
            <a:ext cx="64008" cy="1188720"/>
          </a:xfrm>
          <a:prstGeom prst="rect">
            <a:avLst/>
          </a:prstGeom>
          <a:solidFill>
            <a:srgbClr val="B3394A"/>
          </a:solidFill>
          <a:ln/>
        </p:spPr>
      </p:sp>
      <p:sp>
        <p:nvSpPr>
          <p:cNvPr id="47" name="Text 45"/>
          <p:cNvSpPr txBox="1"/>
          <p:nvPr/>
        </p:nvSpPr>
        <p:spPr>
          <a:xfrm>
            <a:off x="6583680" y="5029200"/>
            <a:ext cx="4937760" cy="1188720"/>
          </a:xfrm>
          <a:prstGeom prst="rect">
            <a:avLst/>
          </a:prstGeom>
          <a:noFill/>
          <a:ln/>
        </p:spPr>
        <p:txBody>
          <a:bodyPr wrap="square" lIns="0" tIns="0" rIns="0" bIns="0" rtlCol="0" anchor="ctr"/>
          <a:lstStyle/>
          <a:p>
            <a:pPr indent="0" marL="0">
              <a:buNone/>
            </a:pPr>
            <a:r>
              <a:rPr lang="en-US" sz="1400" b="1" dirty="0">
                <a:solidFill>
                  <a:srgbClr val="1B2733"/>
                </a:solidFill>
                <a:latin typeface="Calibri" pitchFamily="34" charset="0"/>
                <a:ea typeface="Calibri" pitchFamily="34" charset="-122"/>
                <a:cs typeface="Calibri" pitchFamily="34" charset="-120"/>
              </a:rPr>
              <a:t>Supported-subset classification accuracy — NOT end-to-end WasteWise AI accuracy.</a:t>
            </a:r>
            <a:endParaRPr lang="en-US" sz="1500" dirty="0"/>
          </a:p>
          <a:p>
            <a:pPr indent="0" marL="0">
              <a:buNone/>
            </a:pPr>
            <a:r>
              <a:rPr lang="en-US" sz="1250" dirty="0">
                <a:solidFill>
                  <a:srgbClr val="5C6B7A"/>
                </a:solidFill>
                <a:latin typeface="Calibri" pitchFamily="34" charset="0"/>
                <a:ea typeface="Calibri" pitchFamily="34" charset="-122"/>
                <a:cs typeface="Calibri" pitchFamily="34" charset="-120"/>
              </a:rPr>
              <a:t>Pooled Datasets A + B; Dataset A was part of the training/validation pool, so this is not an independent held-out result.</a:t>
            </a:r>
            <a:endParaRPr lang="en-US" sz="1500" dirty="0"/>
          </a:p>
        </p:txBody>
      </p:sp>
      <p:sp>
        <p:nvSpPr>
          <p:cNvPr id="25" name="Slide Number Placeholder 0"/>
          <p:cNvSpPr>
            <a:spLocks noGrp="1"/>
          </p:cNvSpPr>
          <p:nvPr>
            <p:ph type="sldNum" sz="quarter" idx="4294967295"/>
          </p:nvPr>
        </p:nvSpPr>
        <p:spPr>
          <a:xfrm>
            <a:off x="10881360" y="6446520"/>
            <a:ext cx="758952"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C6B7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47472"/>
            <a:ext cx="8595360" cy="594360"/>
          </a:xfrm>
          <a:prstGeom prst="rect">
            <a:avLst/>
          </a:prstGeom>
          <a:noFill/>
          <a:ln/>
        </p:spPr>
        <p:txBody>
          <a:bodyPr wrap="square" lIns="0" tIns="0" rIns="0" bIns="0" rtlCol="0" anchor="t"/>
          <a:lstStyle/>
          <a:p>
            <a:pPr indent="0" marL="0">
              <a:buNone/>
            </a:pPr>
            <a:r>
              <a:rPr lang="en-US" sz="3000" b="1" dirty="0">
                <a:solidFill>
                  <a:srgbClr val="1B2733"/>
                </a:solidFill>
                <a:latin typeface="Calibri" pitchFamily="34" charset="0"/>
                <a:ea typeface="Calibri" pitchFamily="34" charset="-122"/>
                <a:cs typeface="Calibri" pitchFamily="34" charset="-120"/>
              </a:rPr>
              <a:t>Software Application</a:t>
            </a:r>
            <a:endParaRPr lang="en-US" sz="3000" dirty="0"/>
          </a:p>
        </p:txBody>
      </p:sp>
      <p:sp>
        <p:nvSpPr>
          <p:cNvPr id="3" name="Text 1"/>
          <p:cNvSpPr txBox="1"/>
          <p:nvPr/>
        </p:nvSpPr>
        <p:spPr>
          <a:xfrm>
            <a:off x="548640" y="932688"/>
            <a:ext cx="10607040" cy="347472"/>
          </a:xfrm>
          <a:prstGeom prst="rect">
            <a:avLst/>
          </a:prstGeom>
          <a:noFill/>
          <a:ln/>
        </p:spPr>
        <p:txBody>
          <a:bodyPr wrap="square" lIns="0" tIns="0" rIns="0" bIns="0" rtlCol="0" anchor="t"/>
          <a:lstStyle/>
          <a:p>
            <a:pPr indent="0" marL="0">
              <a:buNone/>
            </a:pPr>
            <a:r>
              <a:rPr lang="en-US" sz="1600" dirty="0">
                <a:solidFill>
                  <a:srgbClr val="5C6B7A"/>
                </a:solidFill>
                <a:latin typeface="Calibri" pitchFamily="34" charset="0"/>
                <a:ea typeface="Calibri" pitchFamily="34" charset="-122"/>
                <a:cs typeface="Calibri" pitchFamily="34" charset="-120"/>
              </a:rPr>
              <a:t>A React frontend talks to a FastAPI backend that runs the AI pipeline.</a:t>
            </a:r>
            <a:endParaRPr lang="en-US" sz="1600" dirty="0"/>
          </a:p>
        </p:txBody>
      </p:sp>
      <p:sp>
        <p:nvSpPr>
          <p:cNvPr id="4" name="Text 2"/>
          <p:cNvSpPr txBox="1"/>
          <p:nvPr/>
        </p:nvSpPr>
        <p:spPr>
          <a:xfrm>
            <a:off x="8778240" y="384048"/>
            <a:ext cx="2862072" cy="274320"/>
          </a:xfrm>
          <a:prstGeom prst="rect">
            <a:avLst/>
          </a:prstGeom>
          <a:noFill/>
          <a:ln/>
        </p:spPr>
        <p:txBody>
          <a:bodyPr wrap="square" lIns="0" tIns="0" rIns="0" bIns="0" rtlCol="0" anchor="t"/>
          <a:lstStyle/>
          <a:p>
            <a:pPr algn="r" indent="0" marL="0">
              <a:buNone/>
            </a:pPr>
            <a:r>
              <a:rPr lang="en-US" sz="1200" b="1" spc="150" kern="0" dirty="0">
                <a:solidFill>
                  <a:srgbClr val="0E7C86"/>
                </a:solidFill>
                <a:latin typeface="Calibri" pitchFamily="34" charset="0"/>
                <a:ea typeface="Calibri" pitchFamily="34" charset="-122"/>
                <a:cs typeface="Calibri" pitchFamily="34" charset="-120"/>
              </a:rPr>
              <a:t>SPEAKER  ·  Ronak + Drashtant</a:t>
            </a:r>
            <a:endParaRPr lang="en-US" sz="1200" dirty="0"/>
          </a:p>
        </p:txBody>
      </p:sp>
      <p:sp>
        <p:nvSpPr>
          <p:cNvPr id="5" name="Shape 3"/>
          <p:cNvSpPr/>
          <p:nvPr/>
        </p:nvSpPr>
        <p:spPr>
          <a:xfrm>
            <a:off x="548640" y="1463040"/>
            <a:ext cx="5074920" cy="1325880"/>
          </a:xfrm>
          <a:prstGeom prst="rect">
            <a:avLst/>
          </a:prstGeom>
          <a:solidFill>
            <a:srgbClr val="FFFFFF"/>
          </a:solidFill>
          <a:ln w="12700">
            <a:solidFill>
              <a:srgbClr val="D5DBE1"/>
            </a:solidFill>
            <a:prstDash val="solid"/>
          </a:ln>
        </p:spPr>
      </p:sp>
      <p:sp>
        <p:nvSpPr>
          <p:cNvPr id="6" name="Shape 4"/>
          <p:cNvSpPr/>
          <p:nvPr/>
        </p:nvSpPr>
        <p:spPr>
          <a:xfrm>
            <a:off x="548640" y="1463040"/>
            <a:ext cx="73152" cy="1325880"/>
          </a:xfrm>
          <a:prstGeom prst="rect">
            <a:avLst/>
          </a:prstGeom>
          <a:solidFill>
            <a:srgbClr val="0E7C86"/>
          </a:solidFill>
          <a:ln/>
        </p:spPr>
      </p:sp>
      <p:sp>
        <p:nvSpPr>
          <p:cNvPr id="7" name="Text 5"/>
          <p:cNvSpPr txBox="1"/>
          <p:nvPr/>
        </p:nvSpPr>
        <p:spPr>
          <a:xfrm>
            <a:off x="804672" y="1572768"/>
            <a:ext cx="4663440" cy="274320"/>
          </a:xfrm>
          <a:prstGeom prst="rect">
            <a:avLst/>
          </a:prstGeom>
          <a:noFill/>
          <a:ln/>
        </p:spPr>
        <p:txBody>
          <a:bodyPr wrap="square" lIns="0" tIns="0" rIns="0" bIns="0" rtlCol="0" anchor="t"/>
          <a:lstStyle/>
          <a:p>
            <a:pPr indent="0" marL="0">
              <a:buNone/>
            </a:pPr>
            <a:r>
              <a:rPr lang="en-US" sz="1200" b="1" spc="150" kern="0" dirty="0">
                <a:solidFill>
                  <a:srgbClr val="0E7C86"/>
                </a:solidFill>
                <a:latin typeface="Calibri" pitchFamily="34" charset="0"/>
                <a:ea typeface="Calibri" pitchFamily="34" charset="-122"/>
                <a:cs typeface="Calibri" pitchFamily="34" charset="-120"/>
              </a:rPr>
              <a:t>FRONTEND  ·  RONAK</a:t>
            </a:r>
            <a:endParaRPr lang="en-US" sz="1200" dirty="0"/>
          </a:p>
        </p:txBody>
      </p:sp>
      <p:sp>
        <p:nvSpPr>
          <p:cNvPr id="8" name="Text 6"/>
          <p:cNvSpPr txBox="1"/>
          <p:nvPr/>
        </p:nvSpPr>
        <p:spPr>
          <a:xfrm>
            <a:off x="804672" y="1901952"/>
            <a:ext cx="4663440" cy="822960"/>
          </a:xfrm>
          <a:prstGeom prst="rect">
            <a:avLst/>
          </a:prstGeom>
          <a:noFill/>
          <a:ln/>
        </p:spPr>
        <p:txBody>
          <a:bodyPr wrap="square" lIns="0" tIns="0" rIns="0" bIns="0" rtlCol="0" anchor="t"/>
          <a:lstStyle/>
          <a:p>
            <a:pPr indent="0" marL="0">
              <a:spcAft>
                <a:spcPts val="400"/>
              </a:spcAft>
              <a:buNone/>
            </a:pPr>
            <a:r>
              <a:rPr lang="en-US" sz="1400" dirty="0">
                <a:solidFill>
                  <a:srgbClr val="1B2733"/>
                </a:solidFill>
                <a:latin typeface="Calibri" pitchFamily="34" charset="0"/>
                <a:ea typeface="Calibri" pitchFamily="34" charset="-122"/>
                <a:cs typeface="Calibri" pitchFamily="34" charset="-120"/>
              </a:rPr>
              <a:t>React 19 · TypeScript · Vite 8 · Tailwind CSS 4</a:t>
            </a:r>
            <a:endParaRPr lang="en-US" sz="1400" dirty="0"/>
          </a:p>
          <a:p>
            <a:pPr indent="0" marL="0">
              <a:spcAft>
                <a:spcPts val="400"/>
              </a:spcAft>
              <a:buNone/>
            </a:pPr>
            <a:r>
              <a:rPr lang="en-US" sz="1400" dirty="0">
                <a:solidFill>
                  <a:srgbClr val="1B2733"/>
                </a:solidFill>
                <a:latin typeface="Calibri" pitchFamily="34" charset="0"/>
                <a:ea typeface="Calibri" pitchFamily="34" charset="-122"/>
                <a:cs typeface="Calibri" pitchFamily="34" charset="-120"/>
              </a:rPr>
              <a:t>Upload · Live camera · Result visualisation</a:t>
            </a:r>
            <a:endParaRPr lang="en-US" sz="1400" dirty="0"/>
          </a:p>
        </p:txBody>
      </p:sp>
      <p:sp>
        <p:nvSpPr>
          <p:cNvPr id="9" name="Shape 7"/>
          <p:cNvSpPr/>
          <p:nvPr/>
        </p:nvSpPr>
        <p:spPr>
          <a:xfrm>
            <a:off x="3090672" y="2807208"/>
            <a:ext cx="0" cy="237744"/>
          </a:xfrm>
          <a:prstGeom prst="line">
            <a:avLst/>
          </a:prstGeom>
          <a:noFill/>
          <a:ln w="19050">
            <a:solidFill>
              <a:srgbClr val="5C6B7A"/>
            </a:solidFill>
            <a:prstDash val="solid"/>
            <a:tailEnd type="triangle"/>
          </a:ln>
        </p:spPr>
      </p:sp>
      <p:sp>
        <p:nvSpPr>
          <p:cNvPr id="10" name="Shape 8"/>
          <p:cNvSpPr/>
          <p:nvPr/>
        </p:nvSpPr>
        <p:spPr>
          <a:xfrm>
            <a:off x="548640" y="3063240"/>
            <a:ext cx="5074920" cy="1325880"/>
          </a:xfrm>
          <a:prstGeom prst="rect">
            <a:avLst/>
          </a:prstGeom>
          <a:solidFill>
            <a:srgbClr val="FFFFFF"/>
          </a:solidFill>
          <a:ln w="12700">
            <a:solidFill>
              <a:srgbClr val="D5DBE1"/>
            </a:solidFill>
            <a:prstDash val="solid"/>
          </a:ln>
        </p:spPr>
      </p:sp>
      <p:sp>
        <p:nvSpPr>
          <p:cNvPr id="11" name="Shape 9"/>
          <p:cNvSpPr/>
          <p:nvPr/>
        </p:nvSpPr>
        <p:spPr>
          <a:xfrm>
            <a:off x="548640" y="3063240"/>
            <a:ext cx="73152" cy="1325880"/>
          </a:xfrm>
          <a:prstGeom prst="rect">
            <a:avLst/>
          </a:prstGeom>
          <a:solidFill>
            <a:srgbClr val="0E7C86"/>
          </a:solidFill>
          <a:ln/>
        </p:spPr>
      </p:sp>
      <p:sp>
        <p:nvSpPr>
          <p:cNvPr id="12" name="Text 10"/>
          <p:cNvSpPr txBox="1"/>
          <p:nvPr/>
        </p:nvSpPr>
        <p:spPr>
          <a:xfrm>
            <a:off x="804672" y="3172968"/>
            <a:ext cx="4663440" cy="274320"/>
          </a:xfrm>
          <a:prstGeom prst="rect">
            <a:avLst/>
          </a:prstGeom>
          <a:noFill/>
          <a:ln/>
        </p:spPr>
        <p:txBody>
          <a:bodyPr wrap="square" lIns="0" tIns="0" rIns="0" bIns="0" rtlCol="0" anchor="t"/>
          <a:lstStyle/>
          <a:p>
            <a:pPr indent="0" marL="0">
              <a:buNone/>
            </a:pPr>
            <a:r>
              <a:rPr lang="en-US" sz="1200" b="1" spc="150" kern="0" dirty="0">
                <a:solidFill>
                  <a:srgbClr val="0E7C86"/>
                </a:solidFill>
                <a:latin typeface="Calibri" pitchFamily="34" charset="0"/>
                <a:ea typeface="Calibri" pitchFamily="34" charset="-122"/>
                <a:cs typeface="Calibri" pitchFamily="34" charset="-120"/>
              </a:rPr>
              <a:t>BACKEND  ·  DRASHTANT</a:t>
            </a:r>
            <a:endParaRPr lang="en-US" sz="1200" dirty="0"/>
          </a:p>
        </p:txBody>
      </p:sp>
      <p:sp>
        <p:nvSpPr>
          <p:cNvPr id="13" name="Text 11"/>
          <p:cNvSpPr txBox="1"/>
          <p:nvPr/>
        </p:nvSpPr>
        <p:spPr>
          <a:xfrm>
            <a:off x="804672" y="3502152"/>
            <a:ext cx="4663440" cy="822960"/>
          </a:xfrm>
          <a:prstGeom prst="rect">
            <a:avLst/>
          </a:prstGeom>
          <a:noFill/>
          <a:ln/>
        </p:spPr>
        <p:txBody>
          <a:bodyPr wrap="square" lIns="0" tIns="0" rIns="0" bIns="0" rtlCol="0" anchor="t"/>
          <a:lstStyle/>
          <a:p>
            <a:pPr indent="0" marL="0">
              <a:spcAft>
                <a:spcPts val="400"/>
              </a:spcAft>
              <a:buNone/>
            </a:pPr>
            <a:r>
              <a:rPr lang="en-US" sz="1400" dirty="0">
                <a:solidFill>
                  <a:srgbClr val="1B2733"/>
                </a:solidFill>
                <a:latin typeface="Calibri" pitchFamily="34" charset="0"/>
                <a:ea typeface="Calibri" pitchFamily="34" charset="-122"/>
                <a:cs typeface="Calibri" pitchFamily="34" charset="-120"/>
              </a:rPr>
              <a:t>FastAPI:  /   /health   /ready   POST /predict</a:t>
            </a:r>
            <a:endParaRPr lang="en-US" sz="1400" dirty="0"/>
          </a:p>
          <a:p>
            <a:pPr indent="0" marL="0">
              <a:spcAft>
                <a:spcPts val="400"/>
              </a:spcAft>
              <a:buNone/>
            </a:pPr>
            <a:r>
              <a:rPr lang="en-US" sz="1400" dirty="0">
                <a:solidFill>
                  <a:srgbClr val="1B2733"/>
                </a:solidFill>
                <a:latin typeface="Calibri" pitchFamily="34" charset="0"/>
                <a:ea typeface="Calibri" pitchFamily="34" charset="-122"/>
                <a:cs typeface="Calibri" pitchFamily="34" charset="-120"/>
              </a:rPr>
              <a:t>Image validation · 25 MB limit · structured JSON · models loaded once and reused</a:t>
            </a:r>
            <a:endParaRPr lang="en-US" sz="1400" dirty="0"/>
          </a:p>
        </p:txBody>
      </p:sp>
      <p:sp>
        <p:nvSpPr>
          <p:cNvPr id="14" name="Shape 12"/>
          <p:cNvSpPr/>
          <p:nvPr/>
        </p:nvSpPr>
        <p:spPr>
          <a:xfrm>
            <a:off x="3090672" y="4407408"/>
            <a:ext cx="0" cy="237744"/>
          </a:xfrm>
          <a:prstGeom prst="line">
            <a:avLst/>
          </a:prstGeom>
          <a:noFill/>
          <a:ln w="19050">
            <a:solidFill>
              <a:srgbClr val="5C6B7A"/>
            </a:solidFill>
            <a:prstDash val="solid"/>
            <a:tailEnd type="triangle"/>
          </a:ln>
        </p:spPr>
      </p:sp>
      <p:sp>
        <p:nvSpPr>
          <p:cNvPr id="15" name="Shape 13"/>
          <p:cNvSpPr/>
          <p:nvPr/>
        </p:nvSpPr>
        <p:spPr>
          <a:xfrm>
            <a:off x="548640" y="4663440"/>
            <a:ext cx="5074920" cy="1325880"/>
          </a:xfrm>
          <a:prstGeom prst="rect">
            <a:avLst/>
          </a:prstGeom>
          <a:solidFill>
            <a:srgbClr val="22313F"/>
          </a:solidFill>
          <a:ln w="12700">
            <a:solidFill>
              <a:srgbClr val="22313F"/>
            </a:solidFill>
            <a:prstDash val="solid"/>
          </a:ln>
        </p:spPr>
      </p:sp>
      <p:sp>
        <p:nvSpPr>
          <p:cNvPr id="16" name="Shape 14"/>
          <p:cNvSpPr/>
          <p:nvPr/>
        </p:nvSpPr>
        <p:spPr>
          <a:xfrm>
            <a:off x="548640" y="4663440"/>
            <a:ext cx="73152" cy="1325880"/>
          </a:xfrm>
          <a:prstGeom prst="rect">
            <a:avLst/>
          </a:prstGeom>
          <a:solidFill>
            <a:srgbClr val="0E7C86"/>
          </a:solidFill>
          <a:ln/>
        </p:spPr>
      </p:sp>
      <p:sp>
        <p:nvSpPr>
          <p:cNvPr id="17" name="Text 15"/>
          <p:cNvSpPr txBox="1"/>
          <p:nvPr/>
        </p:nvSpPr>
        <p:spPr>
          <a:xfrm>
            <a:off x="804672" y="4773168"/>
            <a:ext cx="4663440" cy="274320"/>
          </a:xfrm>
          <a:prstGeom prst="rect">
            <a:avLst/>
          </a:prstGeom>
          <a:noFill/>
          <a:ln/>
        </p:spPr>
        <p:txBody>
          <a:bodyPr wrap="square" lIns="0" tIns="0" rIns="0" bIns="0" rtlCol="0" anchor="t"/>
          <a:lstStyle/>
          <a:p>
            <a:pPr indent="0" marL="0">
              <a:buNone/>
            </a:pPr>
            <a:r>
              <a:rPr lang="en-US" sz="1200" b="1" spc="150" kern="0" dirty="0">
                <a:solidFill>
                  <a:srgbClr val="A9DDE1"/>
                </a:solidFill>
                <a:latin typeface="Calibri" pitchFamily="34" charset="0"/>
                <a:ea typeface="Calibri" pitchFamily="34" charset="-122"/>
                <a:cs typeface="Calibri" pitchFamily="34" charset="-120"/>
              </a:rPr>
              <a:t>AI PIPELINE</a:t>
            </a:r>
            <a:endParaRPr lang="en-US" sz="1200" dirty="0"/>
          </a:p>
        </p:txBody>
      </p:sp>
      <p:sp>
        <p:nvSpPr>
          <p:cNvPr id="18" name="Text 16"/>
          <p:cNvSpPr txBox="1"/>
          <p:nvPr/>
        </p:nvSpPr>
        <p:spPr>
          <a:xfrm>
            <a:off x="804672" y="5102352"/>
            <a:ext cx="4663440" cy="822960"/>
          </a:xfrm>
          <a:prstGeom prst="rect">
            <a:avLst/>
          </a:prstGeom>
          <a:noFill/>
          <a:ln/>
        </p:spPr>
        <p:txBody>
          <a:bodyPr wrap="square" lIns="0" tIns="0" rIns="0" bIns="0" rtlCol="0" anchor="t"/>
          <a:lstStyle/>
          <a:p>
            <a:pPr indent="0" marL="0">
              <a:spcAft>
                <a:spcPts val="400"/>
              </a:spcAft>
              <a:buNone/>
            </a:pPr>
            <a:r>
              <a:rPr lang="en-US" sz="1400" dirty="0">
                <a:solidFill>
                  <a:srgbClr val="FFFFFF"/>
                </a:solidFill>
                <a:latin typeface="Calibri" pitchFamily="34" charset="0"/>
                <a:ea typeface="Calibri" pitchFamily="34" charset="-122"/>
                <a:cs typeface="Calibri" pitchFamily="34" charset="-120"/>
              </a:rPr>
              <a:t>YOLO11s → ResNet50 → OOD → Compatibility → Guidance</a:t>
            </a:r>
            <a:endParaRPr lang="en-US" sz="1400" dirty="0"/>
          </a:p>
        </p:txBody>
      </p:sp>
      <p:pic>
        <p:nvPicPr>
          <p:cNvPr id="19" name="Image 0" descr="ui_analysis.jpg">    </p:cNvPr>
          <p:cNvPicPr>
            <a:picLocks noChangeAspect="1"/>
          </p:cNvPicPr>
          <p:nvPr/>
        </p:nvPicPr>
        <p:blipFill>
          <a:blip r:embed="rId1"/>
          <a:stretch>
            <a:fillRect/>
          </a:stretch>
        </p:blipFill>
        <p:spPr>
          <a:xfrm>
            <a:off x="5989320" y="1463040"/>
            <a:ext cx="5696712" cy="3558666"/>
          </a:xfrm>
          <a:prstGeom prst="rect">
            <a:avLst/>
          </a:prstGeom>
        </p:spPr>
      </p:pic>
      <p:sp>
        <p:nvSpPr>
          <p:cNvPr id="20" name="Text 17"/>
          <p:cNvSpPr txBox="1"/>
          <p:nvPr/>
        </p:nvSpPr>
        <p:spPr>
          <a:xfrm>
            <a:off x="5989320" y="5074920"/>
            <a:ext cx="5696712" cy="256032"/>
          </a:xfrm>
          <a:prstGeom prst="rect">
            <a:avLst/>
          </a:prstGeom>
          <a:noFill/>
          <a:ln/>
        </p:spPr>
        <p:txBody>
          <a:bodyPr wrap="square" lIns="0" tIns="0" rIns="0" bIns="0" rtlCol="0" anchor="t"/>
          <a:lstStyle/>
          <a:p>
            <a:pPr algn="ctr" indent="0" marL="0">
              <a:buNone/>
            </a:pPr>
            <a:r>
              <a:rPr lang="en-US" sz="1200" dirty="0">
                <a:solidFill>
                  <a:srgbClr val="5C6B7A"/>
                </a:solidFill>
                <a:latin typeface="Calibri" pitchFamily="34" charset="0"/>
                <a:ea typeface="Calibri" pitchFamily="34" charset="-122"/>
                <a:cs typeface="Calibri" pitchFamily="34" charset="-120"/>
              </a:rPr>
              <a:t>Actual frontend: waste analyser (idle state)</a:t>
            </a:r>
            <a:endParaRPr lang="en-US" sz="1200" dirty="0"/>
          </a:p>
        </p:txBody>
      </p:sp>
      <p:sp>
        <p:nvSpPr>
          <p:cNvPr id="21" name="Shape 18"/>
          <p:cNvSpPr/>
          <p:nvPr/>
        </p:nvSpPr>
        <p:spPr>
          <a:xfrm>
            <a:off x="6126480" y="5541264"/>
            <a:ext cx="82296" cy="82296"/>
          </a:xfrm>
          <a:prstGeom prst="rect">
            <a:avLst/>
          </a:prstGeom>
          <a:solidFill>
            <a:srgbClr val="0E7C86"/>
          </a:solidFill>
          <a:ln/>
        </p:spPr>
      </p:sp>
      <p:sp>
        <p:nvSpPr>
          <p:cNvPr id="22" name="Text 19"/>
          <p:cNvSpPr txBox="1"/>
          <p:nvPr/>
        </p:nvSpPr>
        <p:spPr>
          <a:xfrm>
            <a:off x="6327648" y="5440680"/>
            <a:ext cx="5239512" cy="384048"/>
          </a:xfrm>
          <a:prstGeom prst="rect">
            <a:avLst/>
          </a:prstGeom>
          <a:noFill/>
          <a:ln/>
        </p:spPr>
        <p:txBody>
          <a:bodyPr wrap="square" lIns="0" tIns="0" rIns="0" bIns="0" rtlCol="0" anchor="t"/>
          <a:lstStyle/>
          <a:p>
            <a:pPr indent="0" marL="0">
              <a:buNone/>
            </a:pPr>
            <a:r>
              <a:rPr lang="en-US" sz="1250" dirty="0">
                <a:solidFill>
                  <a:srgbClr val="1B2733"/>
                </a:solidFill>
                <a:latin typeface="Calibri" pitchFamily="34" charset="0"/>
                <a:ea typeface="Calibri" pitchFamily="34" charset="-122"/>
                <a:cs typeface="Calibri" pitchFamily="34" charset="-120"/>
              </a:rPr>
              <a:t>Live camera: frames sent to the same /predict endpoint, at most one request in flight, about every 500 ms</a:t>
            </a:r>
            <a:endParaRPr lang="en-US" sz="1250" dirty="0"/>
          </a:p>
        </p:txBody>
      </p:sp>
      <p:sp>
        <p:nvSpPr>
          <p:cNvPr id="23" name="Shape 20"/>
          <p:cNvSpPr/>
          <p:nvPr/>
        </p:nvSpPr>
        <p:spPr>
          <a:xfrm>
            <a:off x="6126480" y="5925312"/>
            <a:ext cx="82296" cy="82296"/>
          </a:xfrm>
          <a:prstGeom prst="rect">
            <a:avLst/>
          </a:prstGeom>
          <a:solidFill>
            <a:srgbClr val="0E7C86"/>
          </a:solidFill>
          <a:ln/>
        </p:spPr>
      </p:sp>
      <p:sp>
        <p:nvSpPr>
          <p:cNvPr id="24" name="Text 21"/>
          <p:cNvSpPr txBox="1"/>
          <p:nvPr/>
        </p:nvSpPr>
        <p:spPr>
          <a:xfrm>
            <a:off x="6327648" y="5824728"/>
            <a:ext cx="5239512" cy="384048"/>
          </a:xfrm>
          <a:prstGeom prst="rect">
            <a:avLst/>
          </a:prstGeom>
          <a:noFill/>
          <a:ln/>
        </p:spPr>
        <p:txBody>
          <a:bodyPr wrap="square" lIns="0" tIns="0" rIns="0" bIns="0" rtlCol="0" anchor="t"/>
          <a:lstStyle/>
          <a:p>
            <a:pPr indent="0" marL="0">
              <a:buNone/>
            </a:pPr>
            <a:r>
              <a:rPr lang="en-US" sz="1250" dirty="0">
                <a:solidFill>
                  <a:srgbClr val="1B2733"/>
                </a:solidFill>
                <a:latin typeface="Calibri" pitchFamily="34" charset="0"/>
                <a:ea typeface="Calibri" pitchFamily="34" charset="-122"/>
                <a:cs typeface="Calibri" pitchFamily="34" charset="-120"/>
              </a:rPr>
              <a:t>Results drawn as percentage-positioned boxes over the image</a:t>
            </a:r>
            <a:endParaRPr lang="en-US" sz="1250" dirty="0"/>
          </a:p>
        </p:txBody>
      </p:sp>
      <p:sp>
        <p:nvSpPr>
          <p:cNvPr id="25" name="Slide Number Placeholder 0"/>
          <p:cNvSpPr>
            <a:spLocks noGrp="1"/>
          </p:cNvSpPr>
          <p:nvPr>
            <p:ph type="sldNum" sz="quarter" idx="4294967295"/>
          </p:nvPr>
        </p:nvSpPr>
        <p:spPr>
          <a:xfrm>
            <a:off x="10881360" y="6446520"/>
            <a:ext cx="758952"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C6B7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47472"/>
            <a:ext cx="8595360" cy="594360"/>
          </a:xfrm>
          <a:prstGeom prst="rect">
            <a:avLst/>
          </a:prstGeom>
          <a:noFill/>
          <a:ln/>
        </p:spPr>
        <p:txBody>
          <a:bodyPr wrap="square" lIns="0" tIns="0" rIns="0" bIns="0" rtlCol="0" anchor="t"/>
          <a:lstStyle/>
          <a:p>
            <a:pPr indent="0" marL="0">
              <a:buNone/>
            </a:pPr>
            <a:r>
              <a:rPr lang="en-US" sz="3000" b="1" dirty="0">
                <a:solidFill>
                  <a:srgbClr val="1B2733"/>
                </a:solidFill>
                <a:latin typeface="Calibri" pitchFamily="34" charset="0"/>
                <a:ea typeface="Calibri" pitchFamily="34" charset="-122"/>
                <a:cs typeface="Calibri" pitchFamily="34" charset="-120"/>
              </a:rPr>
              <a:t>Results, Limitations and Future Work</a:t>
            </a:r>
            <a:endParaRPr lang="en-US" sz="3000" dirty="0"/>
          </a:p>
        </p:txBody>
      </p:sp>
      <p:sp>
        <p:nvSpPr>
          <p:cNvPr id="3" name="Text 1"/>
          <p:cNvSpPr txBox="1"/>
          <p:nvPr/>
        </p:nvSpPr>
        <p:spPr>
          <a:xfrm>
            <a:off x="548640" y="932688"/>
            <a:ext cx="10607040" cy="347472"/>
          </a:xfrm>
          <a:prstGeom prst="rect">
            <a:avLst/>
          </a:prstGeom>
          <a:noFill/>
          <a:ln/>
        </p:spPr>
        <p:txBody>
          <a:bodyPr wrap="square" lIns="0" tIns="0" rIns="0" bIns="0" rtlCol="0" anchor="t"/>
          <a:lstStyle/>
          <a:p>
            <a:pPr indent="0" marL="0">
              <a:buNone/>
            </a:pPr>
            <a:r>
              <a:rPr lang="en-US" sz="1600" dirty="0">
                <a:solidFill>
                  <a:srgbClr val="5C6B7A"/>
                </a:solidFill>
                <a:latin typeface="Calibri" pitchFamily="34" charset="0"/>
                <a:ea typeface="Calibri" pitchFamily="34" charset="-122"/>
                <a:cs typeface="Calibri" pitchFamily="34" charset="-120"/>
              </a:rPr>
              <a:t>What works, what is still weak, and what we do next.</a:t>
            </a:r>
            <a:endParaRPr lang="en-US" sz="1600" dirty="0"/>
          </a:p>
        </p:txBody>
      </p:sp>
      <p:sp>
        <p:nvSpPr>
          <p:cNvPr id="4" name="Text 2"/>
          <p:cNvSpPr txBox="1"/>
          <p:nvPr/>
        </p:nvSpPr>
        <p:spPr>
          <a:xfrm>
            <a:off x="8778240" y="384048"/>
            <a:ext cx="2862072" cy="274320"/>
          </a:xfrm>
          <a:prstGeom prst="rect">
            <a:avLst/>
          </a:prstGeom>
          <a:noFill/>
          <a:ln/>
        </p:spPr>
        <p:txBody>
          <a:bodyPr wrap="square" lIns="0" tIns="0" rIns="0" bIns="0" rtlCol="0" anchor="t"/>
          <a:lstStyle/>
          <a:p>
            <a:pPr algn="r" indent="0" marL="0">
              <a:buNone/>
            </a:pPr>
            <a:r>
              <a:rPr lang="en-US" sz="1200" b="1" spc="150" kern="0" dirty="0">
                <a:solidFill>
                  <a:srgbClr val="0E7C86"/>
                </a:solidFill>
                <a:latin typeface="Calibri" pitchFamily="34" charset="0"/>
                <a:ea typeface="Calibri" pitchFamily="34" charset="-122"/>
                <a:cs typeface="Calibri" pitchFamily="34" charset="-120"/>
              </a:rPr>
              <a:t>SPEAKER  ·  Drashtant</a:t>
            </a:r>
            <a:endParaRPr lang="en-US" sz="1200" dirty="0"/>
          </a:p>
        </p:txBody>
      </p:sp>
      <p:sp>
        <p:nvSpPr>
          <p:cNvPr id="5" name="Shape 3"/>
          <p:cNvSpPr/>
          <p:nvPr/>
        </p:nvSpPr>
        <p:spPr>
          <a:xfrm>
            <a:off x="548640" y="1371600"/>
            <a:ext cx="11091672" cy="1508760"/>
          </a:xfrm>
          <a:prstGeom prst="rect">
            <a:avLst/>
          </a:prstGeom>
          <a:solidFill>
            <a:srgbClr val="FFFFFF"/>
          </a:solidFill>
          <a:ln w="12700">
            <a:solidFill>
              <a:srgbClr val="D5DBE1"/>
            </a:solidFill>
            <a:prstDash val="solid"/>
          </a:ln>
        </p:spPr>
      </p:sp>
      <p:sp>
        <p:nvSpPr>
          <p:cNvPr id="6" name="Shape 4"/>
          <p:cNvSpPr/>
          <p:nvPr/>
        </p:nvSpPr>
        <p:spPr>
          <a:xfrm>
            <a:off x="548640" y="1371600"/>
            <a:ext cx="82296" cy="1508760"/>
          </a:xfrm>
          <a:prstGeom prst="rect">
            <a:avLst/>
          </a:prstGeom>
          <a:solidFill>
            <a:srgbClr val="0E7C86"/>
          </a:solidFill>
          <a:ln/>
        </p:spPr>
      </p:sp>
      <p:sp>
        <p:nvSpPr>
          <p:cNvPr id="7" name="Text 5"/>
          <p:cNvSpPr txBox="1"/>
          <p:nvPr/>
        </p:nvSpPr>
        <p:spPr>
          <a:xfrm>
            <a:off x="822960" y="1508760"/>
            <a:ext cx="2103120" cy="548640"/>
          </a:xfrm>
          <a:prstGeom prst="rect">
            <a:avLst/>
          </a:prstGeom>
          <a:noFill/>
          <a:ln/>
        </p:spPr>
        <p:txBody>
          <a:bodyPr wrap="square" lIns="0" tIns="0" rIns="0" bIns="0" rtlCol="0" anchor="t"/>
          <a:lstStyle/>
          <a:p>
            <a:pPr indent="0" marL="0">
              <a:buNone/>
            </a:pPr>
            <a:r>
              <a:rPr lang="en-US" sz="1300" b="1" spc="150" kern="0" dirty="0">
                <a:solidFill>
                  <a:srgbClr val="0E7C86"/>
                </a:solidFill>
                <a:latin typeface="Calibri" pitchFamily="34" charset="0"/>
                <a:ea typeface="Calibri" pitchFamily="34" charset="-122"/>
                <a:cs typeface="Calibri" pitchFamily="34" charset="-120"/>
              </a:rPr>
              <a:t>WHAT WORKS</a:t>
            </a:r>
            <a:endParaRPr lang="en-US" sz="1300" dirty="0"/>
          </a:p>
        </p:txBody>
      </p:sp>
      <p:sp>
        <p:nvSpPr>
          <p:cNvPr id="8" name="Text 6"/>
          <p:cNvSpPr txBox="1"/>
          <p:nvPr/>
        </p:nvSpPr>
        <p:spPr>
          <a:xfrm>
            <a:off x="2834640" y="1490472"/>
            <a:ext cx="416052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Complete multi-stage AI pipeline</a:t>
            </a:r>
            <a:endParaRPr lang="en-US" sz="1400" dirty="0"/>
          </a:p>
        </p:txBody>
      </p:sp>
      <p:sp>
        <p:nvSpPr>
          <p:cNvPr id="9" name="Text 7"/>
          <p:cNvSpPr txBox="1"/>
          <p:nvPr/>
        </p:nvSpPr>
        <p:spPr>
          <a:xfrm>
            <a:off x="2834640" y="1883664"/>
            <a:ext cx="416052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19-class fine-grained classification</a:t>
            </a:r>
            <a:endParaRPr lang="en-US" sz="1400" dirty="0"/>
          </a:p>
        </p:txBody>
      </p:sp>
      <p:sp>
        <p:nvSpPr>
          <p:cNvPr id="10" name="Text 8"/>
          <p:cNvSpPr txBox="1"/>
          <p:nvPr/>
        </p:nvSpPr>
        <p:spPr>
          <a:xfrm>
            <a:off x="2834640" y="2276856"/>
            <a:ext cx="416052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Calibrated OOD rejection</a:t>
            </a:r>
            <a:endParaRPr lang="en-US" sz="1400" dirty="0"/>
          </a:p>
        </p:txBody>
      </p:sp>
      <p:sp>
        <p:nvSpPr>
          <p:cNvPr id="11" name="Text 9"/>
          <p:cNvSpPr txBox="1"/>
          <p:nvPr/>
        </p:nvSpPr>
        <p:spPr>
          <a:xfrm>
            <a:off x="7132320" y="1490472"/>
            <a:ext cx="416052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Semantic compatibility gate</a:t>
            </a:r>
            <a:endParaRPr lang="en-US" sz="1400" dirty="0"/>
          </a:p>
        </p:txBody>
      </p:sp>
      <p:sp>
        <p:nvSpPr>
          <p:cNvPr id="12" name="Text 10"/>
          <p:cNvSpPr txBox="1"/>
          <p:nvPr/>
        </p:nvSpPr>
        <p:spPr>
          <a:xfrm>
            <a:off x="7132320" y="1883664"/>
            <a:ext cx="416052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Medical Waste 4.0 supported-subset evaluation</a:t>
            </a:r>
            <a:endParaRPr lang="en-US" sz="1400" dirty="0"/>
          </a:p>
        </p:txBody>
      </p:sp>
      <p:sp>
        <p:nvSpPr>
          <p:cNvPr id="13" name="Text 11"/>
          <p:cNvSpPr txBox="1"/>
          <p:nvPr/>
        </p:nvSpPr>
        <p:spPr>
          <a:xfrm>
            <a:off x="7132320" y="2276856"/>
            <a:ext cx="416052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Deployable FastAPI + React application</a:t>
            </a:r>
            <a:endParaRPr lang="en-US" sz="1400" dirty="0"/>
          </a:p>
        </p:txBody>
      </p:sp>
      <p:sp>
        <p:nvSpPr>
          <p:cNvPr id="14" name="Shape 12"/>
          <p:cNvSpPr/>
          <p:nvPr/>
        </p:nvSpPr>
        <p:spPr>
          <a:xfrm>
            <a:off x="548640" y="3063240"/>
            <a:ext cx="11091672" cy="1508760"/>
          </a:xfrm>
          <a:prstGeom prst="rect">
            <a:avLst/>
          </a:prstGeom>
          <a:solidFill>
            <a:srgbClr val="FFFFFF"/>
          </a:solidFill>
          <a:ln w="12700">
            <a:solidFill>
              <a:srgbClr val="D5DBE1"/>
            </a:solidFill>
            <a:prstDash val="solid"/>
          </a:ln>
        </p:spPr>
      </p:sp>
      <p:sp>
        <p:nvSpPr>
          <p:cNvPr id="15" name="Shape 13"/>
          <p:cNvSpPr/>
          <p:nvPr/>
        </p:nvSpPr>
        <p:spPr>
          <a:xfrm>
            <a:off x="548640" y="3063240"/>
            <a:ext cx="82296" cy="1508760"/>
          </a:xfrm>
          <a:prstGeom prst="rect">
            <a:avLst/>
          </a:prstGeom>
          <a:solidFill>
            <a:srgbClr val="B3394A"/>
          </a:solidFill>
          <a:ln/>
        </p:spPr>
      </p:sp>
      <p:sp>
        <p:nvSpPr>
          <p:cNvPr id="16" name="Text 14"/>
          <p:cNvSpPr txBox="1"/>
          <p:nvPr/>
        </p:nvSpPr>
        <p:spPr>
          <a:xfrm>
            <a:off x="822960" y="3200400"/>
            <a:ext cx="2103120" cy="548640"/>
          </a:xfrm>
          <a:prstGeom prst="rect">
            <a:avLst/>
          </a:prstGeom>
          <a:noFill/>
          <a:ln/>
        </p:spPr>
        <p:txBody>
          <a:bodyPr wrap="square" lIns="0" tIns="0" rIns="0" bIns="0" rtlCol="0" anchor="t"/>
          <a:lstStyle/>
          <a:p>
            <a:pPr indent="0" marL="0">
              <a:buNone/>
            </a:pPr>
            <a:r>
              <a:rPr lang="en-US" sz="1300" b="1" spc="150" kern="0" dirty="0">
                <a:solidFill>
                  <a:srgbClr val="B3394A"/>
                </a:solidFill>
                <a:latin typeface="Calibri" pitchFamily="34" charset="0"/>
                <a:ea typeface="Calibri" pitchFamily="34" charset="-122"/>
                <a:cs typeface="Calibri" pitchFamily="34" charset="-120"/>
              </a:rPr>
              <a:t>CURRENT LIMITATIONS</a:t>
            </a:r>
            <a:endParaRPr lang="en-US" sz="1300" dirty="0"/>
          </a:p>
        </p:txBody>
      </p:sp>
      <p:sp>
        <p:nvSpPr>
          <p:cNvPr id="17" name="Text 15"/>
          <p:cNvSpPr txBox="1"/>
          <p:nvPr/>
        </p:nvSpPr>
        <p:spPr>
          <a:xfrm>
            <a:off x="2834640" y="3182112"/>
            <a:ext cx="416052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Detector benchmark is weak (mAP@0.50 = 0.232)</a:t>
            </a:r>
            <a:endParaRPr lang="en-US" sz="1400" dirty="0"/>
          </a:p>
        </p:txBody>
      </p:sp>
      <p:sp>
        <p:nvSpPr>
          <p:cNvPr id="18" name="Text 16"/>
          <p:cNvSpPr txBox="1"/>
          <p:nvPr/>
        </p:nvSpPr>
        <p:spPr>
          <a:xfrm>
            <a:off x="2834640" y="3575304"/>
            <a:ext cx="416052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Classifier results are not end-to-end accuracy</a:t>
            </a:r>
            <a:endParaRPr lang="en-US" sz="1400" dirty="0"/>
          </a:p>
        </p:txBody>
      </p:sp>
      <p:sp>
        <p:nvSpPr>
          <p:cNvPr id="19" name="Text 17"/>
          <p:cNvSpPr txBox="1"/>
          <p:nvPr/>
        </p:nvSpPr>
        <p:spPr>
          <a:xfrm>
            <a:off x="2834640" y="3968496"/>
            <a:ext cx="416052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Medical evaluation covers the supported subset only</a:t>
            </a:r>
            <a:endParaRPr lang="en-US" sz="1400" dirty="0"/>
          </a:p>
        </p:txBody>
      </p:sp>
      <p:sp>
        <p:nvSpPr>
          <p:cNvPr id="20" name="Text 18"/>
          <p:cNvSpPr txBox="1"/>
          <p:nvPr/>
        </p:nvSpPr>
        <p:spPr>
          <a:xfrm>
            <a:off x="7132320" y="3182112"/>
            <a:ext cx="416052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Mixed scenes, occlusion, lighting remain hard</a:t>
            </a:r>
            <a:endParaRPr lang="en-US" sz="1400" dirty="0"/>
          </a:p>
        </p:txBody>
      </p:sp>
      <p:sp>
        <p:nvSpPr>
          <p:cNvPr id="21" name="Text 19"/>
          <p:cNvSpPr txBox="1"/>
          <p:nvPr/>
        </p:nvSpPr>
        <p:spPr>
          <a:xfrm>
            <a:off x="7132320" y="3575304"/>
            <a:ext cx="416052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Unseen waste types remain challenging</a:t>
            </a:r>
            <a:endParaRPr lang="en-US" sz="1400" dirty="0"/>
          </a:p>
        </p:txBody>
      </p:sp>
      <p:sp>
        <p:nvSpPr>
          <p:cNvPr id="22" name="Shape 20"/>
          <p:cNvSpPr/>
          <p:nvPr/>
        </p:nvSpPr>
        <p:spPr>
          <a:xfrm>
            <a:off x="548640" y="4754880"/>
            <a:ext cx="11091672" cy="1371600"/>
          </a:xfrm>
          <a:prstGeom prst="rect">
            <a:avLst/>
          </a:prstGeom>
          <a:solidFill>
            <a:srgbClr val="FFFFFF"/>
          </a:solidFill>
          <a:ln w="12700">
            <a:solidFill>
              <a:srgbClr val="D5DBE1"/>
            </a:solidFill>
            <a:prstDash val="solid"/>
          </a:ln>
        </p:spPr>
      </p:sp>
      <p:sp>
        <p:nvSpPr>
          <p:cNvPr id="23" name="Shape 21"/>
          <p:cNvSpPr/>
          <p:nvPr/>
        </p:nvSpPr>
        <p:spPr>
          <a:xfrm>
            <a:off x="548640" y="4754880"/>
            <a:ext cx="82296" cy="1371600"/>
          </a:xfrm>
          <a:prstGeom prst="rect">
            <a:avLst/>
          </a:prstGeom>
          <a:solidFill>
            <a:srgbClr val="22313F"/>
          </a:solidFill>
          <a:ln/>
        </p:spPr>
      </p:sp>
      <p:sp>
        <p:nvSpPr>
          <p:cNvPr id="24" name="Text 22"/>
          <p:cNvSpPr txBox="1"/>
          <p:nvPr/>
        </p:nvSpPr>
        <p:spPr>
          <a:xfrm>
            <a:off x="822960" y="4892040"/>
            <a:ext cx="2103120" cy="548640"/>
          </a:xfrm>
          <a:prstGeom prst="rect">
            <a:avLst/>
          </a:prstGeom>
          <a:noFill/>
          <a:ln/>
        </p:spPr>
        <p:txBody>
          <a:bodyPr wrap="square" lIns="0" tIns="0" rIns="0" bIns="0" rtlCol="0" anchor="t"/>
          <a:lstStyle/>
          <a:p>
            <a:pPr indent="0" marL="0">
              <a:buNone/>
            </a:pPr>
            <a:r>
              <a:rPr lang="en-US" sz="1300" b="1" spc="150" kern="0" dirty="0">
                <a:solidFill>
                  <a:srgbClr val="22313F"/>
                </a:solidFill>
                <a:latin typeface="Calibri" pitchFamily="34" charset="0"/>
                <a:ea typeface="Calibri" pitchFamily="34" charset="-122"/>
                <a:cs typeface="Calibri" pitchFamily="34" charset="-120"/>
              </a:rPr>
              <a:t>FUTURE</a:t>
            </a:r>
            <a:endParaRPr lang="en-US" sz="1300" dirty="0"/>
          </a:p>
        </p:txBody>
      </p:sp>
      <p:sp>
        <p:nvSpPr>
          <p:cNvPr id="25" name="Text 23"/>
          <p:cNvSpPr txBox="1"/>
          <p:nvPr/>
        </p:nvSpPr>
        <p:spPr>
          <a:xfrm>
            <a:off x="2834640" y="4873752"/>
            <a:ext cx="272796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Stronger detector</a:t>
            </a:r>
            <a:endParaRPr lang="en-US" sz="1400" dirty="0"/>
          </a:p>
        </p:txBody>
      </p:sp>
      <p:sp>
        <p:nvSpPr>
          <p:cNvPr id="26" name="Text 24"/>
          <p:cNvSpPr txBox="1"/>
          <p:nvPr/>
        </p:nvSpPr>
        <p:spPr>
          <a:xfrm>
            <a:off x="2834640" y="5266944"/>
            <a:ext cx="272796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Better annotation coverage</a:t>
            </a:r>
            <a:endParaRPr lang="en-US" sz="1400" dirty="0"/>
          </a:p>
        </p:txBody>
      </p:sp>
      <p:sp>
        <p:nvSpPr>
          <p:cNvPr id="27" name="Text 25"/>
          <p:cNvSpPr txBox="1"/>
          <p:nvPr/>
        </p:nvSpPr>
        <p:spPr>
          <a:xfrm>
            <a:off x="2834640" y="5660136"/>
            <a:ext cx="272796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Broader open-set evaluation</a:t>
            </a:r>
            <a:endParaRPr lang="en-US" sz="1400" dirty="0"/>
          </a:p>
        </p:txBody>
      </p:sp>
      <p:sp>
        <p:nvSpPr>
          <p:cNvPr id="28" name="Text 26"/>
          <p:cNvSpPr txBox="1"/>
          <p:nvPr/>
        </p:nvSpPr>
        <p:spPr>
          <a:xfrm>
            <a:off x="5699760" y="4873752"/>
            <a:ext cx="272796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Improved calibration</a:t>
            </a:r>
            <a:endParaRPr lang="en-US" sz="1400" dirty="0"/>
          </a:p>
        </p:txBody>
      </p:sp>
      <p:sp>
        <p:nvSpPr>
          <p:cNvPr id="29" name="Text 27"/>
          <p:cNvSpPr txBox="1"/>
          <p:nvPr/>
        </p:nvSpPr>
        <p:spPr>
          <a:xfrm>
            <a:off x="5699760" y="5266944"/>
            <a:ext cx="272796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Video tracking</a:t>
            </a:r>
            <a:endParaRPr lang="en-US" sz="1400" dirty="0"/>
          </a:p>
        </p:txBody>
      </p:sp>
      <p:sp>
        <p:nvSpPr>
          <p:cNvPr id="30" name="Text 28"/>
          <p:cNvSpPr txBox="1"/>
          <p:nvPr/>
        </p:nvSpPr>
        <p:spPr>
          <a:xfrm>
            <a:off x="5699760" y="5660136"/>
            <a:ext cx="272796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Active learning</a:t>
            </a:r>
            <a:endParaRPr lang="en-US" sz="1400" dirty="0"/>
          </a:p>
        </p:txBody>
      </p:sp>
      <p:sp>
        <p:nvSpPr>
          <p:cNvPr id="31" name="Text 29"/>
          <p:cNvSpPr txBox="1"/>
          <p:nvPr/>
        </p:nvSpPr>
        <p:spPr>
          <a:xfrm>
            <a:off x="8564880" y="4873752"/>
            <a:ext cx="272796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Edge deployment</a:t>
            </a:r>
            <a:endParaRPr lang="en-US" sz="1400" dirty="0"/>
          </a:p>
        </p:txBody>
      </p:sp>
      <p:sp>
        <p:nvSpPr>
          <p:cNvPr id="32" name="Text 30"/>
          <p:cNvSpPr txBox="1"/>
          <p:nvPr/>
        </p:nvSpPr>
        <p:spPr>
          <a:xfrm>
            <a:off x="8564880" y="5266944"/>
            <a:ext cx="2727960" cy="384048"/>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Regional disposal rules</a:t>
            </a:r>
            <a:endParaRPr lang="en-US" sz="1400" dirty="0"/>
          </a:p>
        </p:txBody>
      </p:sp>
      <p:sp>
        <p:nvSpPr>
          <p:cNvPr id="25" name="Slide Number Placeholder 0"/>
          <p:cNvSpPr>
            <a:spLocks noGrp="1"/>
          </p:cNvSpPr>
          <p:nvPr>
            <p:ph type="sldNum" sz="quarter" idx="4294967295"/>
          </p:nvPr>
        </p:nvSpPr>
        <p:spPr>
          <a:xfrm>
            <a:off x="10881360" y="6446520"/>
            <a:ext cx="758952"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C6B7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57200"/>
            <a:ext cx="8595360" cy="640080"/>
          </a:xfrm>
          <a:prstGeom prst="rect">
            <a:avLst/>
          </a:prstGeom>
          <a:noFill/>
          <a:ln/>
        </p:spPr>
        <p:txBody>
          <a:bodyPr wrap="square" lIns="0" tIns="0" rIns="0" bIns="0" rtlCol="0" anchor="t"/>
          <a:lstStyle/>
          <a:p>
            <a:pPr indent="0" marL="0">
              <a:buNone/>
            </a:pPr>
            <a:r>
              <a:rPr lang="en-US" sz="3200" b="1" dirty="0">
                <a:solidFill>
                  <a:srgbClr val="1B2733"/>
                </a:solidFill>
                <a:latin typeface="Calibri" pitchFamily="34" charset="0"/>
                <a:ea typeface="Calibri" pitchFamily="34" charset="-122"/>
                <a:cs typeface="Calibri" pitchFamily="34" charset="-120"/>
              </a:rPr>
              <a:t>From Dataset to Deployable AI</a:t>
            </a:r>
            <a:endParaRPr lang="en-US" sz="3200" dirty="0"/>
          </a:p>
        </p:txBody>
      </p:sp>
      <p:sp>
        <p:nvSpPr>
          <p:cNvPr id="3" name="Text 1"/>
          <p:cNvSpPr txBox="1"/>
          <p:nvPr/>
        </p:nvSpPr>
        <p:spPr>
          <a:xfrm>
            <a:off x="8778240" y="530352"/>
            <a:ext cx="2862072" cy="274320"/>
          </a:xfrm>
          <a:prstGeom prst="rect">
            <a:avLst/>
          </a:prstGeom>
          <a:noFill/>
          <a:ln/>
        </p:spPr>
        <p:txBody>
          <a:bodyPr wrap="square" lIns="0" tIns="0" rIns="0" bIns="0" rtlCol="0" anchor="t"/>
          <a:lstStyle/>
          <a:p>
            <a:pPr algn="r" indent="0" marL="0">
              <a:buNone/>
            </a:pPr>
            <a:r>
              <a:rPr lang="en-US" sz="1200" b="1" spc="150" kern="0" dirty="0">
                <a:solidFill>
                  <a:srgbClr val="0E7C86"/>
                </a:solidFill>
                <a:latin typeface="Calibri" pitchFamily="34" charset="0"/>
                <a:ea typeface="Calibri" pitchFamily="34" charset="-122"/>
                <a:cs typeface="Calibri" pitchFamily="34" charset="-120"/>
              </a:rPr>
              <a:t>SPEAKER  ·  Drashtant</a:t>
            </a:r>
            <a:endParaRPr lang="en-US" sz="1200" dirty="0"/>
          </a:p>
        </p:txBody>
      </p:sp>
      <p:sp>
        <p:nvSpPr>
          <p:cNvPr id="4" name="Shape 2"/>
          <p:cNvSpPr/>
          <p:nvPr/>
        </p:nvSpPr>
        <p:spPr>
          <a:xfrm>
            <a:off x="548640" y="1325880"/>
            <a:ext cx="1426464" cy="548640"/>
          </a:xfrm>
          <a:prstGeom prst="rect">
            <a:avLst/>
          </a:prstGeom>
          <a:solidFill>
            <a:srgbClr val="FFFFFF"/>
          </a:solidFill>
          <a:ln w="12700">
            <a:solidFill>
              <a:srgbClr val="D5DBE1"/>
            </a:solidFill>
            <a:prstDash val="solid"/>
          </a:ln>
        </p:spPr>
      </p:sp>
      <p:sp>
        <p:nvSpPr>
          <p:cNvPr id="5" name="Text 3"/>
          <p:cNvSpPr txBox="1"/>
          <p:nvPr/>
        </p:nvSpPr>
        <p:spPr>
          <a:xfrm>
            <a:off x="621792" y="1325880"/>
            <a:ext cx="1280160" cy="548640"/>
          </a:xfrm>
          <a:prstGeom prst="rect">
            <a:avLst/>
          </a:prstGeom>
          <a:noFill/>
          <a:ln/>
        </p:spPr>
        <p:txBody>
          <a:bodyPr wrap="square" lIns="0" tIns="0" rIns="0" bIns="0" rtlCol="0" anchor="ctr"/>
          <a:lstStyle/>
          <a:p>
            <a:pPr algn="ctr" indent="0" marL="0">
              <a:buNone/>
            </a:pPr>
            <a:r>
              <a:rPr lang="en-US" sz="1200" b="1" dirty="0">
                <a:solidFill>
                  <a:srgbClr val="1B2733"/>
                </a:solidFill>
                <a:latin typeface="Calibri" pitchFamily="34" charset="0"/>
                <a:ea typeface="Calibri" pitchFamily="34" charset="-122"/>
                <a:cs typeface="Calibri" pitchFamily="34" charset="-120"/>
              </a:rPr>
              <a:t>DATA</a:t>
            </a:r>
            <a:endParaRPr lang="en-US" sz="1500" dirty="0"/>
          </a:p>
        </p:txBody>
      </p:sp>
      <p:sp>
        <p:nvSpPr>
          <p:cNvPr id="6" name="Shape 4"/>
          <p:cNvSpPr/>
          <p:nvPr/>
        </p:nvSpPr>
        <p:spPr>
          <a:xfrm>
            <a:off x="1984248" y="1600200"/>
            <a:ext cx="164592" cy="0"/>
          </a:xfrm>
          <a:prstGeom prst="line">
            <a:avLst/>
          </a:prstGeom>
          <a:noFill/>
          <a:ln w="19050">
            <a:solidFill>
              <a:srgbClr val="5C6B7A"/>
            </a:solidFill>
            <a:prstDash val="solid"/>
            <a:tailEnd type="triangle"/>
          </a:ln>
        </p:spPr>
      </p:sp>
      <p:sp>
        <p:nvSpPr>
          <p:cNvPr id="7" name="Shape 5"/>
          <p:cNvSpPr/>
          <p:nvPr/>
        </p:nvSpPr>
        <p:spPr>
          <a:xfrm>
            <a:off x="2157984" y="1325880"/>
            <a:ext cx="1426464" cy="548640"/>
          </a:xfrm>
          <a:prstGeom prst="rect">
            <a:avLst/>
          </a:prstGeom>
          <a:solidFill>
            <a:srgbClr val="FFFFFF"/>
          </a:solidFill>
          <a:ln w="12700">
            <a:solidFill>
              <a:srgbClr val="D5DBE1"/>
            </a:solidFill>
            <a:prstDash val="solid"/>
          </a:ln>
        </p:spPr>
      </p:sp>
      <p:sp>
        <p:nvSpPr>
          <p:cNvPr id="8" name="Text 6"/>
          <p:cNvSpPr txBox="1"/>
          <p:nvPr/>
        </p:nvSpPr>
        <p:spPr>
          <a:xfrm>
            <a:off x="2231136" y="1325880"/>
            <a:ext cx="1280160" cy="548640"/>
          </a:xfrm>
          <a:prstGeom prst="rect">
            <a:avLst/>
          </a:prstGeom>
          <a:noFill/>
          <a:ln/>
        </p:spPr>
        <p:txBody>
          <a:bodyPr wrap="square" lIns="0" tIns="0" rIns="0" bIns="0" rtlCol="0" anchor="ctr"/>
          <a:lstStyle/>
          <a:p>
            <a:pPr algn="ctr" indent="0" marL="0">
              <a:buNone/>
            </a:pPr>
            <a:r>
              <a:rPr lang="en-US" sz="1200" b="1" dirty="0">
                <a:solidFill>
                  <a:srgbClr val="1B2733"/>
                </a:solidFill>
                <a:latin typeface="Calibri" pitchFamily="34" charset="0"/>
                <a:ea typeface="Calibri" pitchFamily="34" charset="-122"/>
                <a:cs typeface="Calibri" pitchFamily="34" charset="-120"/>
              </a:rPr>
              <a:t>DETECTION</a:t>
            </a:r>
            <a:endParaRPr lang="en-US" sz="1500" dirty="0"/>
          </a:p>
        </p:txBody>
      </p:sp>
      <p:sp>
        <p:nvSpPr>
          <p:cNvPr id="9" name="Shape 7"/>
          <p:cNvSpPr/>
          <p:nvPr/>
        </p:nvSpPr>
        <p:spPr>
          <a:xfrm>
            <a:off x="3593592" y="1600200"/>
            <a:ext cx="164592" cy="0"/>
          </a:xfrm>
          <a:prstGeom prst="line">
            <a:avLst/>
          </a:prstGeom>
          <a:noFill/>
          <a:ln w="19050">
            <a:solidFill>
              <a:srgbClr val="5C6B7A"/>
            </a:solidFill>
            <a:prstDash val="solid"/>
            <a:tailEnd type="triangle"/>
          </a:ln>
        </p:spPr>
      </p:sp>
      <p:sp>
        <p:nvSpPr>
          <p:cNvPr id="10" name="Shape 8"/>
          <p:cNvSpPr/>
          <p:nvPr/>
        </p:nvSpPr>
        <p:spPr>
          <a:xfrm>
            <a:off x="3767328" y="1325880"/>
            <a:ext cx="1426464" cy="548640"/>
          </a:xfrm>
          <a:prstGeom prst="rect">
            <a:avLst/>
          </a:prstGeom>
          <a:solidFill>
            <a:srgbClr val="FFFFFF"/>
          </a:solidFill>
          <a:ln w="12700">
            <a:solidFill>
              <a:srgbClr val="D5DBE1"/>
            </a:solidFill>
            <a:prstDash val="solid"/>
          </a:ln>
        </p:spPr>
      </p:sp>
      <p:sp>
        <p:nvSpPr>
          <p:cNvPr id="11" name="Text 9"/>
          <p:cNvSpPr txBox="1"/>
          <p:nvPr/>
        </p:nvSpPr>
        <p:spPr>
          <a:xfrm>
            <a:off x="3840480" y="1325880"/>
            <a:ext cx="1280160" cy="548640"/>
          </a:xfrm>
          <a:prstGeom prst="rect">
            <a:avLst/>
          </a:prstGeom>
          <a:noFill/>
          <a:ln/>
        </p:spPr>
        <p:txBody>
          <a:bodyPr wrap="square" lIns="0" tIns="0" rIns="0" bIns="0" rtlCol="0" anchor="ctr"/>
          <a:lstStyle/>
          <a:p>
            <a:pPr algn="ctr" indent="0" marL="0">
              <a:buNone/>
            </a:pPr>
            <a:r>
              <a:rPr lang="en-US" sz="1200" b="1" dirty="0">
                <a:solidFill>
                  <a:srgbClr val="1B2733"/>
                </a:solidFill>
                <a:latin typeface="Calibri" pitchFamily="34" charset="0"/>
                <a:ea typeface="Calibri" pitchFamily="34" charset="-122"/>
                <a:cs typeface="Calibri" pitchFamily="34" charset="-120"/>
              </a:rPr>
              <a:t>CLASSIFICATION</a:t>
            </a:r>
            <a:endParaRPr lang="en-US" sz="1500" dirty="0"/>
          </a:p>
        </p:txBody>
      </p:sp>
      <p:sp>
        <p:nvSpPr>
          <p:cNvPr id="12" name="Shape 10"/>
          <p:cNvSpPr/>
          <p:nvPr/>
        </p:nvSpPr>
        <p:spPr>
          <a:xfrm>
            <a:off x="5202936" y="1600200"/>
            <a:ext cx="164592" cy="0"/>
          </a:xfrm>
          <a:prstGeom prst="line">
            <a:avLst/>
          </a:prstGeom>
          <a:noFill/>
          <a:ln w="19050">
            <a:solidFill>
              <a:srgbClr val="5C6B7A"/>
            </a:solidFill>
            <a:prstDash val="solid"/>
            <a:tailEnd type="triangle"/>
          </a:ln>
        </p:spPr>
      </p:sp>
      <p:sp>
        <p:nvSpPr>
          <p:cNvPr id="13" name="Shape 11"/>
          <p:cNvSpPr/>
          <p:nvPr/>
        </p:nvSpPr>
        <p:spPr>
          <a:xfrm>
            <a:off x="5376672" y="1325880"/>
            <a:ext cx="1426464" cy="548640"/>
          </a:xfrm>
          <a:prstGeom prst="rect">
            <a:avLst/>
          </a:prstGeom>
          <a:solidFill>
            <a:srgbClr val="0E7C86"/>
          </a:solidFill>
          <a:ln w="12700">
            <a:solidFill>
              <a:srgbClr val="0E7C86"/>
            </a:solidFill>
            <a:prstDash val="solid"/>
          </a:ln>
        </p:spPr>
      </p:sp>
      <p:sp>
        <p:nvSpPr>
          <p:cNvPr id="14" name="Text 12"/>
          <p:cNvSpPr txBox="1"/>
          <p:nvPr/>
        </p:nvSpPr>
        <p:spPr>
          <a:xfrm>
            <a:off x="5449824" y="1325880"/>
            <a:ext cx="128016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OOD</a:t>
            </a:r>
            <a:endParaRPr lang="en-US" sz="1500" dirty="0"/>
          </a:p>
        </p:txBody>
      </p:sp>
      <p:sp>
        <p:nvSpPr>
          <p:cNvPr id="15" name="Shape 13"/>
          <p:cNvSpPr/>
          <p:nvPr/>
        </p:nvSpPr>
        <p:spPr>
          <a:xfrm>
            <a:off x="6812280" y="1600200"/>
            <a:ext cx="164592" cy="0"/>
          </a:xfrm>
          <a:prstGeom prst="line">
            <a:avLst/>
          </a:prstGeom>
          <a:noFill/>
          <a:ln w="19050">
            <a:solidFill>
              <a:srgbClr val="5C6B7A"/>
            </a:solidFill>
            <a:prstDash val="solid"/>
            <a:tailEnd type="triangle"/>
          </a:ln>
        </p:spPr>
      </p:sp>
      <p:sp>
        <p:nvSpPr>
          <p:cNvPr id="16" name="Shape 14"/>
          <p:cNvSpPr/>
          <p:nvPr/>
        </p:nvSpPr>
        <p:spPr>
          <a:xfrm>
            <a:off x="6986016" y="1325880"/>
            <a:ext cx="1426464" cy="548640"/>
          </a:xfrm>
          <a:prstGeom prst="rect">
            <a:avLst/>
          </a:prstGeom>
          <a:solidFill>
            <a:srgbClr val="0E7C86"/>
          </a:solidFill>
          <a:ln w="12700">
            <a:solidFill>
              <a:srgbClr val="0E7C86"/>
            </a:solidFill>
            <a:prstDash val="solid"/>
          </a:ln>
        </p:spPr>
      </p:sp>
      <p:sp>
        <p:nvSpPr>
          <p:cNvPr id="17" name="Text 15"/>
          <p:cNvSpPr txBox="1"/>
          <p:nvPr/>
        </p:nvSpPr>
        <p:spPr>
          <a:xfrm>
            <a:off x="7059168" y="1325880"/>
            <a:ext cx="128016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COMPATIBILITY</a:t>
            </a:r>
            <a:endParaRPr lang="en-US" sz="1500" dirty="0"/>
          </a:p>
        </p:txBody>
      </p:sp>
      <p:sp>
        <p:nvSpPr>
          <p:cNvPr id="18" name="Shape 16"/>
          <p:cNvSpPr/>
          <p:nvPr/>
        </p:nvSpPr>
        <p:spPr>
          <a:xfrm>
            <a:off x="8421624" y="1600200"/>
            <a:ext cx="164592" cy="0"/>
          </a:xfrm>
          <a:prstGeom prst="line">
            <a:avLst/>
          </a:prstGeom>
          <a:noFill/>
          <a:ln w="19050">
            <a:solidFill>
              <a:srgbClr val="5C6B7A"/>
            </a:solidFill>
            <a:prstDash val="solid"/>
            <a:tailEnd type="triangle"/>
          </a:ln>
        </p:spPr>
      </p:sp>
      <p:sp>
        <p:nvSpPr>
          <p:cNvPr id="19" name="Shape 17"/>
          <p:cNvSpPr/>
          <p:nvPr/>
        </p:nvSpPr>
        <p:spPr>
          <a:xfrm>
            <a:off x="8595360" y="1325880"/>
            <a:ext cx="1426464" cy="548640"/>
          </a:xfrm>
          <a:prstGeom prst="rect">
            <a:avLst/>
          </a:prstGeom>
          <a:solidFill>
            <a:srgbClr val="FFFFFF"/>
          </a:solidFill>
          <a:ln w="12700">
            <a:solidFill>
              <a:srgbClr val="D5DBE1"/>
            </a:solidFill>
            <a:prstDash val="solid"/>
          </a:ln>
        </p:spPr>
      </p:sp>
      <p:sp>
        <p:nvSpPr>
          <p:cNvPr id="20" name="Text 18"/>
          <p:cNvSpPr txBox="1"/>
          <p:nvPr/>
        </p:nvSpPr>
        <p:spPr>
          <a:xfrm>
            <a:off x="8668512" y="1325880"/>
            <a:ext cx="1280160" cy="548640"/>
          </a:xfrm>
          <a:prstGeom prst="rect">
            <a:avLst/>
          </a:prstGeom>
          <a:noFill/>
          <a:ln/>
        </p:spPr>
        <p:txBody>
          <a:bodyPr wrap="square" lIns="0" tIns="0" rIns="0" bIns="0" rtlCol="0" anchor="ctr"/>
          <a:lstStyle/>
          <a:p>
            <a:pPr algn="ctr" indent="0" marL="0">
              <a:buNone/>
            </a:pPr>
            <a:r>
              <a:rPr lang="en-US" sz="1200" b="1" dirty="0">
                <a:solidFill>
                  <a:srgbClr val="1B2733"/>
                </a:solidFill>
                <a:latin typeface="Calibri" pitchFamily="34" charset="0"/>
                <a:ea typeface="Calibri" pitchFamily="34" charset="-122"/>
                <a:cs typeface="Calibri" pitchFamily="34" charset="-120"/>
              </a:rPr>
              <a:t>GUIDANCE</a:t>
            </a:r>
            <a:endParaRPr lang="en-US" sz="1500" dirty="0"/>
          </a:p>
        </p:txBody>
      </p:sp>
      <p:sp>
        <p:nvSpPr>
          <p:cNvPr id="21" name="Shape 19"/>
          <p:cNvSpPr/>
          <p:nvPr/>
        </p:nvSpPr>
        <p:spPr>
          <a:xfrm>
            <a:off x="10030968" y="1600200"/>
            <a:ext cx="164592" cy="0"/>
          </a:xfrm>
          <a:prstGeom prst="line">
            <a:avLst/>
          </a:prstGeom>
          <a:noFill/>
          <a:ln w="19050">
            <a:solidFill>
              <a:srgbClr val="5C6B7A"/>
            </a:solidFill>
            <a:prstDash val="solid"/>
            <a:tailEnd type="triangle"/>
          </a:ln>
        </p:spPr>
      </p:sp>
      <p:sp>
        <p:nvSpPr>
          <p:cNvPr id="22" name="Shape 20"/>
          <p:cNvSpPr/>
          <p:nvPr/>
        </p:nvSpPr>
        <p:spPr>
          <a:xfrm>
            <a:off x="10204704" y="1325880"/>
            <a:ext cx="1426464" cy="548640"/>
          </a:xfrm>
          <a:prstGeom prst="rect">
            <a:avLst/>
          </a:prstGeom>
          <a:solidFill>
            <a:srgbClr val="FFFFFF"/>
          </a:solidFill>
          <a:ln w="12700">
            <a:solidFill>
              <a:srgbClr val="D5DBE1"/>
            </a:solidFill>
            <a:prstDash val="solid"/>
          </a:ln>
        </p:spPr>
      </p:sp>
      <p:sp>
        <p:nvSpPr>
          <p:cNvPr id="23" name="Text 21"/>
          <p:cNvSpPr txBox="1"/>
          <p:nvPr/>
        </p:nvSpPr>
        <p:spPr>
          <a:xfrm>
            <a:off x="10277856" y="1325880"/>
            <a:ext cx="1280160" cy="548640"/>
          </a:xfrm>
          <a:prstGeom prst="rect">
            <a:avLst/>
          </a:prstGeom>
          <a:noFill/>
          <a:ln/>
        </p:spPr>
        <p:txBody>
          <a:bodyPr wrap="square" lIns="0" tIns="0" rIns="0" bIns="0" rtlCol="0" anchor="ctr"/>
          <a:lstStyle/>
          <a:p>
            <a:pPr algn="ctr" indent="0" marL="0">
              <a:buNone/>
            </a:pPr>
            <a:r>
              <a:rPr lang="en-US" sz="1200" b="1" dirty="0">
                <a:solidFill>
                  <a:srgbClr val="1B2733"/>
                </a:solidFill>
                <a:latin typeface="Calibri" pitchFamily="34" charset="0"/>
                <a:ea typeface="Calibri" pitchFamily="34" charset="-122"/>
                <a:cs typeface="Calibri" pitchFamily="34" charset="-120"/>
              </a:rPr>
              <a:t>APPLICATION</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194560"/>
          <a:ext cx="11091672" cy="914400"/>
        </p:xfrm>
        <a:graphic>
          <a:graphicData uri="http://schemas.openxmlformats.org/drawingml/2006/table">
            <a:tbl>
              <a:tblPr/>
              <a:tblGrid>
                <a:gridCol w="2377440"/>
                <a:gridCol w="8714232"/>
              </a:tblGrid>
              <a:tr h="4572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Member</a:t>
                      </a:r>
                      <a:endParaRPr lang="en-US" sz="1500" dirty="0">
                        <a:latin typeface="Calibri" charset="0"/>
                        <a:ea typeface="Calibri" charset="0"/>
                        <a:cs typeface="Calibri" charset="0"/>
                      </a:endParaRPr>
                    </a:p>
                  </a:txBody>
                  <a:tcPr marL="109728" marR="109728"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2313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Contribution</a:t>
                      </a:r>
                      <a:endParaRPr lang="en-US" sz="1500" dirty="0">
                        <a:latin typeface="Calibri" charset="0"/>
                        <a:ea typeface="Calibri" charset="0"/>
                        <a:cs typeface="Calibri" charset="0"/>
                      </a:endParaRPr>
                    </a:p>
                  </a:txBody>
                  <a:tcPr marL="109728" marR="109728"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2313F"/>
                    </a:solidFill>
                  </a:tcPr>
                </a:tc>
              </a:tr>
              <a:tr h="457200">
                <a:tc>
                  <a:txBody>
                    <a:bodyPr/>
                    <a:lstStyle/>
                    <a:p>
                      <a:pPr indent="0" marL="0">
                        <a:buNone/>
                      </a:pPr>
                      <a:r>
                        <a:rPr lang="en-US" sz="1600" b="1" dirty="0">
                          <a:solidFill>
                            <a:srgbClr val="0E7C86"/>
                          </a:solidFill>
                          <a:latin typeface="Calibri" pitchFamily="34" charset="0"/>
                          <a:ea typeface="Calibri" pitchFamily="34" charset="-122"/>
                          <a:cs typeface="Calibri" pitchFamily="34" charset="-120"/>
                        </a:rPr>
                        <a:t>Drashtant</a:t>
                      </a:r>
                      <a:endParaRPr lang="en-US" sz="1600" dirty="0">
                        <a:latin typeface="Calibri" charset="0"/>
                        <a:ea typeface="Calibri" charset="0"/>
                        <a:cs typeface="Calibri" charset="0"/>
                      </a:endParaRPr>
                    </a:p>
                  </a:txBody>
                  <a:tcPr marL="109728" marR="109728"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AI/ML + Training + Backend + Architecture</a:t>
                      </a:r>
                      <a:endParaRPr lang="en-US" sz="1600" dirty="0">
                        <a:latin typeface="Calibri" charset="0"/>
                        <a:ea typeface="Calibri" charset="0"/>
                        <a:cs typeface="Calibri" charset="0"/>
                      </a:endParaRPr>
                    </a:p>
                  </a:txBody>
                  <a:tcPr marL="109728" marR="109728"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457200">
                <a:tc>
                  <a:txBody>
                    <a:bodyPr/>
                    <a:lstStyle/>
                    <a:p>
                      <a:pPr indent="0" marL="0">
                        <a:buNone/>
                      </a:pPr>
                      <a:r>
                        <a:rPr lang="en-US" sz="1600" b="1" dirty="0">
                          <a:solidFill>
                            <a:srgbClr val="0E7C86"/>
                          </a:solidFill>
                          <a:latin typeface="Calibri" pitchFamily="34" charset="0"/>
                          <a:ea typeface="Calibri" pitchFamily="34" charset="-122"/>
                          <a:cs typeface="Calibri" pitchFamily="34" charset="-120"/>
                        </a:rPr>
                        <a:t>Nirav</a:t>
                      </a:r>
                      <a:endParaRPr lang="en-US" sz="1600" dirty="0">
                        <a:latin typeface="Calibri" charset="0"/>
                        <a:ea typeface="Calibri" charset="0"/>
                        <a:cs typeface="Calibri" charset="0"/>
                      </a:endParaRPr>
                    </a:p>
                  </a:txBody>
                  <a:tcPr marL="109728" marR="109728"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Dataset + Data Engineering</a:t>
                      </a:r>
                      <a:endParaRPr lang="en-US" sz="1600" dirty="0">
                        <a:latin typeface="Calibri" charset="0"/>
                        <a:ea typeface="Calibri" charset="0"/>
                        <a:cs typeface="Calibri" charset="0"/>
                      </a:endParaRPr>
                    </a:p>
                  </a:txBody>
                  <a:tcPr marL="109728" marR="109728"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457200">
                <a:tc>
                  <a:txBody>
                    <a:bodyPr/>
                    <a:lstStyle/>
                    <a:p>
                      <a:pPr indent="0" marL="0">
                        <a:buNone/>
                      </a:pPr>
                      <a:r>
                        <a:rPr lang="en-US" sz="1600" b="1" dirty="0">
                          <a:solidFill>
                            <a:srgbClr val="0E7C86"/>
                          </a:solidFill>
                          <a:latin typeface="Calibri" pitchFamily="34" charset="0"/>
                          <a:ea typeface="Calibri" pitchFamily="34" charset="-122"/>
                          <a:cs typeface="Calibri" pitchFamily="34" charset="-120"/>
                        </a:rPr>
                        <a:t>Krish</a:t>
                      </a:r>
                      <a:endParaRPr lang="en-US" sz="1600" dirty="0">
                        <a:latin typeface="Calibri" charset="0"/>
                        <a:ea typeface="Calibri" charset="0"/>
                        <a:cs typeface="Calibri" charset="0"/>
                      </a:endParaRPr>
                    </a:p>
                  </a:txBody>
                  <a:tcPr marL="109728" marR="109728"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YOLO11s + Detector Evaluation</a:t>
                      </a:r>
                      <a:endParaRPr lang="en-US" sz="1600" dirty="0">
                        <a:latin typeface="Calibri" charset="0"/>
                        <a:ea typeface="Calibri" charset="0"/>
                        <a:cs typeface="Calibri" charset="0"/>
                      </a:endParaRPr>
                    </a:p>
                  </a:txBody>
                  <a:tcPr marL="109728" marR="109728"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457200">
                <a:tc>
                  <a:txBody>
                    <a:bodyPr/>
                    <a:lstStyle/>
                    <a:p>
                      <a:pPr indent="0" marL="0">
                        <a:buNone/>
                      </a:pPr>
                      <a:r>
                        <a:rPr lang="en-US" sz="1600" b="1" dirty="0">
                          <a:solidFill>
                            <a:srgbClr val="0E7C86"/>
                          </a:solidFill>
                          <a:latin typeface="Calibri" pitchFamily="34" charset="0"/>
                          <a:ea typeface="Calibri" pitchFamily="34" charset="-122"/>
                          <a:cs typeface="Calibri" pitchFamily="34" charset="-120"/>
                        </a:rPr>
                        <a:t>Smit</a:t>
                      </a:r>
                      <a:endParaRPr lang="en-US" sz="1600" dirty="0">
                        <a:latin typeface="Calibri" charset="0"/>
                        <a:ea typeface="Calibri" charset="0"/>
                        <a:cs typeface="Calibri" charset="0"/>
                      </a:endParaRPr>
                    </a:p>
                  </a:txBody>
                  <a:tcPr marL="109728" marR="109728"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OOD + Compatibility + Reliability</a:t>
                      </a:r>
                      <a:endParaRPr lang="en-US" sz="1600" dirty="0">
                        <a:latin typeface="Calibri" charset="0"/>
                        <a:ea typeface="Calibri" charset="0"/>
                        <a:cs typeface="Calibri" charset="0"/>
                      </a:endParaRPr>
                    </a:p>
                  </a:txBody>
                  <a:tcPr marL="109728" marR="109728"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457200">
                <a:tc>
                  <a:txBody>
                    <a:bodyPr/>
                    <a:lstStyle/>
                    <a:p>
                      <a:pPr indent="0" marL="0">
                        <a:buNone/>
                      </a:pPr>
                      <a:r>
                        <a:rPr lang="en-US" sz="1600" b="1" dirty="0">
                          <a:solidFill>
                            <a:srgbClr val="0E7C86"/>
                          </a:solidFill>
                          <a:latin typeface="Calibri" pitchFamily="34" charset="0"/>
                          <a:ea typeface="Calibri" pitchFamily="34" charset="-122"/>
                          <a:cs typeface="Calibri" pitchFamily="34" charset="-120"/>
                        </a:rPr>
                        <a:t>Ronak</a:t>
                      </a:r>
                      <a:endParaRPr lang="en-US" sz="1600" dirty="0">
                        <a:latin typeface="Calibri" charset="0"/>
                        <a:ea typeface="Calibri" charset="0"/>
                        <a:cs typeface="Calibri" charset="0"/>
                      </a:endParaRPr>
                    </a:p>
                  </a:txBody>
                  <a:tcPr marL="109728" marR="109728"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Frontend + Live Camera + Integration</a:t>
                      </a:r>
                      <a:endParaRPr lang="en-US" sz="1600" dirty="0">
                        <a:latin typeface="Calibri" charset="0"/>
                        <a:ea typeface="Calibri" charset="0"/>
                        <a:cs typeface="Calibri" charset="0"/>
                      </a:endParaRPr>
                    </a:p>
                  </a:txBody>
                  <a:tcPr marL="109728" marR="109728"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bl>
          </a:graphicData>
        </a:graphic>
      </p:graphicFrame>
      <p:sp>
        <p:nvSpPr>
          <p:cNvPr id="25" name="Text 22"/>
          <p:cNvSpPr txBox="1"/>
          <p:nvPr/>
        </p:nvSpPr>
        <p:spPr>
          <a:xfrm>
            <a:off x="548640" y="5257800"/>
            <a:ext cx="11091672" cy="640080"/>
          </a:xfrm>
          <a:prstGeom prst="rect">
            <a:avLst/>
          </a:prstGeom>
          <a:noFill/>
          <a:ln/>
        </p:spPr>
        <p:txBody>
          <a:bodyPr wrap="square" lIns="0" tIns="0" rIns="0" bIns="0" rtlCol="0" anchor="t"/>
          <a:lstStyle/>
          <a:p>
            <a:pPr algn="ctr" indent="0" marL="0">
              <a:buNone/>
            </a:pPr>
            <a:r>
              <a:rPr lang="en-US" sz="3000" b="1" i="1" dirty="0">
                <a:solidFill>
                  <a:srgbClr val="0E7C86"/>
                </a:solidFill>
                <a:latin typeface="Calibri" pitchFamily="34" charset="0"/>
                <a:ea typeface="Calibri" pitchFamily="34" charset="-122"/>
                <a:cs typeface="Calibri" pitchFamily="34" charset="-120"/>
              </a:rPr>
              <a:t>A useful AI system must know when not to guess.</a:t>
            </a:r>
            <a:endParaRPr lang="en-US" sz="3000" dirty="0"/>
          </a:p>
        </p:txBody>
      </p:sp>
      <p:sp>
        <p:nvSpPr>
          <p:cNvPr id="26" name="Text 23"/>
          <p:cNvSpPr txBox="1"/>
          <p:nvPr/>
        </p:nvSpPr>
        <p:spPr>
          <a:xfrm>
            <a:off x="548640" y="5852160"/>
            <a:ext cx="11091672" cy="457200"/>
          </a:xfrm>
          <a:prstGeom prst="rect">
            <a:avLst/>
          </a:prstGeom>
          <a:noFill/>
          <a:ln/>
        </p:spPr>
        <p:txBody>
          <a:bodyPr wrap="square" lIns="0" tIns="0" rIns="0" bIns="0" rtlCol="0" anchor="t"/>
          <a:lstStyle/>
          <a:p>
            <a:pPr algn="ctr" indent="0" marL="0">
              <a:buNone/>
            </a:pPr>
            <a:r>
              <a:rPr lang="en-US" sz="2200" b="1" dirty="0">
                <a:solidFill>
                  <a:srgbClr val="22313F"/>
                </a:solidFill>
                <a:latin typeface="Calibri" pitchFamily="34" charset="0"/>
                <a:ea typeface="Calibri" pitchFamily="34" charset="-122"/>
                <a:cs typeface="Calibri" pitchFamily="34" charset="-120"/>
              </a:rPr>
              <a:t>Thank You</a:t>
            </a:r>
            <a:endParaRPr lang="en-US" sz="2200" dirty="0"/>
          </a:p>
        </p:txBody>
      </p:sp>
      <p:sp>
        <p:nvSpPr>
          <p:cNvPr id="25" name="Slide Number Placeholder 0"/>
          <p:cNvSpPr>
            <a:spLocks noGrp="1"/>
          </p:cNvSpPr>
          <p:nvPr>
            <p:ph type="sldNum" sz="quarter" idx="4294967295"/>
          </p:nvPr>
        </p:nvSpPr>
        <p:spPr>
          <a:xfrm>
            <a:off x="10881360" y="6446520"/>
            <a:ext cx="758952"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C6B7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WasteWise Academic">
  <a:themeElements>
    <a:clrScheme name="WasteWise Academic">
      <a:dk1>
        <a:srgbClr val="1B2733"/>
      </a:dk1>
      <a:lt1>
        <a:srgbClr val="FFFFFF"/>
      </a:lt1>
      <a:dk2>
        <a:srgbClr val="22313F"/>
      </a:dk2>
      <a:lt2>
        <a:srgbClr val="F7F8FA"/>
      </a:lt2>
      <a:accent1>
        <a:srgbClr val="0E7C86"/>
      </a:accent1>
      <a:accent2>
        <a:srgbClr val="22313F"/>
      </a:accent2>
      <a:accent3>
        <a:srgbClr val="B3394A"/>
      </a:accent3>
      <a:accent4>
        <a:srgbClr val="5C6B7A"/>
      </a:accent4>
      <a:accent5>
        <a:srgbClr val="0A5C64"/>
      </a:accent5>
      <a:accent6>
        <a:srgbClr val="D5DBE1"/>
      </a:accent6>
      <a:hlink>
        <a:srgbClr val="0E7C86"/>
      </a:hlink>
      <a:folHlink>
        <a:srgbClr val="5C6B7A"/>
      </a:folHlink>
    </a:clrScheme>
    <a:fontScheme name="WasteWise Academic">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Sarvajanik College of Engineering &amp;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WasteWise AI: Intelligent Multi-Class Waste Detection and Classification Using Neural Networks</dc:title>
  <dc:subject>Open Ended Assignment in Artificial Intelligence, 2026–27</dc:subject>
  <dc:creator>Drashtant Mevada, Smit Rathod, Nirav Panwala, Krish Tandel, Ronak Solanki</dc:creator>
  <cp:lastModifiedBy>Drashtant Mevada, Smit Rathod, Nirav Panwala, Krish Tandel, Ronak Solanki</cp:lastModifiedBy>
  <cp:revision>1</cp:revision>
  <dcterms:created xsi:type="dcterms:W3CDTF">2026-10-28T11:55:04Z</dcterms:created>
  <dcterms:modified xsi:type="dcterms:W3CDTF">2026-10-28T11:55:04Z</dcterms:modified>
</cp:coreProperties>
</file>