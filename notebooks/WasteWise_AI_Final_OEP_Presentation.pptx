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asteWise AI" id="{2f5fa43d-a130-6360-1ddb-1b5175a23c5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WasteWise AI: Intelligent Multi-Class Waste Detection and Classification Using Neural Networks. Open Ended Assignment in Artificial Intelligence. Team: Drashtant Mevada, Smit Rathod, Nirav Panwala, Krish Tandel, Ronak Solanki. The scene on the right is an illustration of the pipeline idea (detect, classify, accept/reject) — not real model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classifier always returns a label — even for an unsupported object, a confident wrong label, a semantic mismatch, or something outside its known feature space. WasteWise AI wraps classification in a guarded decision pipeline: detect, classify, verify (OOD + compatibility), accept or reject, and only then give disposal guidance.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jobs map to four stages: YOLO11s localizes (6 practical classes), ResNet50 classifies (19 detailed classes), OOD + semantic compatibility reject unsupported or incompatible results, and disposal guidance is produced only after acceptance.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detector uses a deliberately coarse, practical 6-class vocabulary; the classifier uses 19 detailed classes. The map shown is the production compatibility map from the predictor (DETECTOR_CLASS_COMPATIBILITY): an object is rejected when the ResNet prediction is not in the set allowed for its YOLO class. Medical Waste 4.0: 6,321 images discovered, 6,249 supported across 7 classes, 72 excluded (medical_filter is unsupported). Dedicated audit tooling was implemented for integrity, provenance, taxonomy and duplicate checks; we do not claim every possible form of leakage is eliminated.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pipeline: image → YOLO11s detection (6 classes) → box + expanded crop → Expanded ResNet50 (19 classes) → prediction → OOD check (threshold 0.230447) → semantic compatibility gate → accept/reject → disposal guidance. An object is rejected if OOD marks it unsupported OR the classifier output is incompatible with the detector class. The accounting identity RAW = ACCEPTED + OOD REJECTED + COMPATIBILITY REJECTED + OTHER REJECTED makes every detection auditable.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DETECTOR metrics (mAP), not classification accuracy. YOLO11s on E4 validation (149 images, 407 instances): precision 0.216, recall 0.261, mAP@0.50 0.232, mAP@0.50:0.95 0.188. Per-class mAP@0.50: plastic 0.443, metal 0.371, paper/cardboard 0.267, other_trash 0.065, glass 0.0158. The TACO practical baseline (P 0.282, R 0.387, mAP50 0.306, mAP50-95 0.236) is a separate evaluation setting shown for context, not a like-for-like comparison. Object localization is the main bottleneck.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numbers are VALIDATION Macro-F1, not test accuracy. Stage 1: best validation Macro-F1 95.75% at epoch 20 of 25 (at that checkpoint accuracy 95.73%, macro precision 95.06%, macro recall 96.58%; batch size 32, lr 0.0005, weight decay 0.0001). Stage 2: checkpoint metadata records validation Macro-F1 96.80% at epoch 6 over 19 classes. The title contrasts classification with the detector's weaker mAP; those are different metrics and are not directly comparable.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OOD method: extract the ResNet50 feature embedding, normalize it, compare with known-class centroids by cosine similarity, take the best similarity and compare to the calibrated threshold 0.230447 (1st percentile of correct-class cosine similarities on the expanded validation set). Real example: the classifier predicted cardboard but the best similarity was 0.1996, below 0.2304, so the image was rejected as unsupported.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interpretation: Expanded ResNet50 Stage 2 achieved 99.14% classification accuracy on the supported subset of the Medical Waste 4.0 external dataset (6,195 correct of 6,249 supported). 6,321 images were discovered; 72 were excluded as unsupported; 54 were incorrect; 0 inference errors. This is not accuracy over every discovered image and not end-to-end detection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Backend: FastAPI (WasteWise AI API, v1.0.0) with GET /, GET /health, GET /ready and POST /predict; /predict validates file extension, empty files, a 25 MB limit and PIL image integrity, and reuses initialized models. Frontend: React 19, TypeScript, Vite 8, Tailwind CSS 4. The inference snapshot is ONE example (plastic_42.jpg): 10 raw detections, 2 accepted, 1194.64 ms. It is not an average benchmark.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Conclusion: WasteWise AI integrates YOLO11s detection, Expanded ResNet50 classification, embedding-based OOD rejection, semantic compatibility checking and disposal guidance. The strongest verified result is 99.14% classification accuracy on the supported subset of Medical Waste 4.0, but the detector is the current bottleneck, so this is a multi-stage research prototype rather than a uniformly high-accuracy end-to-end detector. Next: stronger localization while keeping the rejection and accountability mechanisms.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W_CONTENT">
    <p:bg>
      <p:bgPr>
        <a:solidFill>
          <a:srgbClr val="061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256032" cy="0"/>
          </a:xfrm>
          <a:prstGeom prst="line">
            <a:avLst/>
          </a:prstGeom>
          <a:noFill/>
          <a:ln w="15875">
            <a:solidFill>
              <a:srgbClr val="1D36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256032"/>
          </a:xfrm>
          <a:prstGeom prst="line">
            <a:avLst/>
          </a:prstGeom>
          <a:noFill/>
          <a:ln w="15875">
            <a:solidFill>
              <a:srgbClr val="1D36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61343" y="274320"/>
            <a:ext cx="256032" cy="0"/>
          </a:xfrm>
          <a:prstGeom prst="line">
            <a:avLst/>
          </a:prstGeom>
          <a:noFill/>
          <a:ln w="15875">
            <a:solidFill>
              <a:srgbClr val="1D36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256032"/>
          </a:xfrm>
          <a:prstGeom prst="line">
            <a:avLst/>
          </a:prstGeom>
          <a:noFill/>
          <a:ln w="15875">
            <a:solidFill>
              <a:srgbClr val="1D36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256032" cy="0"/>
          </a:xfrm>
          <a:prstGeom prst="line">
            <a:avLst/>
          </a:prstGeom>
          <a:noFill/>
          <a:ln w="15875">
            <a:solidFill>
              <a:srgbClr val="1D36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327648"/>
            <a:ext cx="0" cy="256032"/>
          </a:xfrm>
          <a:prstGeom prst="line">
            <a:avLst/>
          </a:prstGeom>
          <a:noFill/>
          <a:ln w="15875">
            <a:solidFill>
              <a:srgbClr val="1D36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61343" y="6583680"/>
            <a:ext cx="256032" cy="0"/>
          </a:xfrm>
          <a:prstGeom prst="line">
            <a:avLst/>
          </a:prstGeom>
          <a:noFill/>
          <a:ln w="15875">
            <a:solidFill>
              <a:srgbClr val="1D36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327648"/>
            <a:ext cx="0" cy="256032"/>
          </a:xfrm>
          <a:prstGeom prst="line">
            <a:avLst/>
          </a:prstGeom>
          <a:noFill/>
          <a:ln w="15875">
            <a:solidFill>
              <a:srgbClr val="1D36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6400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WasteWise AI  ·  Open Ended Assignment in AI  ·  SCET, Sarvajanik University  ·  2026–27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A8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W_COVER">
    <p:bg>
      <p:bgPr>
        <a:solidFill>
          <a:srgbClr val="061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256032" cy="0"/>
          </a:xfrm>
          <a:prstGeom prst="line">
            <a:avLst/>
          </a:prstGeom>
          <a:noFill/>
          <a:ln w="15875">
            <a:solidFill>
              <a:srgbClr val="1D36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256032"/>
          </a:xfrm>
          <a:prstGeom prst="line">
            <a:avLst/>
          </a:prstGeom>
          <a:noFill/>
          <a:ln w="15875">
            <a:solidFill>
              <a:srgbClr val="1D36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61343" y="274320"/>
            <a:ext cx="256032" cy="0"/>
          </a:xfrm>
          <a:prstGeom prst="line">
            <a:avLst/>
          </a:prstGeom>
          <a:noFill/>
          <a:ln w="15875">
            <a:solidFill>
              <a:srgbClr val="1D36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256032"/>
          </a:xfrm>
          <a:prstGeom prst="line">
            <a:avLst/>
          </a:prstGeom>
          <a:noFill/>
          <a:ln w="15875">
            <a:solidFill>
              <a:srgbClr val="1D36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256032" cy="0"/>
          </a:xfrm>
          <a:prstGeom prst="line">
            <a:avLst/>
          </a:prstGeom>
          <a:noFill/>
          <a:ln w="15875">
            <a:solidFill>
              <a:srgbClr val="1D36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327648"/>
            <a:ext cx="0" cy="256032"/>
          </a:xfrm>
          <a:prstGeom prst="line">
            <a:avLst/>
          </a:prstGeom>
          <a:noFill/>
          <a:ln w="15875">
            <a:solidFill>
              <a:srgbClr val="1D36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61343" y="6583680"/>
            <a:ext cx="256032" cy="0"/>
          </a:xfrm>
          <a:prstGeom prst="line">
            <a:avLst/>
          </a:prstGeom>
          <a:noFill/>
          <a:ln w="15875">
            <a:solidFill>
              <a:srgbClr val="1D36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327648"/>
            <a:ext cx="0" cy="256032"/>
          </a:xfrm>
          <a:prstGeom prst="line">
            <a:avLst/>
          </a:prstGeom>
          <a:noFill/>
          <a:ln w="15875">
            <a:solidFill>
              <a:srgbClr val="1D365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W_CLOSE">
    <p:bg>
      <p:bgPr>
        <a:solidFill>
          <a:srgbClr val="061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256032" cy="0"/>
          </a:xfrm>
          <a:prstGeom prst="line">
            <a:avLst/>
          </a:prstGeom>
          <a:noFill/>
          <a:ln w="15875">
            <a:solidFill>
              <a:srgbClr val="1D36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256032"/>
          </a:xfrm>
          <a:prstGeom prst="line">
            <a:avLst/>
          </a:prstGeom>
          <a:noFill/>
          <a:ln w="15875">
            <a:solidFill>
              <a:srgbClr val="1D36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61343" y="274320"/>
            <a:ext cx="256032" cy="0"/>
          </a:xfrm>
          <a:prstGeom prst="line">
            <a:avLst/>
          </a:prstGeom>
          <a:noFill/>
          <a:ln w="15875">
            <a:solidFill>
              <a:srgbClr val="1D36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256032"/>
          </a:xfrm>
          <a:prstGeom prst="line">
            <a:avLst/>
          </a:prstGeom>
          <a:noFill/>
          <a:ln w="15875">
            <a:solidFill>
              <a:srgbClr val="1D36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256032" cy="0"/>
          </a:xfrm>
          <a:prstGeom prst="line">
            <a:avLst/>
          </a:prstGeom>
          <a:noFill/>
          <a:ln w="15875">
            <a:solidFill>
              <a:srgbClr val="1D36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327648"/>
            <a:ext cx="0" cy="256032"/>
          </a:xfrm>
          <a:prstGeom prst="line">
            <a:avLst/>
          </a:prstGeom>
          <a:noFill/>
          <a:ln w="15875">
            <a:solidFill>
              <a:srgbClr val="1D36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61343" y="6583680"/>
            <a:ext cx="256032" cy="0"/>
          </a:xfrm>
          <a:prstGeom prst="line">
            <a:avLst/>
          </a:prstGeom>
          <a:noFill/>
          <a:ln w="15875">
            <a:solidFill>
              <a:srgbClr val="1D36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327648"/>
            <a:ext cx="0" cy="256032"/>
          </a:xfrm>
          <a:prstGeom prst="line">
            <a:avLst/>
          </a:prstGeom>
          <a:noFill/>
          <a:ln w="15875">
            <a:solidFill>
              <a:srgbClr val="1D365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A8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A8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325880"/>
            <a:ext cx="5212080" cy="0"/>
          </a:xfrm>
          <a:prstGeom prst="line">
            <a:avLst/>
          </a:prstGeom>
          <a:noFill/>
          <a:ln w="9525">
            <a:solidFill>
              <a:srgbClr val="0C1A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783080"/>
            <a:ext cx="5212080" cy="0"/>
          </a:xfrm>
          <a:prstGeom prst="line">
            <a:avLst/>
          </a:prstGeom>
          <a:noFill/>
          <a:ln w="9525">
            <a:solidFill>
              <a:srgbClr val="0C1A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240280"/>
            <a:ext cx="5212080" cy="0"/>
          </a:xfrm>
          <a:prstGeom prst="line">
            <a:avLst/>
          </a:prstGeom>
          <a:noFill/>
          <a:ln w="9525">
            <a:solidFill>
              <a:srgbClr val="0C1A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2697480"/>
            <a:ext cx="5212080" cy="0"/>
          </a:xfrm>
          <a:prstGeom prst="line">
            <a:avLst/>
          </a:prstGeom>
          <a:noFill/>
          <a:ln w="9525">
            <a:solidFill>
              <a:srgbClr val="0C1A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3154680"/>
            <a:ext cx="5212080" cy="0"/>
          </a:xfrm>
          <a:prstGeom prst="line">
            <a:avLst/>
          </a:prstGeom>
          <a:noFill/>
          <a:ln w="9525">
            <a:solidFill>
              <a:srgbClr val="0C1A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3611880"/>
            <a:ext cx="5212080" cy="0"/>
          </a:xfrm>
          <a:prstGeom prst="line">
            <a:avLst/>
          </a:prstGeom>
          <a:noFill/>
          <a:ln w="9525">
            <a:solidFill>
              <a:srgbClr val="0C1A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4069080"/>
            <a:ext cx="5212080" cy="0"/>
          </a:xfrm>
          <a:prstGeom prst="line">
            <a:avLst/>
          </a:prstGeom>
          <a:noFill/>
          <a:ln w="9525">
            <a:solidFill>
              <a:srgbClr val="0C1A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4526280"/>
            <a:ext cx="5212080" cy="0"/>
          </a:xfrm>
          <a:prstGeom prst="line">
            <a:avLst/>
          </a:prstGeom>
          <a:noFill/>
          <a:ln w="9525">
            <a:solidFill>
              <a:srgbClr val="0C1A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4983480"/>
            <a:ext cx="5212080" cy="0"/>
          </a:xfrm>
          <a:prstGeom prst="line">
            <a:avLst/>
          </a:prstGeom>
          <a:noFill/>
          <a:ln w="9525">
            <a:solidFill>
              <a:srgbClr val="0C1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5440680"/>
            <a:ext cx="5212080" cy="0"/>
          </a:xfrm>
          <a:prstGeom prst="line">
            <a:avLst/>
          </a:prstGeom>
          <a:noFill/>
          <a:ln w="9525">
            <a:solidFill>
              <a:srgbClr val="0C1A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868680"/>
            <a:ext cx="0" cy="5166360"/>
          </a:xfrm>
          <a:prstGeom prst="line">
            <a:avLst/>
          </a:prstGeom>
          <a:noFill/>
          <a:ln w="9525">
            <a:solidFill>
              <a:srgbClr val="0C1A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868680"/>
            <a:ext cx="0" cy="5166360"/>
          </a:xfrm>
          <a:prstGeom prst="line">
            <a:avLst/>
          </a:prstGeom>
          <a:noFill/>
          <a:ln w="9525">
            <a:solidFill>
              <a:srgbClr val="0C1A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868680"/>
            <a:ext cx="0" cy="5166360"/>
          </a:xfrm>
          <a:prstGeom prst="line">
            <a:avLst/>
          </a:prstGeom>
          <a:noFill/>
          <a:ln w="9525">
            <a:solidFill>
              <a:srgbClr val="0C1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868680"/>
            <a:ext cx="0" cy="5166360"/>
          </a:xfrm>
          <a:prstGeom prst="line">
            <a:avLst/>
          </a:prstGeom>
          <a:noFill/>
          <a:ln w="9525">
            <a:solidFill>
              <a:srgbClr val="0C1A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0" y="868680"/>
            <a:ext cx="0" cy="5166360"/>
          </a:xfrm>
          <a:prstGeom prst="line">
            <a:avLst/>
          </a:prstGeom>
          <a:noFill/>
          <a:ln w="9525">
            <a:solidFill>
              <a:srgbClr val="0C1A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868680"/>
            <a:ext cx="0" cy="5166360"/>
          </a:xfrm>
          <a:prstGeom prst="line">
            <a:avLst/>
          </a:prstGeom>
          <a:noFill/>
          <a:ln w="9525">
            <a:solidFill>
              <a:srgbClr val="0C1A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0" y="868680"/>
            <a:ext cx="0" cy="5166360"/>
          </a:xfrm>
          <a:prstGeom prst="line">
            <a:avLst/>
          </a:prstGeom>
          <a:noFill/>
          <a:ln w="9525">
            <a:solidFill>
              <a:srgbClr val="0C1A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0" y="868680"/>
            <a:ext cx="0" cy="5166360"/>
          </a:xfrm>
          <a:prstGeom prst="line">
            <a:avLst/>
          </a:prstGeom>
          <a:noFill/>
          <a:ln w="9525">
            <a:solidFill>
              <a:srgbClr val="0C1A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0" y="868680"/>
            <a:ext cx="0" cy="5166360"/>
          </a:xfrm>
          <a:prstGeom prst="line">
            <a:avLst/>
          </a:prstGeom>
          <a:noFill/>
          <a:ln w="9525">
            <a:solidFill>
              <a:srgbClr val="0C1A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0" y="868680"/>
            <a:ext cx="0" cy="5166360"/>
          </a:xfrm>
          <a:prstGeom prst="line">
            <a:avLst/>
          </a:prstGeom>
          <a:noFill/>
          <a:ln w="9525">
            <a:solidFill>
              <a:srgbClr val="0C1A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868680"/>
            <a:ext cx="320040" cy="0"/>
          </a:xfrm>
          <a:prstGeom prst="line">
            <a:avLst/>
          </a:prstGeom>
          <a:noFill/>
          <a:ln w="19050">
            <a:solidFill>
              <a:srgbClr val="6A80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868680"/>
            <a:ext cx="0" cy="320040"/>
          </a:xfrm>
          <a:prstGeom prst="line">
            <a:avLst/>
          </a:prstGeom>
          <a:noFill/>
          <a:ln w="19050">
            <a:solidFill>
              <a:srgbClr val="6A80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92840" y="868680"/>
            <a:ext cx="320040" cy="0"/>
          </a:xfrm>
          <a:prstGeom prst="line">
            <a:avLst/>
          </a:prstGeom>
          <a:noFill/>
          <a:ln w="19050">
            <a:solidFill>
              <a:srgbClr val="6A80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612880" y="868680"/>
            <a:ext cx="0" cy="320040"/>
          </a:xfrm>
          <a:prstGeom prst="line">
            <a:avLst/>
          </a:prstGeom>
          <a:noFill/>
          <a:ln w="19050">
            <a:solidFill>
              <a:srgbClr val="6A80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6035040"/>
            <a:ext cx="320040" cy="0"/>
          </a:xfrm>
          <a:prstGeom prst="line">
            <a:avLst/>
          </a:prstGeom>
          <a:noFill/>
          <a:ln w="19050">
            <a:solidFill>
              <a:srgbClr val="6A80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5715000"/>
            <a:ext cx="0" cy="320040"/>
          </a:xfrm>
          <a:prstGeom prst="line">
            <a:avLst/>
          </a:prstGeom>
          <a:noFill/>
          <a:ln w="19050">
            <a:solidFill>
              <a:srgbClr val="6A80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92840" y="6035040"/>
            <a:ext cx="320040" cy="0"/>
          </a:xfrm>
          <a:prstGeom prst="line">
            <a:avLst/>
          </a:prstGeom>
          <a:noFill/>
          <a:ln w="19050">
            <a:solidFill>
              <a:srgbClr val="6A809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612880" y="5715000"/>
            <a:ext cx="0" cy="320040"/>
          </a:xfrm>
          <a:prstGeom prst="line">
            <a:avLst/>
          </a:prstGeom>
          <a:noFill/>
          <a:ln w="19050">
            <a:solidFill>
              <a:srgbClr val="6A809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3017520"/>
            <a:ext cx="1005840" cy="2194560"/>
          </a:xfrm>
          <a:prstGeom prst="roundRect">
            <a:avLst>
              <a:gd name="adj" fmla="val 22727"/>
            </a:avLst>
          </a:prstGeom>
          <a:solidFill>
            <a:srgbClr val="13263B"/>
          </a:solidFill>
          <a:ln/>
        </p:spPr>
      </p:sp>
      <p:sp>
        <p:nvSpPr>
          <p:cNvPr id="31" name="Shape 29"/>
          <p:cNvSpPr/>
          <p:nvPr/>
        </p:nvSpPr>
        <p:spPr>
          <a:xfrm>
            <a:off x="7635240" y="2423160"/>
            <a:ext cx="365760" cy="640080"/>
          </a:xfrm>
          <a:prstGeom prst="rect">
            <a:avLst/>
          </a:prstGeom>
          <a:solidFill>
            <a:srgbClr val="13263B"/>
          </a:solidFill>
          <a:ln/>
        </p:spPr>
      </p:sp>
      <p:sp>
        <p:nvSpPr>
          <p:cNvPr id="32" name="Shape 30"/>
          <p:cNvSpPr/>
          <p:nvPr/>
        </p:nvSpPr>
        <p:spPr>
          <a:xfrm>
            <a:off x="7589520" y="2286000"/>
            <a:ext cx="457200" cy="164592"/>
          </a:xfrm>
          <a:prstGeom prst="rect">
            <a:avLst/>
          </a:prstGeom>
          <a:solidFill>
            <a:srgbClr val="13263B"/>
          </a:solidFill>
          <a:ln/>
        </p:spPr>
      </p:sp>
      <p:sp>
        <p:nvSpPr>
          <p:cNvPr id="33" name="Shape 31"/>
          <p:cNvSpPr/>
          <p:nvPr/>
        </p:nvSpPr>
        <p:spPr>
          <a:xfrm>
            <a:off x="9144000" y="3383280"/>
            <a:ext cx="914400" cy="1463040"/>
          </a:xfrm>
          <a:prstGeom prst="roundRect">
            <a:avLst>
              <a:gd name="adj" fmla="val 8000"/>
            </a:avLst>
          </a:prstGeom>
          <a:solidFill>
            <a:srgbClr val="13263B"/>
          </a:solidFill>
          <a:ln/>
        </p:spPr>
      </p:sp>
      <p:sp>
        <p:nvSpPr>
          <p:cNvPr id="34" name="Shape 32"/>
          <p:cNvSpPr/>
          <p:nvPr/>
        </p:nvSpPr>
        <p:spPr>
          <a:xfrm>
            <a:off x="9189720" y="3310128"/>
            <a:ext cx="822960" cy="91440"/>
          </a:xfrm>
          <a:prstGeom prst="rect">
            <a:avLst/>
          </a:prstGeom>
          <a:solidFill>
            <a:srgbClr val="1A3350"/>
          </a:solidFill>
          <a:ln/>
        </p:spPr>
      </p:sp>
      <p:sp>
        <p:nvSpPr>
          <p:cNvPr id="35" name="Shape 33"/>
          <p:cNvSpPr/>
          <p:nvPr/>
        </p:nvSpPr>
        <p:spPr>
          <a:xfrm>
            <a:off x="10515600" y="3886200"/>
            <a:ext cx="822960" cy="777240"/>
          </a:xfrm>
          <a:prstGeom prst="triangle">
            <a:avLst/>
          </a:prstGeom>
          <a:solidFill>
            <a:srgbClr val="13263B"/>
          </a:solidFill>
          <a:ln/>
        </p:spPr>
      </p:sp>
      <p:sp>
        <p:nvSpPr>
          <p:cNvPr id="36" name="Shape 34"/>
          <p:cNvSpPr/>
          <p:nvPr/>
        </p:nvSpPr>
        <p:spPr>
          <a:xfrm>
            <a:off x="7086600" y="2011680"/>
            <a:ext cx="237744" cy="0"/>
          </a:xfrm>
          <a:prstGeom prst="line">
            <a:avLst/>
          </a:prstGeom>
          <a:noFill/>
          <a:ln w="28575">
            <a:solidFill>
              <a:srgbClr val="5897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86600" y="2011680"/>
            <a:ext cx="0" cy="237744"/>
          </a:xfrm>
          <a:prstGeom prst="line">
            <a:avLst/>
          </a:prstGeom>
          <a:noFill/>
          <a:ln w="28575">
            <a:solidFill>
              <a:srgbClr val="5897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11896" y="2011680"/>
            <a:ext cx="237744" cy="0"/>
          </a:xfrm>
          <a:prstGeom prst="line">
            <a:avLst/>
          </a:prstGeom>
          <a:noFill/>
          <a:ln w="28575">
            <a:solidFill>
              <a:srgbClr val="5897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49640" y="2011680"/>
            <a:ext cx="0" cy="237744"/>
          </a:xfrm>
          <a:prstGeom prst="line">
            <a:avLst/>
          </a:prstGeom>
          <a:noFill/>
          <a:ln w="28575">
            <a:solidFill>
              <a:srgbClr val="5897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86600" y="5349240"/>
            <a:ext cx="237744" cy="0"/>
          </a:xfrm>
          <a:prstGeom prst="line">
            <a:avLst/>
          </a:prstGeom>
          <a:noFill/>
          <a:ln w="28575">
            <a:solidFill>
              <a:srgbClr val="5897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86600" y="5111496"/>
            <a:ext cx="0" cy="237744"/>
          </a:xfrm>
          <a:prstGeom prst="line">
            <a:avLst/>
          </a:prstGeom>
          <a:noFill/>
          <a:ln w="28575">
            <a:solidFill>
              <a:srgbClr val="5897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11896" y="5349240"/>
            <a:ext cx="237744" cy="0"/>
          </a:xfrm>
          <a:prstGeom prst="line">
            <a:avLst/>
          </a:prstGeom>
          <a:noFill/>
          <a:ln w="28575">
            <a:solidFill>
              <a:srgbClr val="5897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49640" y="5111496"/>
            <a:ext cx="0" cy="237744"/>
          </a:xfrm>
          <a:prstGeom prst="line">
            <a:avLst/>
          </a:prstGeom>
          <a:noFill/>
          <a:ln w="28575">
            <a:solidFill>
              <a:srgbClr val="5897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86600" y="1737360"/>
            <a:ext cx="868680" cy="274320"/>
          </a:xfrm>
          <a:prstGeom prst="rect">
            <a:avLst/>
          </a:prstGeom>
          <a:solidFill>
            <a:srgbClr val="5897F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086600" y="17373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086600" y="5394960"/>
            <a:ext cx="868680" cy="274320"/>
          </a:xfrm>
          <a:prstGeom prst="rect">
            <a:avLst/>
          </a:prstGeom>
          <a:solidFill>
            <a:srgbClr val="28DCC6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086600" y="53949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229600" y="5394960"/>
            <a:ext cx="274320" cy="274320"/>
          </a:xfrm>
          <a:prstGeom prst="ellipse">
            <a:avLst/>
          </a:prstGeom>
          <a:solidFill>
            <a:srgbClr val="06101C"/>
          </a:solidFill>
          <a:ln w="25400">
            <a:solidFill>
              <a:srgbClr val="5CE29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76234" y="5513832"/>
            <a:ext cx="70409" cy="76444"/>
          </a:xfrm>
          <a:prstGeom prst="line">
            <a:avLst/>
          </a:prstGeom>
          <a:noFill/>
          <a:ln w="25400">
            <a:solidFill>
              <a:srgbClr val="5CE29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8346643" y="5437388"/>
            <a:ext cx="120701" cy="152888"/>
          </a:xfrm>
          <a:prstGeom prst="line">
            <a:avLst/>
          </a:prstGeom>
          <a:noFill/>
          <a:ln w="25400">
            <a:solidFill>
              <a:srgbClr val="5CE29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915400" y="3108960"/>
            <a:ext cx="237744" cy="0"/>
          </a:xfrm>
          <a:prstGeom prst="line">
            <a:avLst/>
          </a:prstGeom>
          <a:noFill/>
          <a:ln w="28575">
            <a:solidFill>
              <a:srgbClr val="5897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915400" y="3108960"/>
            <a:ext cx="0" cy="237744"/>
          </a:xfrm>
          <a:prstGeom prst="line">
            <a:avLst/>
          </a:prstGeom>
          <a:noFill/>
          <a:ln w="28575">
            <a:solidFill>
              <a:srgbClr val="5897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003536" y="3108960"/>
            <a:ext cx="237744" cy="0"/>
          </a:xfrm>
          <a:prstGeom prst="line">
            <a:avLst/>
          </a:prstGeom>
          <a:noFill/>
          <a:ln w="28575">
            <a:solidFill>
              <a:srgbClr val="5897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241280" y="3108960"/>
            <a:ext cx="0" cy="237744"/>
          </a:xfrm>
          <a:prstGeom prst="line">
            <a:avLst/>
          </a:prstGeom>
          <a:noFill/>
          <a:ln w="28575">
            <a:solidFill>
              <a:srgbClr val="5897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915400" y="4937760"/>
            <a:ext cx="237744" cy="0"/>
          </a:xfrm>
          <a:prstGeom prst="line">
            <a:avLst/>
          </a:prstGeom>
          <a:noFill/>
          <a:ln w="28575">
            <a:solidFill>
              <a:srgbClr val="5897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915400" y="4700016"/>
            <a:ext cx="0" cy="237744"/>
          </a:xfrm>
          <a:prstGeom prst="line">
            <a:avLst/>
          </a:prstGeom>
          <a:noFill/>
          <a:ln w="28575">
            <a:solidFill>
              <a:srgbClr val="5897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003536" y="4937760"/>
            <a:ext cx="237744" cy="0"/>
          </a:xfrm>
          <a:prstGeom prst="line">
            <a:avLst/>
          </a:prstGeom>
          <a:noFill/>
          <a:ln w="28575">
            <a:solidFill>
              <a:srgbClr val="5897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241280" y="4700016"/>
            <a:ext cx="0" cy="237744"/>
          </a:xfrm>
          <a:prstGeom prst="line">
            <a:avLst/>
          </a:prstGeom>
          <a:noFill/>
          <a:ln w="28575">
            <a:solidFill>
              <a:srgbClr val="5897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915400" y="2834640"/>
            <a:ext cx="777240" cy="274320"/>
          </a:xfrm>
          <a:prstGeom prst="rect">
            <a:avLst/>
          </a:prstGeom>
          <a:solidFill>
            <a:srgbClr val="5897FF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8915400" y="28346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8915400" y="4983480"/>
            <a:ext cx="777240" cy="274320"/>
          </a:xfrm>
          <a:prstGeom prst="rect">
            <a:avLst/>
          </a:prstGeom>
          <a:solidFill>
            <a:srgbClr val="28DCC6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8915400" y="4983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9875520" y="4983480"/>
            <a:ext cx="274320" cy="274320"/>
          </a:xfrm>
          <a:prstGeom prst="ellipse">
            <a:avLst/>
          </a:prstGeom>
          <a:solidFill>
            <a:srgbClr val="06101C"/>
          </a:solidFill>
          <a:ln w="25400">
            <a:solidFill>
              <a:srgbClr val="5CE29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922154" y="5102352"/>
            <a:ext cx="70409" cy="76444"/>
          </a:xfrm>
          <a:prstGeom prst="line">
            <a:avLst/>
          </a:prstGeom>
          <a:noFill/>
          <a:ln w="25400">
            <a:solidFill>
              <a:srgbClr val="5CE29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9992563" y="5025908"/>
            <a:ext cx="120701" cy="152888"/>
          </a:xfrm>
          <a:prstGeom prst="line">
            <a:avLst/>
          </a:prstGeom>
          <a:noFill/>
          <a:ln w="25400">
            <a:solidFill>
              <a:srgbClr val="5CE29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332720" y="3611880"/>
            <a:ext cx="1143000" cy="1280160"/>
          </a:xfrm>
          <a:prstGeom prst="rect">
            <a:avLst/>
          </a:prstGeom>
          <a:ln w="19050">
            <a:solidFill>
              <a:srgbClr val="F45B69"/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>
            <a:off x="10332720" y="3337560"/>
            <a:ext cx="1143000" cy="274320"/>
          </a:xfrm>
          <a:prstGeom prst="rect">
            <a:avLst/>
          </a:prstGeom>
          <a:solidFill>
            <a:srgbClr val="5897FF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10332720" y="33375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other_trash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10332720" y="4937760"/>
            <a:ext cx="1143000" cy="274320"/>
          </a:xfrm>
          <a:prstGeom prst="rect">
            <a:avLst/>
          </a:prstGeom>
          <a:solidFill>
            <a:srgbClr val="F45B69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10332720" y="49377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1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</a:t>
            </a:r>
            <a:endParaRPr lang="en-US" sz="1100" dirty="0"/>
          </a:p>
        </p:txBody>
      </p:sp>
      <p:sp>
        <p:nvSpPr>
          <p:cNvPr id="71" name="Text 69"/>
          <p:cNvSpPr txBox="1"/>
          <p:nvPr/>
        </p:nvSpPr>
        <p:spPr>
          <a:xfrm>
            <a:off x="6400800" y="61447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CONCEPT</a:t>
            </a:r>
            <a:endParaRPr lang="en-US" sz="1100" dirty="0"/>
          </a:p>
        </p:txBody>
      </p:sp>
      <p:sp>
        <p:nvSpPr>
          <p:cNvPr id="72" name="Text 70"/>
          <p:cNvSpPr txBox="1"/>
          <p:nvPr/>
        </p:nvSpPr>
        <p:spPr>
          <a:xfrm>
            <a:off x="640080" y="8229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ENDED ASSIGNMENT  ·  ARTIFICIAL INTELLIGENCE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640080" y="137160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WasteWise AI</a:t>
            </a:r>
            <a:endParaRPr lang="en-US" sz="7000" dirty="0"/>
          </a:p>
        </p:txBody>
      </p:sp>
      <p:sp>
        <p:nvSpPr>
          <p:cNvPr id="74" name="Shape 72"/>
          <p:cNvSpPr/>
          <p:nvPr/>
        </p:nvSpPr>
        <p:spPr>
          <a:xfrm>
            <a:off x="640080" y="2697480"/>
            <a:ext cx="1097280" cy="0"/>
          </a:xfrm>
          <a:prstGeom prst="line">
            <a:avLst/>
          </a:prstGeom>
          <a:noFill/>
          <a:ln w="38100">
            <a:solidFill>
              <a:srgbClr val="28DCC6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640080" y="29260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Multi-Class Waste Detection and Classification Using Neural Networks</a:t>
            </a:r>
            <a:endParaRPr lang="en-US" sz="2400" dirty="0"/>
          </a:p>
        </p:txBody>
      </p:sp>
      <p:sp>
        <p:nvSpPr>
          <p:cNvPr id="76" name="Text 74"/>
          <p:cNvSpPr txBox="1"/>
          <p:nvPr/>
        </p:nvSpPr>
        <p:spPr>
          <a:xfrm>
            <a:off x="640080" y="4434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640080" y="4736592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Drashtant Mevada  ·  Smit Rathod  ·  Nirav Panwala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Tandel  ·  Ronak Solanki</a:t>
            </a:r>
            <a:endParaRPr lang="en-US" sz="1500" dirty="0"/>
          </a:p>
        </p:txBody>
      </p:sp>
      <p:sp>
        <p:nvSpPr>
          <p:cNvPr id="78" name="Shape 76"/>
          <p:cNvSpPr/>
          <p:nvPr/>
        </p:nvSpPr>
        <p:spPr>
          <a:xfrm>
            <a:off x="640080" y="5486400"/>
            <a:ext cx="5394960" cy="0"/>
          </a:xfrm>
          <a:prstGeom prst="line">
            <a:avLst/>
          </a:prstGeom>
          <a:noFill/>
          <a:ln w="12700">
            <a:solidFill>
              <a:srgbClr val="1D3652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640080" y="55778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Engineering Department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Sarvajanik College of Engineering &amp; Technology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Sarvajanik University, Surat, Gujarat, India  ·  Academic Year 2026–27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waste is not enough.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47088"/>
            <a:ext cx="4206240" cy="0"/>
          </a:xfrm>
          <a:prstGeom prst="line">
            <a:avLst/>
          </a:prstGeom>
          <a:noFill/>
          <a:ln w="12700">
            <a:solidFill>
              <a:srgbClr val="1D36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167128"/>
            <a:ext cx="237744" cy="237744"/>
          </a:xfrm>
          <a:prstGeom prst="ellipse">
            <a:avLst/>
          </a:prstGeom>
          <a:solidFill>
            <a:srgbClr val="06101C"/>
          </a:solidFill>
          <a:ln w="22225">
            <a:solidFill>
              <a:srgbClr val="6A809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2103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2414016"/>
            <a:ext cx="0" cy="256032"/>
          </a:xfrm>
          <a:prstGeom prst="line">
            <a:avLst/>
          </a:prstGeom>
          <a:noFill/>
          <a:ln w="19050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58368" y="2670048"/>
            <a:ext cx="237744" cy="237744"/>
          </a:xfrm>
          <a:prstGeom prst="ellipse">
            <a:avLst/>
          </a:prstGeom>
          <a:solidFill>
            <a:srgbClr val="06101C"/>
          </a:solidFill>
          <a:ln w="22225">
            <a:solidFill>
              <a:srgbClr val="6A809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43000" y="2606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77240" y="2916936"/>
            <a:ext cx="0" cy="256032"/>
          </a:xfrm>
          <a:prstGeom prst="line">
            <a:avLst/>
          </a:prstGeom>
          <a:noFill/>
          <a:ln w="19050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58368" y="3172968"/>
            <a:ext cx="237744" cy="237744"/>
          </a:xfrm>
          <a:prstGeom prst="ellipse">
            <a:avLst/>
          </a:prstGeom>
          <a:solidFill>
            <a:srgbClr val="06101C"/>
          </a:solidFill>
          <a:ln w="22225">
            <a:solidFill>
              <a:srgbClr val="6A809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3108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B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WHEN THE INPUT 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" y="4270248"/>
            <a:ext cx="146304" cy="146304"/>
          </a:xfrm>
          <a:prstGeom prst="line">
            <a:avLst/>
          </a:prstGeom>
          <a:noFill/>
          <a:ln w="25400">
            <a:solidFill>
              <a:srgbClr val="F6BE4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676656" y="4270248"/>
            <a:ext cx="146304" cy="146304"/>
          </a:xfrm>
          <a:prstGeom prst="line">
            <a:avLst/>
          </a:prstGeom>
          <a:noFill/>
          <a:ln w="25400">
            <a:solidFill>
              <a:srgbClr val="F6BE4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1879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unsupported object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76656" y="4636008"/>
            <a:ext cx="146304" cy="146304"/>
          </a:xfrm>
          <a:prstGeom prst="line">
            <a:avLst/>
          </a:prstGeom>
          <a:noFill/>
          <a:ln w="25400">
            <a:solidFill>
              <a:srgbClr val="F6BE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676656" y="4636008"/>
            <a:ext cx="146304" cy="146304"/>
          </a:xfrm>
          <a:prstGeom prst="line">
            <a:avLst/>
          </a:prstGeom>
          <a:noFill/>
          <a:ln w="25400">
            <a:solidFill>
              <a:srgbClr val="F6BE4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45537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 wrong label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76656" y="5001768"/>
            <a:ext cx="146304" cy="146304"/>
          </a:xfrm>
          <a:prstGeom prst="line">
            <a:avLst/>
          </a:prstGeom>
          <a:noFill/>
          <a:ln w="25400">
            <a:solidFill>
              <a:srgbClr val="F6BE4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676656" y="5001768"/>
            <a:ext cx="146304" cy="146304"/>
          </a:xfrm>
          <a:prstGeom prst="line">
            <a:avLst/>
          </a:prstGeom>
          <a:noFill/>
          <a:ln w="25400">
            <a:solidFill>
              <a:srgbClr val="F6BE4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49194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semantic mismatch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76656" y="5367528"/>
            <a:ext cx="146304" cy="146304"/>
          </a:xfrm>
          <a:prstGeom prst="line">
            <a:avLst/>
          </a:prstGeom>
          <a:noFill/>
          <a:ln w="25400">
            <a:solidFill>
              <a:srgbClr val="F6BE4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676656" y="5367528"/>
            <a:ext cx="146304" cy="146304"/>
          </a:xfrm>
          <a:prstGeom prst="line">
            <a:avLst/>
          </a:prstGeom>
          <a:noFill/>
          <a:ln w="25400">
            <a:solidFill>
              <a:srgbClr val="F6BE4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1560" y="52852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known feature space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5257800" y="1554480"/>
            <a:ext cx="0" cy="4114800"/>
          </a:xfrm>
          <a:prstGeom prst="line">
            <a:avLst/>
          </a:prstGeom>
          <a:noFill/>
          <a:ln w="12700">
            <a:solidFill>
              <a:srgbClr val="1D365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760720" y="1554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WASTEWISE AI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760720" y="1847088"/>
            <a:ext cx="5788152" cy="0"/>
          </a:xfrm>
          <a:prstGeom prst="line">
            <a:avLst/>
          </a:prstGeom>
          <a:noFill/>
          <a:ln w="12700">
            <a:solidFill>
              <a:srgbClr val="1D365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97296" y="2176272"/>
            <a:ext cx="237744" cy="237744"/>
          </a:xfrm>
          <a:prstGeom prst="ellipse">
            <a:avLst/>
          </a:prstGeom>
          <a:solidFill>
            <a:srgbClr val="06101C"/>
          </a:solidFill>
          <a:ln w="22225">
            <a:solidFill>
              <a:srgbClr val="9BB0C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16168" y="2414016"/>
            <a:ext cx="0" cy="237744"/>
          </a:xfrm>
          <a:prstGeom prst="line">
            <a:avLst/>
          </a:prstGeom>
          <a:noFill/>
          <a:ln w="19050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6355080" y="2103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5797296" y="2761488"/>
            <a:ext cx="237744" cy="237744"/>
          </a:xfrm>
          <a:prstGeom prst="ellipse">
            <a:avLst/>
          </a:prstGeom>
          <a:solidFill>
            <a:srgbClr val="06101C"/>
          </a:solidFill>
          <a:ln w="22225">
            <a:solidFill>
              <a:srgbClr val="5897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16168" y="2999232"/>
            <a:ext cx="0" cy="237744"/>
          </a:xfrm>
          <a:prstGeom prst="line">
            <a:avLst/>
          </a:prstGeom>
          <a:noFill/>
          <a:ln w="19050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6355080" y="26883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8732520" y="268833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797296" y="3346704"/>
            <a:ext cx="237744" cy="237744"/>
          </a:xfrm>
          <a:prstGeom prst="ellipse">
            <a:avLst/>
          </a:prstGeom>
          <a:solidFill>
            <a:srgbClr val="06101C"/>
          </a:solidFill>
          <a:ln w="22225">
            <a:solidFill>
              <a:srgbClr val="28DCC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16168" y="3584448"/>
            <a:ext cx="0" cy="237744"/>
          </a:xfrm>
          <a:prstGeom prst="line">
            <a:avLst/>
          </a:prstGeom>
          <a:noFill/>
          <a:ln w="19050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6355080" y="32735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8732520" y="32735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· 19 classes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5797296" y="3931920"/>
            <a:ext cx="237744" cy="237744"/>
          </a:xfrm>
          <a:prstGeom prst="ellipse">
            <a:avLst/>
          </a:prstGeom>
          <a:solidFill>
            <a:srgbClr val="06101C"/>
          </a:solidFill>
          <a:ln w="22225">
            <a:solidFill>
              <a:srgbClr val="F6BE4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16168" y="4224528"/>
            <a:ext cx="0" cy="182880"/>
          </a:xfrm>
          <a:prstGeom prst="line">
            <a:avLst/>
          </a:prstGeom>
          <a:noFill/>
          <a:ln w="19050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6355080" y="38587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8732520" y="38587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+ semantic compatibility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5760720" y="4480560"/>
            <a:ext cx="310896" cy="310896"/>
          </a:xfrm>
          <a:prstGeom prst="diamond">
            <a:avLst/>
          </a:prstGeom>
          <a:solidFill>
            <a:srgbClr val="06101C"/>
          </a:solidFill>
          <a:ln w="22225">
            <a:solidFill>
              <a:srgbClr val="5CE29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16168" y="4754880"/>
            <a:ext cx="0" cy="237744"/>
          </a:xfrm>
          <a:prstGeom prst="line">
            <a:avLst/>
          </a:prstGeom>
          <a:noFill/>
          <a:ln w="19050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47" name="Text 45"/>
          <p:cNvSpPr txBox="1"/>
          <p:nvPr/>
        </p:nvSpPr>
        <p:spPr>
          <a:xfrm>
            <a:off x="6355080" y="44439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 REJECT</a:t>
            </a:r>
            <a:endParaRPr lang="en-US" sz="2000" dirty="0"/>
          </a:p>
        </p:txBody>
      </p:sp>
      <p:sp>
        <p:nvSpPr>
          <p:cNvPr id="48" name="Text 46"/>
          <p:cNvSpPr txBox="1"/>
          <p:nvPr/>
        </p:nvSpPr>
        <p:spPr>
          <a:xfrm>
            <a:off x="8732520" y="444398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5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checks must pass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5797296" y="5102352"/>
            <a:ext cx="237744" cy="237744"/>
          </a:xfrm>
          <a:prstGeom prst="ellipse">
            <a:avLst/>
          </a:prstGeom>
          <a:solidFill>
            <a:srgbClr val="06101C"/>
          </a:solidFill>
          <a:ln w="22225">
            <a:solidFill>
              <a:srgbClr val="5CE299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355080" y="5029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2000" dirty="0"/>
          </a:p>
        </p:txBody>
      </p:sp>
      <p:sp>
        <p:nvSpPr>
          <p:cNvPr id="51" name="Text 49"/>
          <p:cNvSpPr txBox="1"/>
          <p:nvPr/>
        </p:nvSpPr>
        <p:spPr>
          <a:xfrm>
            <a:off x="8732520" y="50292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acceptance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640080" y="58978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WasteWise AI adds a </a:t>
            </a:r>
            <a:pPr indent="0" marL="0">
              <a:buNone/>
            </a:pPr>
            <a:r>
              <a:rPr lang="en-US" sz="2400" b="1" dirty="0">
                <a:solidFill>
                  <a:srgbClr val="2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decision layer.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A8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SYSTEM IDEA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jobs. One guarded pipeline.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74320" cy="0"/>
          </a:xfrm>
          <a:prstGeom prst="line">
            <a:avLst/>
          </a:prstGeom>
          <a:noFill/>
          <a:ln w="31750">
            <a:solidFill>
              <a:srgbClr val="28DC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0" cy="274320"/>
          </a:xfrm>
          <a:prstGeom prst="line">
            <a:avLst/>
          </a:prstGeom>
          <a:noFill/>
          <a:ln w="31750">
            <a:solidFill>
              <a:srgbClr val="28DC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691640"/>
            <a:ext cx="274320" cy="0"/>
          </a:xfrm>
          <a:prstGeom prst="line">
            <a:avLst/>
          </a:prstGeom>
          <a:noFill/>
          <a:ln w="31750">
            <a:solidFill>
              <a:srgbClr val="28DC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1691640"/>
            <a:ext cx="0" cy="274320"/>
          </a:xfrm>
          <a:prstGeom prst="line">
            <a:avLst/>
          </a:prstGeom>
          <a:noFill/>
          <a:ln w="31750">
            <a:solidFill>
              <a:srgbClr val="28DCC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697480"/>
            <a:ext cx="274320" cy="0"/>
          </a:xfrm>
          <a:prstGeom prst="line">
            <a:avLst/>
          </a:prstGeom>
          <a:noFill/>
          <a:ln w="31750">
            <a:solidFill>
              <a:srgbClr val="28DC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423160"/>
            <a:ext cx="0" cy="274320"/>
          </a:xfrm>
          <a:prstGeom prst="line">
            <a:avLst/>
          </a:prstGeom>
          <a:noFill/>
          <a:ln w="31750">
            <a:solidFill>
              <a:srgbClr val="28DC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697480"/>
            <a:ext cx="274320" cy="0"/>
          </a:xfrm>
          <a:prstGeom prst="line">
            <a:avLst/>
          </a:prstGeom>
          <a:noFill/>
          <a:ln w="31750">
            <a:solidFill>
              <a:srgbClr val="28DC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0" y="2423160"/>
            <a:ext cx="0" cy="274320"/>
          </a:xfrm>
          <a:prstGeom prst="line">
            <a:avLst/>
          </a:prstGeom>
          <a:noFill/>
          <a:ln w="31750">
            <a:solidFill>
              <a:srgbClr val="28DC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6404" y="2135124"/>
            <a:ext cx="118872" cy="118872"/>
          </a:xfrm>
          <a:prstGeom prst="ellipse">
            <a:avLst/>
          </a:prstGeom>
          <a:solidFill>
            <a:srgbClr val="28DCC6"/>
          </a:solidFill>
          <a:ln w="19050">
            <a:solidFill>
              <a:srgbClr val="28DC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7572" y="2016252"/>
            <a:ext cx="118872" cy="118872"/>
          </a:xfrm>
          <a:prstGeom prst="ellipse">
            <a:avLst/>
          </a:prstGeom>
          <a:solidFill>
            <a:srgbClr val="28DCC6"/>
          </a:solidFill>
          <a:ln w="19050">
            <a:solidFill>
              <a:srgbClr val="28DCC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39012" y="2253996"/>
            <a:ext cx="118872" cy="118872"/>
          </a:xfrm>
          <a:prstGeom prst="ellipse">
            <a:avLst/>
          </a:prstGeom>
          <a:solidFill>
            <a:srgbClr val="28DCC6"/>
          </a:solidFill>
          <a:ln w="19050">
            <a:solidFill>
              <a:srgbClr val="28DC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20240" y="2194560"/>
            <a:ext cx="1234440" cy="0"/>
          </a:xfrm>
          <a:prstGeom prst="line">
            <a:avLst/>
          </a:prstGeom>
          <a:noFill/>
          <a:ln w="19050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640080" y="3017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3101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931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572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practical classes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438144" y="2112264"/>
            <a:ext cx="164592" cy="164592"/>
          </a:xfrm>
          <a:prstGeom prst="ellipse">
            <a:avLst/>
          </a:prstGeom>
          <a:solidFill>
            <a:srgbClr val="28DCC6"/>
          </a:solidFill>
          <a:ln w="19050">
            <a:solidFill>
              <a:srgbClr val="28DCC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3520440" y="1801368"/>
            <a:ext cx="822960" cy="393192"/>
          </a:xfrm>
          <a:prstGeom prst="line">
            <a:avLst/>
          </a:prstGeom>
          <a:noFill/>
          <a:ln w="19050">
            <a:solidFill>
              <a:srgbClr val="28DCC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65676" y="1723644"/>
            <a:ext cx="155448" cy="155448"/>
          </a:xfrm>
          <a:prstGeom prst="ellipse">
            <a:avLst/>
          </a:prstGeom>
          <a:solidFill>
            <a:srgbClr val="06101C"/>
          </a:solidFill>
          <a:ln w="25400">
            <a:solidFill>
              <a:srgbClr val="28DCC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0440" y="2194560"/>
            <a:ext cx="822960" cy="0"/>
          </a:xfrm>
          <a:prstGeom prst="line">
            <a:avLst/>
          </a:prstGeom>
          <a:noFill/>
          <a:ln w="19050">
            <a:solidFill>
              <a:srgbClr val="28DCC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65676" y="2116836"/>
            <a:ext cx="155448" cy="155448"/>
          </a:xfrm>
          <a:prstGeom prst="ellipse">
            <a:avLst/>
          </a:prstGeom>
          <a:solidFill>
            <a:srgbClr val="06101C"/>
          </a:solidFill>
          <a:ln w="25400">
            <a:solidFill>
              <a:srgbClr val="28DCC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0440" y="2194560"/>
            <a:ext cx="822960" cy="393192"/>
          </a:xfrm>
          <a:prstGeom prst="line">
            <a:avLst/>
          </a:prstGeom>
          <a:noFill/>
          <a:ln w="19050">
            <a:solidFill>
              <a:srgbClr val="28DCC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65676" y="2510028"/>
            <a:ext cx="155448" cy="155448"/>
          </a:xfrm>
          <a:prstGeom prst="ellipse">
            <a:avLst/>
          </a:prstGeom>
          <a:solidFill>
            <a:srgbClr val="06101C"/>
          </a:solidFill>
          <a:ln w="25400">
            <a:solidFill>
              <a:srgbClr val="28DCC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2194560"/>
            <a:ext cx="1234440" cy="0"/>
          </a:xfrm>
          <a:prstGeom prst="line">
            <a:avLst/>
          </a:prstGeom>
          <a:noFill/>
          <a:ln w="19050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3429000" y="3017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429000" y="33101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3429000" y="3931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3429000" y="4572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detailed classes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63640" y="1737360"/>
            <a:ext cx="914400" cy="914400"/>
          </a:xfrm>
          <a:prstGeom prst="ellipse">
            <a:avLst/>
          </a:prstGeom>
          <a:solidFill>
            <a:srgbClr val="06101C"/>
          </a:solidFill>
          <a:ln w="34925">
            <a:solidFill>
              <a:srgbClr val="F6BE4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1874520"/>
            <a:ext cx="640080" cy="640080"/>
          </a:xfrm>
          <a:prstGeom prst="line">
            <a:avLst/>
          </a:prstGeom>
          <a:noFill/>
          <a:ln w="34925">
            <a:solidFill>
              <a:srgbClr val="F6BE4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98080" y="2194560"/>
            <a:ext cx="1234440" cy="0"/>
          </a:xfrm>
          <a:prstGeom prst="line">
            <a:avLst/>
          </a:prstGeom>
          <a:noFill/>
          <a:ln w="19050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6217920" y="3017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6B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217920" y="33101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3000" dirty="0"/>
          </a:p>
        </p:txBody>
      </p:sp>
      <p:sp>
        <p:nvSpPr>
          <p:cNvPr id="37" name="Text 35"/>
          <p:cNvSpPr txBox="1"/>
          <p:nvPr/>
        </p:nvSpPr>
        <p:spPr>
          <a:xfrm>
            <a:off x="6217920" y="3931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6B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+ semantic compatibility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6217920" y="4572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or incompatible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052560" y="1737360"/>
            <a:ext cx="914400" cy="914400"/>
          </a:xfrm>
          <a:prstGeom prst="ellipse">
            <a:avLst/>
          </a:prstGeom>
          <a:solidFill>
            <a:srgbClr val="06101C"/>
          </a:solidFill>
          <a:ln w="34925">
            <a:solidFill>
              <a:srgbClr val="28DCC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42298" y="2167128"/>
            <a:ext cx="208026" cy="225857"/>
          </a:xfrm>
          <a:prstGeom prst="line">
            <a:avLst/>
          </a:prstGeom>
          <a:noFill/>
          <a:ln w="38100">
            <a:solidFill>
              <a:srgbClr val="28DCC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9450324" y="1941271"/>
            <a:ext cx="356616" cy="451714"/>
          </a:xfrm>
          <a:prstGeom prst="line">
            <a:avLst/>
          </a:prstGeom>
          <a:noFill/>
          <a:ln w="38100">
            <a:solidFill>
              <a:srgbClr val="28DCC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006840" y="3017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9006840" y="33101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3000" dirty="0"/>
          </a:p>
        </p:txBody>
      </p:sp>
      <p:sp>
        <p:nvSpPr>
          <p:cNvPr id="44" name="Text 42"/>
          <p:cNvSpPr txBox="1"/>
          <p:nvPr/>
        </p:nvSpPr>
        <p:spPr>
          <a:xfrm>
            <a:off x="9006840" y="3931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guidance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9006840" y="4572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acceptance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0080" y="5257800"/>
            <a:ext cx="10908792" cy="0"/>
          </a:xfrm>
          <a:prstGeom prst="line">
            <a:avLst/>
          </a:prstGeom>
          <a:noFill/>
          <a:ln w="12700">
            <a:solidFill>
              <a:srgbClr val="1D365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0080" y="54406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2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force every image into a label.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A8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89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DATA AND TAXONOMY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localization. Fine-grained classification.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9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YOLO11s  ·  6 PRACTICAL CLASSES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137160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RESNET50  ·  19 CLASSES  ·  ALLOWED PER DETECTOR CLASS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908792" cy="0"/>
          </a:xfrm>
          <a:prstGeom prst="line">
            <a:avLst/>
          </a:prstGeom>
          <a:noFill/>
          <a:ln w="12700">
            <a:solidFill>
              <a:srgbClr val="1D36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224" y="2039112"/>
            <a:ext cx="128016" cy="128016"/>
          </a:xfrm>
          <a:prstGeom prst="ellipse">
            <a:avLst/>
          </a:prstGeom>
          <a:solidFill>
            <a:srgbClr val="5897FF"/>
          </a:solidFill>
          <a:ln w="19050">
            <a:solidFill>
              <a:srgbClr val="5897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063240" y="2103120"/>
            <a:ext cx="548640" cy="0"/>
          </a:xfrm>
          <a:prstGeom prst="line">
            <a:avLst/>
          </a:prstGeom>
          <a:noFill/>
          <a:ln w="15875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3840480" y="1874520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</a:t>
            </a:r>
            <a:pPr indent="0" marL="0">
              <a:buNone/>
            </a:pPr>
            <a:r>
              <a:rPr lang="en-US" sz="16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</a:t>
            </a:r>
            <a:pPr indent="0" marL="0">
              <a:buNone/>
            </a:pPr>
            <a:r>
              <a:rPr lang="en-US" sz="16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medical_cap</a:t>
            </a:r>
            <a:pPr indent="0" marL="0">
              <a:buNone/>
            </a:pPr>
            <a:r>
              <a:rPr lang="en-US" sz="16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medical_gloves</a:t>
            </a:r>
            <a:pPr indent="0" marL="0">
              <a:buNone/>
            </a:pPr>
            <a:r>
              <a:rPr lang="en-US" sz="16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shoe_cover</a:t>
            </a:r>
            <a:pPr indent="0" marL="0">
              <a:buNone/>
            </a:pPr>
            <a:r>
              <a:rPr lang="en-US" sz="16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urine_bag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9224" y="2532888"/>
            <a:ext cx="128016" cy="128016"/>
          </a:xfrm>
          <a:prstGeom prst="ellipse">
            <a:avLst/>
          </a:prstGeom>
          <a:solidFill>
            <a:srgbClr val="5897FF"/>
          </a:solidFill>
          <a:ln w="19050">
            <a:solidFill>
              <a:srgbClr val="5897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3682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063240" y="2596896"/>
            <a:ext cx="548640" cy="0"/>
          </a:xfrm>
          <a:prstGeom prst="line">
            <a:avLst/>
          </a:prstGeom>
          <a:noFill/>
          <a:ln w="15875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3840480" y="2368296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</a:t>
            </a:r>
            <a:pPr indent="0" marL="0">
              <a:buNone/>
            </a:pPr>
            <a:r>
              <a:rPr lang="en-US" sz="16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test_tube</a:t>
            </a:r>
            <a:pPr indent="0" marL="0">
              <a:buNone/>
            </a:pPr>
            <a:r>
              <a:rPr lang="en-US" sz="16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medical_glasses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9224" y="3026664"/>
            <a:ext cx="128016" cy="128016"/>
          </a:xfrm>
          <a:prstGeom prst="ellipse">
            <a:avLst/>
          </a:prstGeom>
          <a:solidFill>
            <a:srgbClr val="5897FF"/>
          </a:solidFill>
          <a:ln w="19050">
            <a:solidFill>
              <a:srgbClr val="5897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862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063240" y="3090672"/>
            <a:ext cx="548640" cy="0"/>
          </a:xfrm>
          <a:prstGeom prst="line">
            <a:avLst/>
          </a:prstGeom>
          <a:noFill/>
          <a:ln w="15875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3840480" y="2862072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</a:t>
            </a:r>
            <a:pPr indent="0" marL="0">
              <a:buNone/>
            </a:pPr>
            <a:r>
              <a:rPr lang="en-US" sz="16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pPr indent="0" marL="0">
              <a:buNone/>
            </a:pPr>
            <a:r>
              <a:rPr lang="en-US" sz="16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electronic_device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9224" y="3520440"/>
            <a:ext cx="128016" cy="128016"/>
          </a:xfrm>
          <a:prstGeom prst="ellipse">
            <a:avLst/>
          </a:prstGeom>
          <a:solidFill>
            <a:srgbClr val="5897FF"/>
          </a:solidFill>
          <a:ln w="19050">
            <a:solidFill>
              <a:srgbClr val="5897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33558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paper_cardboard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063240" y="3584448"/>
            <a:ext cx="548640" cy="0"/>
          </a:xfrm>
          <a:prstGeom prst="line">
            <a:avLst/>
          </a:prstGeom>
          <a:noFill/>
          <a:ln w="15875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3840480" y="3355848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pPr indent="0" marL="0">
              <a:buNone/>
            </a:pPr>
            <a:r>
              <a:rPr lang="en-US" sz="16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cardboard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9224" y="4014216"/>
            <a:ext cx="128016" cy="128016"/>
          </a:xfrm>
          <a:prstGeom prst="ellipse">
            <a:avLst/>
          </a:prstGeom>
          <a:solidFill>
            <a:srgbClr val="5897FF"/>
          </a:solidFill>
          <a:ln w="19050">
            <a:solidFill>
              <a:srgbClr val="5897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384962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3063240" y="4078224"/>
            <a:ext cx="548640" cy="0"/>
          </a:xfrm>
          <a:prstGeom prst="line">
            <a:avLst/>
          </a:prstGeom>
          <a:noFill/>
          <a:ln w="15875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3840480" y="3849624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9224" y="4507992"/>
            <a:ext cx="128016" cy="128016"/>
          </a:xfrm>
          <a:prstGeom prst="ellipse">
            <a:avLst/>
          </a:prstGeom>
          <a:solidFill>
            <a:srgbClr val="5897FF"/>
          </a:solidFill>
          <a:ln w="19050">
            <a:solidFill>
              <a:srgbClr val="5897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400" y="4343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other_trash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3063240" y="4572000"/>
            <a:ext cx="548640" cy="0"/>
          </a:xfrm>
          <a:prstGeom prst="line">
            <a:avLst/>
          </a:prstGeom>
          <a:noFill/>
          <a:ln w="15875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3840480" y="4343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general_trash</a:t>
            </a:r>
            <a:pPr indent="0" marL="0">
              <a:buNone/>
            </a:pPr>
            <a:r>
              <a:rPr lang="en-US" sz="16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clothes</a:t>
            </a:r>
            <a:pPr indent="0" marL="0">
              <a:buNone/>
            </a:pPr>
            <a:r>
              <a:rPr lang="en-US" sz="16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shoes</a:t>
            </a:r>
            <a:pPr indent="0" marL="0">
              <a:buNone/>
            </a:pPr>
            <a:r>
              <a:rPr lang="en-US" sz="16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gauze</a:t>
            </a:r>
            <a:pPr indent="0" marL="0">
              <a:buNone/>
            </a:pPr>
            <a:r>
              <a:rPr lang="en-US" sz="16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medical_cap</a:t>
            </a:r>
            <a:pPr indent="0" marL="0">
              <a:buNone/>
            </a:pPr>
            <a:r>
              <a:rPr lang="en-US" sz="16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medical_gloves</a:t>
            </a:r>
            <a:pPr indent="0" marL="0">
              <a:buNone/>
            </a:pPr>
            <a:r>
              <a:rPr lang="en-US" sz="16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shoe_cover</a:t>
            </a:r>
            <a:pPr indent="0" marL="0">
              <a:buNone/>
            </a:pPr>
            <a:r>
              <a:rPr lang="en-US" sz="16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</a:t>
            </a:r>
            <a:pPr indent="0" marL="0">
              <a:buNone/>
            </a:pPr>
            <a:r>
              <a:rPr lang="en-US" sz="16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pPr indent="0" marL="0">
              <a:buNone/>
            </a:pPr>
            <a:r>
              <a:rPr lang="en-US" sz="16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cardboard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0080" y="5285232"/>
            <a:ext cx="10908792" cy="0"/>
          </a:xfrm>
          <a:prstGeom prst="line">
            <a:avLst/>
          </a:prstGeom>
          <a:noFill/>
          <a:ln w="12700">
            <a:solidFill>
              <a:srgbClr val="1D365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5422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  ·  MEDICAL WASTE 4.0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669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6,321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0624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2240280" y="5669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6,249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2240280" y="60624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3840480" y="5669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2600" dirty="0"/>
          </a:p>
        </p:txBody>
      </p:sp>
      <p:sp>
        <p:nvSpPr>
          <p:cNvPr id="38" name="Text 36"/>
          <p:cNvSpPr txBox="1"/>
          <p:nvPr/>
        </p:nvSpPr>
        <p:spPr>
          <a:xfrm>
            <a:off x="3840480" y="60624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5440680" y="5669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40" name="Text 38"/>
          <p:cNvSpPr txBox="1"/>
          <p:nvPr/>
        </p:nvSpPr>
        <p:spPr>
          <a:xfrm>
            <a:off x="5440680" y="60624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evaluated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7406640" y="54223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AUDIT TOOLING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7406640" y="569671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· provenance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· duplicate checks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A8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END-TO-END 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pixels to an accountable decision.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1993392" y="1417320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589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993392" y="1737360"/>
            <a:ext cx="2130552" cy="0"/>
          </a:xfrm>
          <a:prstGeom prst="line">
            <a:avLst/>
          </a:prstGeom>
          <a:noFill/>
          <a:ln w="28575">
            <a:solidFill>
              <a:srgbClr val="5897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25696" y="1417320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2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25696" y="1737360"/>
            <a:ext cx="2130552" cy="0"/>
          </a:xfrm>
          <a:prstGeom prst="line">
            <a:avLst/>
          </a:prstGeom>
          <a:noFill/>
          <a:ln w="28575">
            <a:solidFill>
              <a:srgbClr val="28DCC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0" y="1417320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6B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0" y="1737360"/>
            <a:ext cx="2130552" cy="0"/>
          </a:xfrm>
          <a:prstGeom prst="line">
            <a:avLst/>
          </a:prstGeom>
          <a:noFill/>
          <a:ln w="28575">
            <a:solidFill>
              <a:srgbClr val="F6BE4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290304" y="1417320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5CE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290304" y="1737360"/>
            <a:ext cx="2130552" cy="0"/>
          </a:xfrm>
          <a:prstGeom prst="line">
            <a:avLst/>
          </a:prstGeom>
          <a:noFill/>
          <a:ln w="28575">
            <a:solidFill>
              <a:srgbClr val="5CE2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441448"/>
            <a:ext cx="640080" cy="512064"/>
          </a:xfrm>
          <a:prstGeom prst="rect">
            <a:avLst/>
          </a:prstGeom>
          <a:ln w="22225">
            <a:solidFill>
              <a:srgbClr val="9BB0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25880" y="2560320"/>
            <a:ext cx="91440" cy="91440"/>
          </a:xfrm>
          <a:prstGeom prst="ellipse">
            <a:avLst/>
          </a:prstGeom>
          <a:solidFill>
            <a:srgbClr val="9BB0C7"/>
          </a:solidFill>
          <a:ln w="19050">
            <a:solidFill>
              <a:srgbClr val="9BB0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960120" y="2697480"/>
            <a:ext cx="201168" cy="201168"/>
          </a:xfrm>
          <a:prstGeom prst="line">
            <a:avLst/>
          </a:prstGeom>
          <a:noFill/>
          <a:ln w="19050">
            <a:solidFill>
              <a:srgbClr val="9BB0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61288" y="2697480"/>
            <a:ext cx="164592" cy="201168"/>
          </a:xfrm>
          <a:prstGeom prst="line">
            <a:avLst/>
          </a:prstGeom>
          <a:noFill/>
          <a:ln w="19050">
            <a:solidFill>
              <a:srgbClr val="9BB0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55064" y="2697480"/>
            <a:ext cx="374904" cy="0"/>
          </a:xfrm>
          <a:prstGeom prst="line">
            <a:avLst/>
          </a:prstGeom>
          <a:noFill/>
          <a:ln w="19050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649224" y="320040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130552" y="2441448"/>
            <a:ext cx="640080" cy="512064"/>
          </a:xfrm>
          <a:prstGeom prst="rect">
            <a:avLst/>
          </a:prstGeom>
          <a:ln w="15875">
            <a:solidFill>
              <a:srgbClr val="6A80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95144" y="2560320"/>
            <a:ext cx="91440" cy="0"/>
          </a:xfrm>
          <a:prstGeom prst="line">
            <a:avLst/>
          </a:prstGeom>
          <a:noFill/>
          <a:ln w="28575">
            <a:solidFill>
              <a:srgbClr val="5897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95144" y="2560320"/>
            <a:ext cx="0" cy="91440"/>
          </a:xfrm>
          <a:prstGeom prst="line">
            <a:avLst/>
          </a:prstGeom>
          <a:noFill/>
          <a:ln w="28575">
            <a:solidFill>
              <a:srgbClr val="5897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2560320"/>
            <a:ext cx="91440" cy="0"/>
          </a:xfrm>
          <a:prstGeom prst="line">
            <a:avLst/>
          </a:prstGeom>
          <a:noFill/>
          <a:ln w="28575">
            <a:solidFill>
              <a:srgbClr val="5897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06040" y="2560320"/>
            <a:ext cx="0" cy="91440"/>
          </a:xfrm>
          <a:prstGeom prst="line">
            <a:avLst/>
          </a:prstGeom>
          <a:noFill/>
          <a:ln w="28575">
            <a:solidFill>
              <a:srgbClr val="5897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95144" y="2834640"/>
            <a:ext cx="91440" cy="0"/>
          </a:xfrm>
          <a:prstGeom prst="line">
            <a:avLst/>
          </a:prstGeom>
          <a:noFill/>
          <a:ln w="28575">
            <a:solidFill>
              <a:srgbClr val="5897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95144" y="2743200"/>
            <a:ext cx="0" cy="91440"/>
          </a:xfrm>
          <a:prstGeom prst="line">
            <a:avLst/>
          </a:prstGeom>
          <a:noFill/>
          <a:ln w="28575">
            <a:solidFill>
              <a:srgbClr val="5897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14600" y="2834640"/>
            <a:ext cx="91440" cy="0"/>
          </a:xfrm>
          <a:prstGeom prst="line">
            <a:avLst/>
          </a:prstGeom>
          <a:noFill/>
          <a:ln w="28575">
            <a:solidFill>
              <a:srgbClr val="5897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06040" y="2743200"/>
            <a:ext cx="0" cy="91440"/>
          </a:xfrm>
          <a:prstGeom prst="line">
            <a:avLst/>
          </a:prstGeom>
          <a:noFill/>
          <a:ln w="28575">
            <a:solidFill>
              <a:srgbClr val="5897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1216" y="2697480"/>
            <a:ext cx="374904" cy="0"/>
          </a:xfrm>
          <a:prstGeom prst="line">
            <a:avLst/>
          </a:prstGeom>
          <a:noFill/>
          <a:ln w="19050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1865376" y="320040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865376" y="374904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classes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392424" y="2423160"/>
            <a:ext cx="182880" cy="0"/>
          </a:xfrm>
          <a:prstGeom prst="line">
            <a:avLst/>
          </a:prstGeom>
          <a:noFill/>
          <a:ln w="38100">
            <a:solidFill>
              <a:srgbClr val="5897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92424" y="2423160"/>
            <a:ext cx="0" cy="182880"/>
          </a:xfrm>
          <a:prstGeom prst="line">
            <a:avLst/>
          </a:prstGeom>
          <a:noFill/>
          <a:ln w="38100">
            <a:solidFill>
              <a:srgbClr val="5897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58184" y="2423160"/>
            <a:ext cx="182880" cy="0"/>
          </a:xfrm>
          <a:prstGeom prst="line">
            <a:avLst/>
          </a:prstGeom>
          <a:noFill/>
          <a:ln w="38100">
            <a:solidFill>
              <a:srgbClr val="5897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41064" y="2423160"/>
            <a:ext cx="0" cy="182880"/>
          </a:xfrm>
          <a:prstGeom prst="line">
            <a:avLst/>
          </a:prstGeom>
          <a:noFill/>
          <a:ln w="38100">
            <a:solidFill>
              <a:srgbClr val="5897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92424" y="2971800"/>
            <a:ext cx="182880" cy="0"/>
          </a:xfrm>
          <a:prstGeom prst="line">
            <a:avLst/>
          </a:prstGeom>
          <a:noFill/>
          <a:ln w="38100">
            <a:solidFill>
              <a:srgbClr val="5897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92424" y="2788920"/>
            <a:ext cx="0" cy="182880"/>
          </a:xfrm>
          <a:prstGeom prst="line">
            <a:avLst/>
          </a:prstGeom>
          <a:noFill/>
          <a:ln w="38100">
            <a:solidFill>
              <a:srgbClr val="5897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58184" y="2971800"/>
            <a:ext cx="182880" cy="0"/>
          </a:xfrm>
          <a:prstGeom prst="line">
            <a:avLst/>
          </a:prstGeom>
          <a:noFill/>
          <a:ln w="38100">
            <a:solidFill>
              <a:srgbClr val="5897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941064" y="2788920"/>
            <a:ext cx="0" cy="182880"/>
          </a:xfrm>
          <a:prstGeom prst="line">
            <a:avLst/>
          </a:prstGeom>
          <a:noFill/>
          <a:ln w="38100">
            <a:solidFill>
              <a:srgbClr val="5897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11880" y="2642616"/>
            <a:ext cx="109728" cy="109728"/>
          </a:xfrm>
          <a:prstGeom prst="ellipse">
            <a:avLst/>
          </a:prstGeom>
          <a:solidFill>
            <a:srgbClr val="5897FF"/>
          </a:solidFill>
          <a:ln w="19050">
            <a:solidFill>
              <a:srgbClr val="5897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87368" y="2697480"/>
            <a:ext cx="374904" cy="0"/>
          </a:xfrm>
          <a:prstGeom prst="line">
            <a:avLst/>
          </a:prstGeom>
          <a:noFill/>
          <a:ln w="19050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3081528" y="320040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+ CROP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590288" y="2743200"/>
            <a:ext cx="91440" cy="228600"/>
          </a:xfrm>
          <a:prstGeom prst="rect">
            <a:avLst/>
          </a:prstGeom>
          <a:solidFill>
            <a:srgbClr val="28DCC6"/>
          </a:solidFill>
          <a:ln/>
        </p:spPr>
      </p:sp>
      <p:sp>
        <p:nvSpPr>
          <p:cNvPr id="42" name="Shape 40"/>
          <p:cNvSpPr/>
          <p:nvPr/>
        </p:nvSpPr>
        <p:spPr>
          <a:xfrm>
            <a:off x="4754880" y="2560320"/>
            <a:ext cx="91440" cy="411480"/>
          </a:xfrm>
          <a:prstGeom prst="rect">
            <a:avLst/>
          </a:prstGeom>
          <a:solidFill>
            <a:srgbClr val="28DCC6"/>
          </a:solidFill>
          <a:ln/>
        </p:spPr>
      </p:sp>
      <p:sp>
        <p:nvSpPr>
          <p:cNvPr id="43" name="Shape 41"/>
          <p:cNvSpPr/>
          <p:nvPr/>
        </p:nvSpPr>
        <p:spPr>
          <a:xfrm>
            <a:off x="4919472" y="2423160"/>
            <a:ext cx="91440" cy="548640"/>
          </a:xfrm>
          <a:prstGeom prst="rect">
            <a:avLst/>
          </a:prstGeom>
          <a:solidFill>
            <a:srgbClr val="28DCC6"/>
          </a:solidFill>
          <a:ln/>
        </p:spPr>
      </p:sp>
      <p:sp>
        <p:nvSpPr>
          <p:cNvPr id="44" name="Shape 42"/>
          <p:cNvSpPr/>
          <p:nvPr/>
        </p:nvSpPr>
        <p:spPr>
          <a:xfrm>
            <a:off x="5084064" y="2651760"/>
            <a:ext cx="91440" cy="320040"/>
          </a:xfrm>
          <a:prstGeom prst="rect">
            <a:avLst/>
          </a:prstGeom>
          <a:solidFill>
            <a:srgbClr val="28DCC6"/>
          </a:solidFill>
          <a:ln/>
        </p:spPr>
      </p:sp>
      <p:sp>
        <p:nvSpPr>
          <p:cNvPr id="45" name="Shape 43"/>
          <p:cNvSpPr/>
          <p:nvPr/>
        </p:nvSpPr>
        <p:spPr>
          <a:xfrm>
            <a:off x="5303520" y="2697480"/>
            <a:ext cx="374904" cy="0"/>
          </a:xfrm>
          <a:prstGeom prst="line">
            <a:avLst/>
          </a:prstGeom>
          <a:noFill/>
          <a:ln w="19050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4297680" y="320040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4297680" y="374904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classes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779008" y="2542032"/>
            <a:ext cx="640080" cy="310896"/>
          </a:xfrm>
          <a:prstGeom prst="rect">
            <a:avLst/>
          </a:prstGeom>
          <a:ln w="22225">
            <a:solidFill>
              <a:srgbClr val="28DCC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70448" y="2651760"/>
            <a:ext cx="91440" cy="91440"/>
          </a:xfrm>
          <a:prstGeom prst="ellipse">
            <a:avLst/>
          </a:prstGeom>
          <a:solidFill>
            <a:srgbClr val="28DCC6"/>
          </a:solidFill>
          <a:ln w="19050">
            <a:solidFill>
              <a:srgbClr val="28DCC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25896" y="2697480"/>
            <a:ext cx="301752" cy="0"/>
          </a:xfrm>
          <a:prstGeom prst="line">
            <a:avLst/>
          </a:prstGeom>
          <a:noFill/>
          <a:ln w="25400">
            <a:solidFill>
              <a:srgbClr val="28DCC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19672" y="2697480"/>
            <a:ext cx="374904" cy="0"/>
          </a:xfrm>
          <a:prstGeom prst="line">
            <a:avLst/>
          </a:prstGeom>
          <a:noFill/>
          <a:ln w="19050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52" name="Text 50"/>
          <p:cNvSpPr txBox="1"/>
          <p:nvPr/>
        </p:nvSpPr>
        <p:spPr>
          <a:xfrm>
            <a:off x="5513832" y="320040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5513832" y="374904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19-class label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7004304" y="2386584"/>
            <a:ext cx="621792" cy="621792"/>
          </a:xfrm>
          <a:prstGeom prst="ellipse">
            <a:avLst/>
          </a:prstGeom>
          <a:solidFill>
            <a:srgbClr val="06101C"/>
          </a:solidFill>
          <a:ln w="25400">
            <a:solidFill>
              <a:srgbClr val="F6BE4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214616" y="2660904"/>
            <a:ext cx="109728" cy="109728"/>
          </a:xfrm>
          <a:prstGeom prst="ellipse">
            <a:avLst/>
          </a:prstGeom>
          <a:solidFill>
            <a:srgbClr val="F6BE43"/>
          </a:solidFill>
          <a:ln w="19050">
            <a:solidFill>
              <a:srgbClr val="F6BE4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35824" y="2697480"/>
            <a:ext cx="374904" cy="0"/>
          </a:xfrm>
          <a:prstGeom prst="line">
            <a:avLst/>
          </a:prstGeom>
          <a:noFill/>
          <a:ln w="19050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57" name="Text 55"/>
          <p:cNvSpPr txBox="1"/>
          <p:nvPr/>
        </p:nvSpPr>
        <p:spPr>
          <a:xfrm>
            <a:off x="6729984" y="320040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CHECK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6729984" y="374904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0.230447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8193024" y="2487168"/>
            <a:ext cx="420624" cy="420624"/>
          </a:xfrm>
          <a:prstGeom prst="ellipse">
            <a:avLst/>
          </a:prstGeom>
          <a:solidFill>
            <a:srgbClr val="06101C"/>
          </a:solidFill>
          <a:ln w="25400">
            <a:solidFill>
              <a:srgbClr val="F6BE4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449056" y="2487168"/>
            <a:ext cx="420624" cy="420624"/>
          </a:xfrm>
          <a:prstGeom prst="ellipse">
            <a:avLst/>
          </a:prstGeom>
          <a:solidFill>
            <a:srgbClr val="06101C"/>
          </a:solidFill>
          <a:ln w="25400">
            <a:solidFill>
              <a:srgbClr val="F6BE4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951976" y="2697480"/>
            <a:ext cx="374904" cy="0"/>
          </a:xfrm>
          <a:prstGeom prst="line">
            <a:avLst/>
          </a:prstGeom>
          <a:noFill/>
          <a:ln w="19050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62" name="Text 60"/>
          <p:cNvSpPr txBox="1"/>
          <p:nvPr/>
        </p:nvSpPr>
        <p:spPr>
          <a:xfrm>
            <a:off x="7946136" y="320040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GATE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7946136" y="374904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↔ classifier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9418320" y="2368296"/>
            <a:ext cx="658368" cy="658368"/>
          </a:xfrm>
          <a:prstGeom prst="diamond">
            <a:avLst/>
          </a:prstGeom>
          <a:solidFill>
            <a:srgbClr val="06101C"/>
          </a:solidFill>
          <a:ln w="25400">
            <a:solidFill>
              <a:srgbClr val="5CE29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701784" y="2651760"/>
            <a:ext cx="91440" cy="91440"/>
          </a:xfrm>
          <a:prstGeom prst="ellipse">
            <a:avLst/>
          </a:prstGeom>
          <a:solidFill>
            <a:srgbClr val="5CE299"/>
          </a:solidFill>
          <a:ln w="19050">
            <a:solidFill>
              <a:srgbClr val="5CE29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168128" y="2697480"/>
            <a:ext cx="374904" cy="0"/>
          </a:xfrm>
          <a:prstGeom prst="line">
            <a:avLst/>
          </a:prstGeom>
          <a:noFill/>
          <a:ln w="19050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67" name="Text 65"/>
          <p:cNvSpPr txBox="1"/>
          <p:nvPr/>
        </p:nvSpPr>
        <p:spPr>
          <a:xfrm>
            <a:off x="9162288" y="320040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 REJECT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10643616" y="2377440"/>
            <a:ext cx="640080" cy="640080"/>
          </a:xfrm>
          <a:prstGeom prst="ellipse">
            <a:avLst/>
          </a:prstGeom>
          <a:solidFill>
            <a:srgbClr val="06101C"/>
          </a:solidFill>
          <a:ln w="25400">
            <a:solidFill>
              <a:srgbClr val="5CE29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790834" y="2679192"/>
            <a:ext cx="134417" cy="145938"/>
          </a:xfrm>
          <a:prstGeom prst="line">
            <a:avLst/>
          </a:prstGeom>
          <a:noFill/>
          <a:ln w="31750">
            <a:solidFill>
              <a:srgbClr val="5CE29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V="1">
            <a:off x="10925251" y="2533254"/>
            <a:ext cx="230429" cy="291876"/>
          </a:xfrm>
          <a:prstGeom prst="line">
            <a:avLst/>
          </a:prstGeom>
          <a:noFill/>
          <a:ln w="31750">
            <a:solidFill>
              <a:srgbClr val="5CE299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0378440" y="320040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GUIDANCE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640080" y="4434840"/>
            <a:ext cx="10908792" cy="0"/>
          </a:xfrm>
          <a:prstGeom prst="line">
            <a:avLst/>
          </a:prstGeom>
          <a:noFill/>
          <a:ln w="12700">
            <a:solidFill>
              <a:srgbClr val="1D3652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640080" y="457200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 ·  EVERY RAW DETECTION IS ACCOUNTED FOR</a:t>
            </a:r>
            <a:endParaRPr lang="en-US" sz="1200" dirty="0"/>
          </a:p>
        </p:txBody>
      </p:sp>
      <p:sp>
        <p:nvSpPr>
          <p:cNvPr id="74" name="Text 72"/>
          <p:cNvSpPr txBox="1"/>
          <p:nvPr/>
        </p:nvSpPr>
        <p:spPr>
          <a:xfrm>
            <a:off x="640080" y="4983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DETECTIONS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40080" y="5376672"/>
            <a:ext cx="1965960" cy="0"/>
          </a:xfrm>
          <a:prstGeom prst="line">
            <a:avLst/>
          </a:prstGeom>
          <a:noFill/>
          <a:ln w="28575">
            <a:solidFill>
              <a:srgbClr val="F5F8FC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2606040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200" dirty="0"/>
          </a:p>
        </p:txBody>
      </p:sp>
      <p:sp>
        <p:nvSpPr>
          <p:cNvPr id="77" name="Text 75"/>
          <p:cNvSpPr txBox="1"/>
          <p:nvPr/>
        </p:nvSpPr>
        <p:spPr>
          <a:xfrm>
            <a:off x="2971800" y="4983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E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2971800" y="5376672"/>
            <a:ext cx="1280160" cy="0"/>
          </a:xfrm>
          <a:prstGeom prst="line">
            <a:avLst/>
          </a:prstGeom>
          <a:noFill/>
          <a:ln w="28575">
            <a:solidFill>
              <a:srgbClr val="5CE299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4251960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80" name="Text 78"/>
          <p:cNvSpPr txBox="1"/>
          <p:nvPr/>
        </p:nvSpPr>
        <p:spPr>
          <a:xfrm>
            <a:off x="4617720" y="4983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B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REJECTED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4617720" y="5376672"/>
            <a:ext cx="1645920" cy="0"/>
          </a:xfrm>
          <a:prstGeom prst="line">
            <a:avLst/>
          </a:prstGeom>
          <a:noFill/>
          <a:ln w="28575">
            <a:solidFill>
              <a:srgbClr val="F6BE43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6263640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83" name="Text 81"/>
          <p:cNvSpPr txBox="1"/>
          <p:nvPr/>
        </p:nvSpPr>
        <p:spPr>
          <a:xfrm>
            <a:off x="6629400" y="4983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B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REJECTED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6629400" y="5376672"/>
            <a:ext cx="2560320" cy="0"/>
          </a:xfrm>
          <a:prstGeom prst="line">
            <a:avLst/>
          </a:prstGeom>
          <a:noFill/>
          <a:ln w="28575">
            <a:solidFill>
              <a:srgbClr val="F6BE43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9189720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86" name="Text 84"/>
          <p:cNvSpPr txBox="1"/>
          <p:nvPr/>
        </p:nvSpPr>
        <p:spPr>
          <a:xfrm>
            <a:off x="9555480" y="4983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REJECTED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9555480" y="5376672"/>
            <a:ext cx="1737360" cy="0"/>
          </a:xfrm>
          <a:prstGeom prst="line">
            <a:avLst/>
          </a:prstGeom>
          <a:noFill/>
          <a:ln w="28575">
            <a:solidFill>
              <a:srgbClr val="9BB0C7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640080" y="5742432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checks must agree before a prediction is accepted.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A8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89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DETECTOR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is the current bottleneck.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9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YOLO11s  ·  E4 VALIDATION  ·  149 IMAGES  ·  407 INSTANCES  ·  DETECTOR METRICS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589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21.6%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00400" y="1783080"/>
            <a:ext cx="0" cy="1005840"/>
          </a:xfrm>
          <a:prstGeom prst="line">
            <a:avLst/>
          </a:prstGeom>
          <a:noFill/>
          <a:ln w="12700">
            <a:solidFill>
              <a:srgbClr val="1D36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6916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589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26.1%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0" y="1783080"/>
            <a:ext cx="0" cy="1005840"/>
          </a:xfrm>
          <a:prstGeom prst="line">
            <a:avLst/>
          </a:prstGeom>
          <a:noFill/>
          <a:ln w="12700">
            <a:solidFill>
              <a:srgbClr val="1D36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16916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589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23.2%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mAP@0.50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686800" y="1783080"/>
            <a:ext cx="0" cy="1005840"/>
          </a:xfrm>
          <a:prstGeom prst="line">
            <a:avLst/>
          </a:prstGeom>
          <a:noFill/>
          <a:ln w="12700">
            <a:solidFill>
              <a:srgbClr val="1D36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69680" y="16916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589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18.8%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0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mAP@0.50:0.95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1D365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546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mAP@0.50   ·   SCALE 0 → 1.0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5661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926080" y="3630168"/>
            <a:ext cx="4206240" cy="256032"/>
          </a:xfrm>
          <a:prstGeom prst="rect">
            <a:avLst/>
          </a:prstGeom>
          <a:solidFill>
            <a:srgbClr val="0F1E30"/>
          </a:solidFill>
          <a:ln/>
        </p:spPr>
      </p:sp>
      <p:sp>
        <p:nvSpPr>
          <p:cNvPr id="20" name="Shape 18"/>
          <p:cNvSpPr/>
          <p:nvPr/>
        </p:nvSpPr>
        <p:spPr>
          <a:xfrm>
            <a:off x="2926080" y="3630168"/>
            <a:ext cx="1863364" cy="256032"/>
          </a:xfrm>
          <a:prstGeom prst="rect">
            <a:avLst/>
          </a:prstGeom>
          <a:solidFill>
            <a:srgbClr val="5897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69480" y="35661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0.443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0965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926080" y="4160520"/>
            <a:ext cx="4206240" cy="256032"/>
          </a:xfrm>
          <a:prstGeom prst="rect">
            <a:avLst/>
          </a:prstGeom>
          <a:solidFill>
            <a:srgbClr val="0F1E30"/>
          </a:solidFill>
          <a:ln/>
        </p:spPr>
      </p:sp>
      <p:sp>
        <p:nvSpPr>
          <p:cNvPr id="24" name="Shape 22"/>
          <p:cNvSpPr/>
          <p:nvPr/>
        </p:nvSpPr>
        <p:spPr>
          <a:xfrm>
            <a:off x="2926080" y="4160520"/>
            <a:ext cx="1560515" cy="256032"/>
          </a:xfrm>
          <a:prstGeom prst="rect">
            <a:avLst/>
          </a:prstGeom>
          <a:solidFill>
            <a:srgbClr val="5897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269480" y="40965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0.371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462686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paper/cardboard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2926080" y="4690872"/>
            <a:ext cx="4206240" cy="256032"/>
          </a:xfrm>
          <a:prstGeom prst="rect">
            <a:avLst/>
          </a:prstGeom>
          <a:solidFill>
            <a:srgbClr val="0F1E30"/>
          </a:solidFill>
          <a:ln/>
        </p:spPr>
      </p:sp>
      <p:sp>
        <p:nvSpPr>
          <p:cNvPr id="28" name="Shape 26"/>
          <p:cNvSpPr/>
          <p:nvPr/>
        </p:nvSpPr>
        <p:spPr>
          <a:xfrm>
            <a:off x="2926080" y="4690872"/>
            <a:ext cx="1123066" cy="256032"/>
          </a:xfrm>
          <a:prstGeom prst="rect">
            <a:avLst/>
          </a:prstGeom>
          <a:solidFill>
            <a:srgbClr val="5897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269480" y="462686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0.267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15721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other_trash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2926080" y="5221224"/>
            <a:ext cx="4206240" cy="256032"/>
          </a:xfrm>
          <a:prstGeom prst="rect">
            <a:avLst/>
          </a:prstGeom>
          <a:solidFill>
            <a:srgbClr val="0F1E30"/>
          </a:solidFill>
          <a:ln/>
        </p:spPr>
      </p:sp>
      <p:sp>
        <p:nvSpPr>
          <p:cNvPr id="32" name="Shape 30"/>
          <p:cNvSpPr/>
          <p:nvPr/>
        </p:nvSpPr>
        <p:spPr>
          <a:xfrm>
            <a:off x="2926080" y="5221224"/>
            <a:ext cx="273406" cy="256032"/>
          </a:xfrm>
          <a:prstGeom prst="rect">
            <a:avLst/>
          </a:prstGeom>
          <a:solidFill>
            <a:srgbClr val="F6BE4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269480" y="51572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B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0.065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6875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2926080" y="5751576"/>
            <a:ext cx="4206240" cy="256032"/>
          </a:xfrm>
          <a:prstGeom prst="rect">
            <a:avLst/>
          </a:prstGeom>
          <a:solidFill>
            <a:srgbClr val="0F1E30"/>
          </a:solidFill>
          <a:ln/>
        </p:spPr>
      </p:sp>
      <p:sp>
        <p:nvSpPr>
          <p:cNvPr id="36" name="Shape 34"/>
          <p:cNvSpPr/>
          <p:nvPr/>
        </p:nvSpPr>
        <p:spPr>
          <a:xfrm>
            <a:off x="2926080" y="5751576"/>
            <a:ext cx="66459" cy="256032"/>
          </a:xfrm>
          <a:prstGeom prst="rect">
            <a:avLst/>
          </a:prstGeom>
          <a:solidFill>
            <a:srgbClr val="F6BE43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269480" y="56875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B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0.0158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732520" y="3154680"/>
            <a:ext cx="0" cy="3017520"/>
          </a:xfrm>
          <a:prstGeom prst="line">
            <a:avLst/>
          </a:prstGeom>
          <a:noFill/>
          <a:ln w="12700">
            <a:solidFill>
              <a:srgbClr val="1D365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06840" y="3246120"/>
            <a:ext cx="0" cy="914400"/>
          </a:xfrm>
          <a:prstGeom prst="line">
            <a:avLst/>
          </a:prstGeom>
          <a:noFill/>
          <a:ln w="38100">
            <a:solidFill>
              <a:srgbClr val="F6BE4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8972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6B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BOTTLENECK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9189720" y="3566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6B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6B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</a:t>
            </a:r>
            <a:endParaRPr lang="en-US" sz="2600" dirty="0"/>
          </a:p>
        </p:txBody>
      </p:sp>
      <p:sp>
        <p:nvSpPr>
          <p:cNvPr id="42" name="Text 40"/>
          <p:cNvSpPr txBox="1"/>
          <p:nvPr/>
        </p:nvSpPr>
        <p:spPr>
          <a:xfrm>
            <a:off x="9006840" y="47548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PRACTICAL BASELINE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9006840" y="5001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TACO · shown for context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9006840" y="53492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0.282  ·  R 0.387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 0.306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mAP50-95 0.236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A8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CLASSIFIER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classification is substantially stronger.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6B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MACRO-F1  —  NOT TEST ACCURACY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19072"/>
            <a:ext cx="5669280" cy="0"/>
          </a:xfrm>
          <a:prstGeom prst="line">
            <a:avLst/>
          </a:prstGeom>
          <a:noFill/>
          <a:ln w="19050">
            <a:solidFill>
              <a:srgbClr val="F6BE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745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0" b="1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95.75%</a:t>
            </a:r>
            <a:endParaRPr lang="en-US" sz="8400" dirty="0"/>
          </a:p>
        </p:txBody>
      </p:sp>
      <p:sp>
        <p:nvSpPr>
          <p:cNvPr id="7" name="Shape 5"/>
          <p:cNvSpPr/>
          <p:nvPr/>
        </p:nvSpPr>
        <p:spPr>
          <a:xfrm>
            <a:off x="4343400" y="2514600"/>
            <a:ext cx="1005840" cy="0"/>
          </a:xfrm>
          <a:prstGeom prst="line">
            <a:avLst/>
          </a:prstGeom>
          <a:noFill/>
          <a:ln w="38100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5577840" y="18745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0" b="1" dirty="0">
                <a:solidFill>
                  <a:srgbClr val="2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96.80%</a:t>
            </a:r>
            <a:endParaRPr lang="en-US" sz="8400" dirty="0"/>
          </a:p>
        </p:txBody>
      </p:sp>
      <p:sp>
        <p:nvSpPr>
          <p:cNvPr id="9" name="Text 7"/>
          <p:cNvSpPr txBox="1"/>
          <p:nvPr/>
        </p:nvSpPr>
        <p:spPr>
          <a:xfrm>
            <a:off x="9601200" y="22402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CE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+1.1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5CE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3566160" cy="109728"/>
          </a:xfrm>
          <a:prstGeom prst="rect">
            <a:avLst/>
          </a:prstGeom>
          <a:solidFill>
            <a:srgbClr val="0F1E30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200400"/>
            <a:ext cx="3414456" cy="109728"/>
          </a:xfrm>
          <a:prstGeom prst="rect">
            <a:avLst/>
          </a:prstGeom>
          <a:solidFill>
            <a:srgbClr val="9BB0C7"/>
          </a:solidFill>
          <a:ln/>
        </p:spPr>
      </p:sp>
      <p:sp>
        <p:nvSpPr>
          <p:cNvPr id="12" name="Shape 10"/>
          <p:cNvSpPr/>
          <p:nvPr/>
        </p:nvSpPr>
        <p:spPr>
          <a:xfrm>
            <a:off x="5577840" y="3200400"/>
            <a:ext cx="3566160" cy="109728"/>
          </a:xfrm>
          <a:prstGeom prst="rect">
            <a:avLst/>
          </a:prstGeom>
          <a:solidFill>
            <a:srgbClr val="0F1E30"/>
          </a:solidFill>
          <a:ln/>
        </p:spPr>
      </p:sp>
      <p:sp>
        <p:nvSpPr>
          <p:cNvPr id="13" name="Shape 11"/>
          <p:cNvSpPr/>
          <p:nvPr/>
        </p:nvSpPr>
        <p:spPr>
          <a:xfrm>
            <a:off x="5577840" y="3200400"/>
            <a:ext cx="3452136" cy="109728"/>
          </a:xfrm>
          <a:prstGeom prst="rect">
            <a:avLst/>
          </a:prstGeom>
          <a:solidFill>
            <a:srgbClr val="28DCC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81160" y="31363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0 → 100%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8221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epoch 20 / 25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1605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95.73%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Precision 95.06%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Recall 96.58%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38221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 epoch 6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4160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classes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5074920"/>
            <a:ext cx="10908792" cy="0"/>
          </a:xfrm>
          <a:prstGeom prst="line">
            <a:avLst/>
          </a:prstGeom>
          <a:noFill/>
          <a:ln w="12700">
            <a:solidFill>
              <a:srgbClr val="1D365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52120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PREPROCESSING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532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256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176272" y="5696712"/>
            <a:ext cx="338328" cy="0"/>
          </a:xfrm>
          <a:prstGeom prst="line">
            <a:avLst/>
          </a:prstGeom>
          <a:noFill/>
          <a:ln w="15875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2606040" y="5532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Crop 224×224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919472" y="5696712"/>
            <a:ext cx="338328" cy="0"/>
          </a:xfrm>
          <a:prstGeom prst="line">
            <a:avLst/>
          </a:prstGeom>
          <a:noFill/>
          <a:ln w="15875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5349240" y="5532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ToTensor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611112" y="5696712"/>
            <a:ext cx="338328" cy="0"/>
          </a:xfrm>
          <a:prstGeom prst="line">
            <a:avLst/>
          </a:prstGeom>
          <a:noFill/>
          <a:ln w="15875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7040880" y="5532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normalization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445752" y="5696712"/>
            <a:ext cx="338328" cy="0"/>
          </a:xfrm>
          <a:prstGeom prst="line">
            <a:avLst/>
          </a:prstGeom>
          <a:noFill/>
          <a:ln w="15875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9875520" y="5532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98932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[0.485, 0.456, 0.406]  ·  std [0.229, 0.224, 0.225]     Stage 1: 25 epochs · batch 32 · lr 0.0005 · weight decay 0.0001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A8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6B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OOD AND TRUST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knows when not to guess.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417320" y="1645920"/>
            <a:ext cx="9372600" cy="0"/>
          </a:xfrm>
          <a:prstGeom prst="line">
            <a:avLst/>
          </a:prstGeom>
          <a:noFill/>
          <a:ln w="19050">
            <a:solidFill>
              <a:srgbClr val="1D36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7592" y="1536192"/>
            <a:ext cx="219456" cy="219456"/>
          </a:xfrm>
          <a:prstGeom prst="ellipse">
            <a:avLst/>
          </a:prstGeom>
          <a:solidFill>
            <a:srgbClr val="F6BE43"/>
          </a:solidFill>
          <a:ln w="19050">
            <a:solidFill>
              <a:srgbClr val="F6BE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74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82112" y="1536192"/>
            <a:ext cx="219456" cy="219456"/>
          </a:xfrm>
          <a:prstGeom prst="ellipse">
            <a:avLst/>
          </a:prstGeom>
          <a:solidFill>
            <a:srgbClr val="F6BE43"/>
          </a:solidFill>
          <a:ln w="19050">
            <a:solidFill>
              <a:srgbClr val="F6BE4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23160" y="1874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56632" y="1536192"/>
            <a:ext cx="219456" cy="219456"/>
          </a:xfrm>
          <a:prstGeom prst="ellipse">
            <a:avLst/>
          </a:prstGeom>
          <a:solidFill>
            <a:srgbClr val="F6BE43"/>
          </a:solidFill>
          <a:ln w="19050">
            <a:solidFill>
              <a:srgbClr val="F6BE4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97680" y="1874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31152" y="1536192"/>
            <a:ext cx="219456" cy="219456"/>
          </a:xfrm>
          <a:prstGeom prst="ellipse">
            <a:avLst/>
          </a:prstGeom>
          <a:solidFill>
            <a:srgbClr val="F6BE43"/>
          </a:solidFill>
          <a:ln w="19050">
            <a:solidFill>
              <a:srgbClr val="F6BE4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1874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CENTROIDS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05672" y="1536192"/>
            <a:ext cx="219456" cy="219456"/>
          </a:xfrm>
          <a:prstGeom prst="ellipse">
            <a:avLst/>
          </a:prstGeom>
          <a:solidFill>
            <a:srgbClr val="F6BE43"/>
          </a:solidFill>
          <a:ln w="19050">
            <a:solidFill>
              <a:srgbClr val="F6BE4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1874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B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6B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0.230447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680192" y="1536192"/>
            <a:ext cx="219456" cy="219456"/>
          </a:xfrm>
          <a:prstGeom prst="ellipse">
            <a:avLst/>
          </a:prstGeom>
          <a:solidFill>
            <a:srgbClr val="F45B69"/>
          </a:solidFill>
          <a:ln w="19050">
            <a:solidFill>
              <a:srgbClr val="F45B6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921240" y="1874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/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2697480"/>
            <a:ext cx="10908792" cy="0"/>
          </a:xfrm>
          <a:prstGeom prst="line">
            <a:avLst/>
          </a:prstGeom>
          <a:noFill/>
          <a:ln w="12700">
            <a:solidFill>
              <a:srgbClr val="1D365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8346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REJECTION EXAMPLE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154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429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cardboard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297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5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0.1996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892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166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6B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0.2304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8704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Calibration: 1st percentile of correct-class cosine similarities on the expanded validation set.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852160" y="2834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GAUGE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52160" y="4160520"/>
            <a:ext cx="3160166" cy="182880"/>
          </a:xfrm>
          <a:prstGeom prst="rect">
            <a:avLst/>
          </a:prstGeom>
          <a:solidFill>
            <a:srgbClr val="F45B69"/>
          </a:solidFill>
          <a:ln/>
        </p:spPr>
      </p:sp>
      <p:sp>
        <p:nvSpPr>
          <p:cNvPr id="28" name="Shape 26"/>
          <p:cNvSpPr/>
          <p:nvPr/>
        </p:nvSpPr>
        <p:spPr>
          <a:xfrm>
            <a:off x="9012326" y="4160520"/>
            <a:ext cx="2326234" cy="182880"/>
          </a:xfrm>
          <a:prstGeom prst="rect">
            <a:avLst/>
          </a:prstGeom>
          <a:solidFill>
            <a:srgbClr val="28DCC6"/>
          </a:solidFill>
          <a:ln/>
        </p:spPr>
      </p:sp>
      <p:sp>
        <p:nvSpPr>
          <p:cNvPr id="29" name="Shape 27"/>
          <p:cNvSpPr/>
          <p:nvPr/>
        </p:nvSpPr>
        <p:spPr>
          <a:xfrm>
            <a:off x="5852160" y="4343400"/>
            <a:ext cx="0" cy="109728"/>
          </a:xfrm>
          <a:prstGeom prst="line">
            <a:avLst/>
          </a:prstGeom>
          <a:noFill/>
          <a:ln w="12700">
            <a:solidFill>
              <a:srgbClr val="6A809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577840" y="44897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223760" y="4343400"/>
            <a:ext cx="0" cy="109728"/>
          </a:xfrm>
          <a:prstGeom prst="line">
            <a:avLst/>
          </a:prstGeom>
          <a:noFill/>
          <a:ln w="12700">
            <a:solidFill>
              <a:srgbClr val="6A809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49440" y="44897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595360" y="4343400"/>
            <a:ext cx="0" cy="109728"/>
          </a:xfrm>
          <a:prstGeom prst="line">
            <a:avLst/>
          </a:prstGeom>
          <a:noFill/>
          <a:ln w="12700">
            <a:solidFill>
              <a:srgbClr val="6A809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21040" y="44897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966960" y="4343400"/>
            <a:ext cx="0" cy="109728"/>
          </a:xfrm>
          <a:prstGeom prst="line">
            <a:avLst/>
          </a:prstGeom>
          <a:noFill/>
          <a:ln w="12700">
            <a:solidFill>
              <a:srgbClr val="6A809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692640" y="44897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1338560" y="4343400"/>
            <a:ext cx="0" cy="109728"/>
          </a:xfrm>
          <a:prstGeom prst="line">
            <a:avLst/>
          </a:prstGeom>
          <a:noFill/>
          <a:ln w="12700">
            <a:solidFill>
              <a:srgbClr val="6A809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1064240" y="44897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012326" y="3566160"/>
            <a:ext cx="0" cy="777240"/>
          </a:xfrm>
          <a:prstGeom prst="line">
            <a:avLst/>
          </a:prstGeom>
          <a:noFill/>
          <a:ln w="31750">
            <a:solidFill>
              <a:srgbClr val="F6BE4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22054" y="33101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6B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0.2304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425282" y="4087368"/>
            <a:ext cx="329184" cy="329184"/>
          </a:xfrm>
          <a:prstGeom prst="ellipse">
            <a:avLst/>
          </a:prstGeom>
          <a:solidFill>
            <a:srgbClr val="F45B69"/>
          </a:solidFill>
          <a:ln w="25400">
            <a:solidFill>
              <a:srgbClr val="F5F8F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303874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45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0.1996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589874" y="3913632"/>
            <a:ext cx="0" cy="155448"/>
          </a:xfrm>
          <a:prstGeom prst="line">
            <a:avLst/>
          </a:prstGeom>
          <a:noFill/>
          <a:ln w="19050">
            <a:solidFill>
              <a:srgbClr val="F45B6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852160" y="4828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45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9326880" y="4828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spc="200" kern="0" dirty="0">
                <a:solidFill>
                  <a:srgbClr val="2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852160" y="5257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0.1996 &lt; 0.2304</a:t>
            </a:r>
            <a:endParaRPr lang="en-US" sz="2800" dirty="0"/>
          </a:p>
        </p:txBody>
      </p:sp>
      <p:sp>
        <p:nvSpPr>
          <p:cNvPr id="47" name="Text 45"/>
          <p:cNvSpPr txBox="1"/>
          <p:nvPr/>
        </p:nvSpPr>
        <p:spPr>
          <a:xfrm>
            <a:off x="5852160" y="568756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45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UNSUPPORTED IMAGE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A8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CE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EXTERNAL VALIDATION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 on Medical Waste 4.0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0" b="1" dirty="0">
                <a:solidFill>
                  <a:srgbClr val="5CE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99.14%</a:t>
            </a:r>
            <a:endParaRPr lang="en-US" sz="9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060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accuracy on the supported subset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91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ResNet50 Stage 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03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6,321</a:t>
            </a:r>
            <a:pPr indent="0" marL="0">
              <a:buNone/>
            </a:pPr>
            <a:r>
              <a:rPr lang="en-US" sz="15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images discovered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4160520"/>
            <a:ext cx="0" cy="274320"/>
          </a:xfrm>
          <a:prstGeom prst="line">
            <a:avLst/>
          </a:prstGeom>
          <a:noFill/>
          <a:ln w="19050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1097280" y="4160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excluded (unsupported)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480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6,249</a:t>
            </a:r>
            <a:pPr indent="0" marL="0">
              <a:buNone/>
            </a:pPr>
            <a:r>
              <a:rPr lang="en-US" sz="15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supported · evaluated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" y="4937760"/>
            <a:ext cx="0" cy="274320"/>
          </a:xfrm>
          <a:prstGeom prst="line">
            <a:avLst/>
          </a:prstGeom>
          <a:noFill/>
          <a:ln w="19050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640080" y="5212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5CE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6,195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6235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5212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6B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2240280" y="56235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703320" y="5212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3703320" y="56235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errors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0" y="1371600"/>
            <a:ext cx="0" cy="4389120"/>
          </a:xfrm>
          <a:prstGeom prst="line">
            <a:avLst/>
          </a:prstGeom>
          <a:noFill/>
          <a:ln w="12700">
            <a:solidFill>
              <a:srgbClr val="1D365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13716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E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ACCURACY   ·   SCALE 0 → 100%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17830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gauze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2057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/ 630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0" y="1901952"/>
            <a:ext cx="2423160" cy="256032"/>
          </a:xfrm>
          <a:prstGeom prst="rect">
            <a:avLst/>
          </a:prstGeom>
          <a:solidFill>
            <a:srgbClr val="0F1E30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0" y="1901952"/>
            <a:ext cx="2307771" cy="256032"/>
          </a:xfrm>
          <a:prstGeom prst="rect">
            <a:avLst/>
          </a:prstGeom>
          <a:solidFill>
            <a:srgbClr val="28DCC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698480" y="1828800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95.24%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23500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medical_cap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26243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438 / 438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229600" y="2468880"/>
            <a:ext cx="2423160" cy="256032"/>
          </a:xfrm>
          <a:prstGeom prst="rect">
            <a:avLst/>
          </a:prstGeom>
          <a:solidFill>
            <a:srgbClr val="0F1E30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9600" y="2468880"/>
            <a:ext cx="2423160" cy="256032"/>
          </a:xfrm>
          <a:prstGeom prst="rect">
            <a:avLst/>
          </a:prstGeom>
          <a:solidFill>
            <a:srgbClr val="5CE29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698480" y="2395728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6309360" y="29169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medical_glasses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309360" y="31912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486 / 486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229600" y="3035808"/>
            <a:ext cx="2423160" cy="256032"/>
          </a:xfrm>
          <a:prstGeom prst="rect">
            <a:avLst/>
          </a:prstGeom>
          <a:solidFill>
            <a:srgbClr val="0F1E30"/>
          </a:solidFill>
          <a:ln/>
        </p:spPr>
      </p:sp>
      <p:sp>
        <p:nvSpPr>
          <p:cNvPr id="33" name="Shape 31"/>
          <p:cNvSpPr/>
          <p:nvPr/>
        </p:nvSpPr>
        <p:spPr>
          <a:xfrm>
            <a:off x="8229600" y="3035808"/>
            <a:ext cx="2423160" cy="256032"/>
          </a:xfrm>
          <a:prstGeom prst="rect">
            <a:avLst/>
          </a:prstGeom>
          <a:solidFill>
            <a:srgbClr val="5CE299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698480" y="2962656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6309360" y="34838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medical_gloves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309360" y="375818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2,764 / 2,787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229600" y="3602736"/>
            <a:ext cx="2423160" cy="256032"/>
          </a:xfrm>
          <a:prstGeom prst="rect">
            <a:avLst/>
          </a:prstGeom>
          <a:solidFill>
            <a:srgbClr val="0F1E30"/>
          </a:solidFill>
          <a:ln/>
        </p:spPr>
      </p:sp>
      <p:sp>
        <p:nvSpPr>
          <p:cNvPr id="38" name="Shape 36"/>
          <p:cNvSpPr/>
          <p:nvPr/>
        </p:nvSpPr>
        <p:spPr>
          <a:xfrm>
            <a:off x="8229600" y="3602736"/>
            <a:ext cx="2403163" cy="256032"/>
          </a:xfrm>
          <a:prstGeom prst="rect">
            <a:avLst/>
          </a:prstGeom>
          <a:solidFill>
            <a:srgbClr val="28DCC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0698480" y="3529584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99.17%</a:t>
            </a:r>
            <a:endParaRPr lang="en-US" sz="1700" dirty="0"/>
          </a:p>
        </p:txBody>
      </p:sp>
      <p:sp>
        <p:nvSpPr>
          <p:cNvPr id="40" name="Text 38"/>
          <p:cNvSpPr txBox="1"/>
          <p:nvPr/>
        </p:nvSpPr>
        <p:spPr>
          <a:xfrm>
            <a:off x="6309360" y="40507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shoe_cover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6309360" y="43251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972 / 972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229600" y="4169664"/>
            <a:ext cx="2423160" cy="256032"/>
          </a:xfrm>
          <a:prstGeom prst="rect">
            <a:avLst/>
          </a:prstGeom>
          <a:solidFill>
            <a:srgbClr val="0F1E30"/>
          </a:solidFill>
          <a:ln/>
        </p:spPr>
      </p:sp>
      <p:sp>
        <p:nvSpPr>
          <p:cNvPr id="43" name="Shape 41"/>
          <p:cNvSpPr/>
          <p:nvPr/>
        </p:nvSpPr>
        <p:spPr>
          <a:xfrm>
            <a:off x="8229600" y="4169664"/>
            <a:ext cx="2423160" cy="256032"/>
          </a:xfrm>
          <a:prstGeom prst="rect">
            <a:avLst/>
          </a:prstGeom>
          <a:solidFill>
            <a:srgbClr val="5CE299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0698480" y="4096512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700" dirty="0"/>
          </a:p>
        </p:txBody>
      </p:sp>
      <p:sp>
        <p:nvSpPr>
          <p:cNvPr id="45" name="Text 43"/>
          <p:cNvSpPr txBox="1"/>
          <p:nvPr/>
        </p:nvSpPr>
        <p:spPr>
          <a:xfrm>
            <a:off x="6309360" y="4617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test_tube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6309360" y="4892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482 / 483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229600" y="4736592"/>
            <a:ext cx="2423160" cy="256032"/>
          </a:xfrm>
          <a:prstGeom prst="rect">
            <a:avLst/>
          </a:prstGeom>
          <a:solidFill>
            <a:srgbClr val="0F1E30"/>
          </a:solidFill>
          <a:ln/>
        </p:spPr>
      </p:sp>
      <p:sp>
        <p:nvSpPr>
          <p:cNvPr id="48" name="Shape 46"/>
          <p:cNvSpPr/>
          <p:nvPr/>
        </p:nvSpPr>
        <p:spPr>
          <a:xfrm>
            <a:off x="8229600" y="4736592"/>
            <a:ext cx="2418143" cy="256032"/>
          </a:xfrm>
          <a:prstGeom prst="rect">
            <a:avLst/>
          </a:prstGeom>
          <a:solidFill>
            <a:srgbClr val="28DCC6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10698480" y="4663440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99.79%</a:t>
            </a:r>
            <a:endParaRPr lang="en-US" sz="1700" dirty="0"/>
          </a:p>
        </p:txBody>
      </p:sp>
      <p:sp>
        <p:nvSpPr>
          <p:cNvPr id="50" name="Text 48"/>
          <p:cNvSpPr txBox="1"/>
          <p:nvPr/>
        </p:nvSpPr>
        <p:spPr>
          <a:xfrm>
            <a:off x="6309360" y="51846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urine_bag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6309360" y="54589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453 / 453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8229600" y="5303520"/>
            <a:ext cx="2423160" cy="256032"/>
          </a:xfrm>
          <a:prstGeom prst="rect">
            <a:avLst/>
          </a:prstGeom>
          <a:solidFill>
            <a:srgbClr val="0F1E30"/>
          </a:solidFill>
          <a:ln/>
        </p:spPr>
      </p:sp>
      <p:sp>
        <p:nvSpPr>
          <p:cNvPr id="53" name="Shape 51"/>
          <p:cNvSpPr/>
          <p:nvPr/>
        </p:nvSpPr>
        <p:spPr>
          <a:xfrm>
            <a:off x="8229600" y="5303520"/>
            <a:ext cx="2423160" cy="256032"/>
          </a:xfrm>
          <a:prstGeom prst="rect">
            <a:avLst/>
          </a:prstGeom>
          <a:solidFill>
            <a:srgbClr val="5CE299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10698480" y="5230368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700" dirty="0"/>
          </a:p>
        </p:txBody>
      </p:sp>
      <p:sp>
        <p:nvSpPr>
          <p:cNvPr id="55" name="Shape 53"/>
          <p:cNvSpPr/>
          <p:nvPr/>
        </p:nvSpPr>
        <p:spPr>
          <a:xfrm>
            <a:off x="640080" y="5989320"/>
            <a:ext cx="10908792" cy="0"/>
          </a:xfrm>
          <a:prstGeom prst="line">
            <a:avLst/>
          </a:prstGeom>
          <a:noFill/>
          <a:ln w="12700">
            <a:solidFill>
              <a:srgbClr val="1D365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40080" y="60807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6B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SUBSET ONLY   ·   CLASSIFICATION ACCURACY   ·   NOT END-TO-END DETECTION ACCURACY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A8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IMPLEMENTATION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model pipeline to working API.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25880" y="1783080"/>
            <a:ext cx="9491472" cy="0"/>
          </a:xfrm>
          <a:prstGeom prst="line">
            <a:avLst/>
          </a:prstGeom>
          <a:noFill/>
          <a:ln w="19050">
            <a:solidFill>
              <a:srgbClr val="1D36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7008" y="1664208"/>
            <a:ext cx="237744" cy="237744"/>
          </a:xfrm>
          <a:prstGeom prst="ellipse">
            <a:avLst/>
          </a:prstGeom>
          <a:solidFill>
            <a:srgbClr val="06101C"/>
          </a:solidFill>
          <a:ln w="31750">
            <a:solidFill>
              <a:srgbClr val="9BB0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1783080"/>
            <a:ext cx="137160" cy="0"/>
          </a:xfrm>
          <a:prstGeom prst="line">
            <a:avLst/>
          </a:prstGeom>
          <a:noFill/>
          <a:ln w="19050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576072" y="205740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88920" y="1664208"/>
            <a:ext cx="237744" cy="237744"/>
          </a:xfrm>
          <a:prstGeom prst="ellipse">
            <a:avLst/>
          </a:prstGeom>
          <a:solidFill>
            <a:srgbClr val="06101C"/>
          </a:solidFill>
          <a:ln w="31750">
            <a:solidFill>
              <a:srgbClr val="9BB0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1783080"/>
            <a:ext cx="137160" cy="0"/>
          </a:xfrm>
          <a:prstGeom prst="line">
            <a:avLst/>
          </a:prstGeom>
          <a:noFill/>
          <a:ln w="19050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157984" y="205740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70832" y="1664208"/>
            <a:ext cx="237744" cy="237744"/>
          </a:xfrm>
          <a:prstGeom prst="ellipse">
            <a:avLst/>
          </a:prstGeom>
          <a:solidFill>
            <a:srgbClr val="06101C"/>
          </a:solidFill>
          <a:ln w="31750">
            <a:solidFill>
              <a:srgbClr val="5897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21224" y="1783080"/>
            <a:ext cx="137160" cy="0"/>
          </a:xfrm>
          <a:prstGeom prst="line">
            <a:avLst/>
          </a:prstGeom>
          <a:noFill/>
          <a:ln w="19050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3739896" y="205740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52744" y="1664208"/>
            <a:ext cx="237744" cy="237744"/>
          </a:xfrm>
          <a:prstGeom prst="ellipse">
            <a:avLst/>
          </a:prstGeom>
          <a:solidFill>
            <a:srgbClr val="06101C"/>
          </a:solidFill>
          <a:ln w="31750">
            <a:solidFill>
              <a:srgbClr val="28DC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03136" y="1783080"/>
            <a:ext cx="137160" cy="0"/>
          </a:xfrm>
          <a:prstGeom prst="line">
            <a:avLst/>
          </a:prstGeom>
          <a:noFill/>
          <a:ln w="19050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5321808" y="205740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534656" y="1664208"/>
            <a:ext cx="237744" cy="237744"/>
          </a:xfrm>
          <a:prstGeom prst="ellipse">
            <a:avLst/>
          </a:prstGeom>
          <a:solidFill>
            <a:srgbClr val="06101C"/>
          </a:solidFill>
          <a:ln w="31750">
            <a:solidFill>
              <a:srgbClr val="F6BE4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85048" y="1783080"/>
            <a:ext cx="137160" cy="0"/>
          </a:xfrm>
          <a:prstGeom prst="line">
            <a:avLst/>
          </a:prstGeom>
          <a:noFill/>
          <a:ln w="19050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6903720" y="205740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+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16568" y="1664208"/>
            <a:ext cx="237744" cy="237744"/>
          </a:xfrm>
          <a:prstGeom prst="ellipse">
            <a:avLst/>
          </a:prstGeom>
          <a:solidFill>
            <a:srgbClr val="06101C"/>
          </a:solidFill>
          <a:ln w="31750">
            <a:solidFill>
              <a:srgbClr val="9BB0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1783080"/>
            <a:ext cx="137160" cy="0"/>
          </a:xfrm>
          <a:prstGeom prst="line">
            <a:avLst/>
          </a:prstGeom>
          <a:noFill/>
          <a:ln w="19050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8485632" y="205740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698480" y="1664208"/>
            <a:ext cx="237744" cy="237744"/>
          </a:xfrm>
          <a:prstGeom prst="ellipse">
            <a:avLst/>
          </a:prstGeom>
          <a:solidFill>
            <a:srgbClr val="06101C"/>
          </a:solidFill>
          <a:ln w="31750">
            <a:solidFill>
              <a:srgbClr val="5CE29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67544" y="205740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29260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React 19 · TypeScript · Vite 8 · Tailwind CSS 4     →     Backend: FastAPI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3429000"/>
            <a:ext cx="10908792" cy="0"/>
          </a:xfrm>
          <a:prstGeom prst="line">
            <a:avLst/>
          </a:prstGeom>
          <a:noFill/>
          <a:ln w="12700">
            <a:solidFill>
              <a:srgbClr val="1D365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3611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40233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5F8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44805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5F8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/health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49377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5F8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/ready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53949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8DC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/predict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5394960" y="3611880"/>
            <a:ext cx="0" cy="2514600"/>
          </a:xfrm>
          <a:prstGeom prst="line">
            <a:avLst/>
          </a:prstGeom>
          <a:noFill/>
          <a:ln w="12700">
            <a:solidFill>
              <a:srgbClr val="1D365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760720" y="3611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B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INFERENCE EXAMPLE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76072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F8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plastic_42.jpg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8503920" y="384048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6B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1194.64 ms</a:t>
            </a:r>
            <a:endParaRPr lang="en-US" sz="3400" dirty="0"/>
          </a:p>
        </p:txBody>
      </p:sp>
      <p:sp>
        <p:nvSpPr>
          <p:cNvPr id="36" name="Shape 34"/>
          <p:cNvSpPr/>
          <p:nvPr/>
        </p:nvSpPr>
        <p:spPr>
          <a:xfrm>
            <a:off x="5760720" y="4526280"/>
            <a:ext cx="329184" cy="329184"/>
          </a:xfrm>
          <a:prstGeom prst="rect">
            <a:avLst/>
          </a:prstGeom>
          <a:solidFill>
            <a:srgbClr val="5CE299"/>
          </a:solidFill>
          <a:ln w="19050">
            <a:solidFill>
              <a:srgbClr val="5CE29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4526280"/>
            <a:ext cx="329184" cy="329184"/>
          </a:xfrm>
          <a:prstGeom prst="rect">
            <a:avLst/>
          </a:prstGeom>
          <a:solidFill>
            <a:srgbClr val="5CE299"/>
          </a:solidFill>
          <a:ln w="19050">
            <a:solidFill>
              <a:srgbClr val="5CE29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75120" y="4526280"/>
            <a:ext cx="329184" cy="329184"/>
          </a:xfrm>
          <a:prstGeom prst="rect">
            <a:avLst/>
          </a:prstGeom>
          <a:ln w="19050">
            <a:solidFill>
              <a:srgbClr val="6A809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32320" y="4526280"/>
            <a:ext cx="329184" cy="329184"/>
          </a:xfrm>
          <a:prstGeom prst="rect">
            <a:avLst/>
          </a:prstGeom>
          <a:ln w="19050">
            <a:solidFill>
              <a:srgbClr val="6A809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89520" y="4526280"/>
            <a:ext cx="329184" cy="329184"/>
          </a:xfrm>
          <a:prstGeom prst="rect">
            <a:avLst/>
          </a:prstGeom>
          <a:ln w="19050">
            <a:solidFill>
              <a:srgbClr val="6A809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46720" y="4526280"/>
            <a:ext cx="329184" cy="329184"/>
          </a:xfrm>
          <a:prstGeom prst="rect">
            <a:avLst/>
          </a:prstGeom>
          <a:ln w="19050">
            <a:solidFill>
              <a:srgbClr val="6A809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03920" y="4526280"/>
            <a:ext cx="329184" cy="329184"/>
          </a:xfrm>
          <a:prstGeom prst="rect">
            <a:avLst/>
          </a:prstGeom>
          <a:ln w="19050">
            <a:solidFill>
              <a:srgbClr val="6A809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61120" y="4526280"/>
            <a:ext cx="329184" cy="329184"/>
          </a:xfrm>
          <a:prstGeom prst="rect">
            <a:avLst/>
          </a:prstGeom>
          <a:ln w="19050">
            <a:solidFill>
              <a:srgbClr val="6A809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418320" y="4526280"/>
            <a:ext cx="329184" cy="329184"/>
          </a:xfrm>
          <a:prstGeom prst="rect">
            <a:avLst/>
          </a:prstGeom>
          <a:ln w="19050">
            <a:solidFill>
              <a:srgbClr val="6A809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875520" y="4526280"/>
            <a:ext cx="329184" cy="329184"/>
          </a:xfrm>
          <a:prstGeom prst="rect">
            <a:avLst/>
          </a:prstGeom>
          <a:ln w="19050">
            <a:solidFill>
              <a:srgbClr val="6A809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760720" y="4919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raw detections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925312" y="5230368"/>
            <a:ext cx="0" cy="237744"/>
          </a:xfrm>
          <a:prstGeom prst="line">
            <a:avLst/>
          </a:prstGeom>
          <a:noFill/>
          <a:ln w="19050">
            <a:solidFill>
              <a:srgbClr val="6A8099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5760720" y="5504688"/>
            <a:ext cx="329184" cy="329184"/>
          </a:xfrm>
          <a:prstGeom prst="rect">
            <a:avLst/>
          </a:prstGeom>
          <a:solidFill>
            <a:srgbClr val="5CE299"/>
          </a:solidFill>
          <a:ln w="19050">
            <a:solidFill>
              <a:srgbClr val="5CE29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17920" y="5504688"/>
            <a:ext cx="329184" cy="329184"/>
          </a:xfrm>
          <a:prstGeom prst="rect">
            <a:avLst/>
          </a:prstGeom>
          <a:solidFill>
            <a:srgbClr val="5CE299"/>
          </a:solidFill>
          <a:ln w="19050">
            <a:solidFill>
              <a:srgbClr val="5CE299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766560" y="55046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E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accepted</a:t>
            </a:r>
            <a:endParaRPr lang="en-US" sz="2000" dirty="0"/>
          </a:p>
        </p:txBody>
      </p:sp>
      <p:sp>
        <p:nvSpPr>
          <p:cNvPr id="51" name="Text 49"/>
          <p:cNvSpPr txBox="1"/>
          <p:nvPr/>
        </p:nvSpPr>
        <p:spPr>
          <a:xfrm>
            <a:off x="5760720" y="59893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6B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example inference — not an average benchmark.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A8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stronger detection. Keep the guardrails.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640080" cy="0"/>
          </a:xfrm>
          <a:prstGeom prst="line">
            <a:avLst/>
          </a:prstGeom>
          <a:noFill/>
          <a:ln w="38100">
            <a:solidFill>
              <a:srgbClr val="28DC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4652" y="2135124"/>
            <a:ext cx="118872" cy="118872"/>
          </a:xfrm>
          <a:prstGeom prst="ellipse">
            <a:avLst/>
          </a:prstGeom>
          <a:solidFill>
            <a:srgbClr val="28DCC6"/>
          </a:solidFill>
          <a:ln w="19050">
            <a:solidFill>
              <a:srgbClr val="28DC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05740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4652" y="2647188"/>
            <a:ext cx="118872" cy="118872"/>
          </a:xfrm>
          <a:prstGeom prst="ellipse">
            <a:avLst/>
          </a:prstGeom>
          <a:solidFill>
            <a:srgbClr val="28DCC6"/>
          </a:solidFill>
          <a:ln w="19050">
            <a:solidFill>
              <a:srgbClr val="28DCC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569464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classification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4652" y="3159252"/>
            <a:ext cx="118872" cy="118872"/>
          </a:xfrm>
          <a:prstGeom prst="ellipse">
            <a:avLst/>
          </a:prstGeom>
          <a:solidFill>
            <a:srgbClr val="28DCC6"/>
          </a:solidFill>
          <a:ln w="19050">
            <a:solidFill>
              <a:srgbClr val="28DCC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08152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rejection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4652" y="3671316"/>
            <a:ext cx="118872" cy="118872"/>
          </a:xfrm>
          <a:prstGeom prst="ellipse">
            <a:avLst/>
          </a:prstGeom>
          <a:solidFill>
            <a:srgbClr val="28DCC6"/>
          </a:solidFill>
          <a:ln w="19050">
            <a:solidFill>
              <a:srgbClr val="28DCC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59359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compatibility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4652" y="4183380"/>
            <a:ext cx="118872" cy="118872"/>
          </a:xfrm>
          <a:prstGeom prst="ellipse">
            <a:avLst/>
          </a:prstGeom>
          <a:solidFill>
            <a:srgbClr val="28DCC6"/>
          </a:solidFill>
          <a:ln w="19050">
            <a:solidFill>
              <a:srgbClr val="28DCC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10565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guidance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160520" y="1463040"/>
            <a:ext cx="0" cy="3383280"/>
          </a:xfrm>
          <a:prstGeom prst="line">
            <a:avLst/>
          </a:prstGeom>
          <a:noFill/>
          <a:ln w="12700">
            <a:solidFill>
              <a:srgbClr val="1D365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89120" y="1463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6B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0" y="1810512"/>
            <a:ext cx="640080" cy="0"/>
          </a:xfrm>
          <a:prstGeom prst="line">
            <a:avLst/>
          </a:prstGeom>
          <a:noFill/>
          <a:ln w="38100">
            <a:solidFill>
              <a:srgbClr val="F6BE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93692" y="2135124"/>
            <a:ext cx="118872" cy="118872"/>
          </a:xfrm>
          <a:prstGeom prst="ellipse">
            <a:avLst/>
          </a:prstGeom>
          <a:solidFill>
            <a:srgbClr val="F6BE43"/>
          </a:solidFill>
          <a:ln w="19050">
            <a:solidFill>
              <a:srgbClr val="F6BE4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63440" y="20574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is strong on evaluated subsets.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393692" y="3049524"/>
            <a:ext cx="118872" cy="118872"/>
          </a:xfrm>
          <a:prstGeom prst="ellipse">
            <a:avLst/>
          </a:prstGeom>
          <a:solidFill>
            <a:srgbClr val="F6BE43"/>
          </a:solidFill>
          <a:ln w="19050">
            <a:solidFill>
              <a:srgbClr val="F6BE4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63440" y="2971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detector remains the primary bottleneck.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393692" y="3963924"/>
            <a:ext cx="118872" cy="118872"/>
          </a:xfrm>
          <a:prstGeom prst="ellipse">
            <a:avLst/>
          </a:prstGeom>
          <a:solidFill>
            <a:srgbClr val="F6BE43"/>
          </a:solidFill>
          <a:ln w="19050">
            <a:solidFill>
              <a:srgbClr val="F6BE4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63440" y="3886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 supports strong classifier performance on the supported subset.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909560" y="1463040"/>
            <a:ext cx="0" cy="3383280"/>
          </a:xfrm>
          <a:prstGeom prst="line">
            <a:avLst/>
          </a:prstGeom>
          <a:noFill/>
          <a:ln w="12700">
            <a:solidFill>
              <a:srgbClr val="1D365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38160" y="1463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38160" y="1810512"/>
            <a:ext cx="640080" cy="0"/>
          </a:xfrm>
          <a:prstGeom prst="line">
            <a:avLst/>
          </a:prstGeom>
          <a:noFill/>
          <a:ln w="38100">
            <a:solidFill>
              <a:srgbClr val="28DCC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42732" y="2135124"/>
            <a:ext cx="118872" cy="118872"/>
          </a:xfrm>
          <a:prstGeom prst="ellipse">
            <a:avLst/>
          </a:prstGeom>
          <a:solidFill>
            <a:srgbClr val="28DCC6"/>
          </a:solidFill>
          <a:ln w="19050">
            <a:solidFill>
              <a:srgbClr val="28DCC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412480" y="205740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detector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8142732" y="2647188"/>
            <a:ext cx="118872" cy="118872"/>
          </a:xfrm>
          <a:prstGeom prst="ellipse">
            <a:avLst/>
          </a:prstGeom>
          <a:solidFill>
            <a:srgbClr val="28DCC6"/>
          </a:solidFill>
          <a:ln w="19050">
            <a:solidFill>
              <a:srgbClr val="28DCC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12480" y="2569464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small-object detection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8142732" y="3159252"/>
            <a:ext cx="118872" cy="118872"/>
          </a:xfrm>
          <a:prstGeom prst="ellipse">
            <a:avLst/>
          </a:prstGeom>
          <a:solidFill>
            <a:srgbClr val="28DCC6"/>
          </a:solidFill>
          <a:ln w="19050">
            <a:solidFill>
              <a:srgbClr val="28DCC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412480" y="308152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real-world data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8142732" y="3671316"/>
            <a:ext cx="118872" cy="118872"/>
          </a:xfrm>
          <a:prstGeom prst="ellipse">
            <a:avLst/>
          </a:prstGeom>
          <a:solidFill>
            <a:srgbClr val="28DCC6"/>
          </a:solidFill>
          <a:ln w="19050">
            <a:solidFill>
              <a:srgbClr val="28DCC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359359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robust end-to-end evaluation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8142732" y="4183380"/>
            <a:ext cx="118872" cy="118872"/>
          </a:xfrm>
          <a:prstGeom prst="ellipse">
            <a:avLst/>
          </a:prstGeom>
          <a:solidFill>
            <a:srgbClr val="28DCC6"/>
          </a:solidFill>
          <a:ln w="19050">
            <a:solidFill>
              <a:srgbClr val="28DCC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412480" y="410565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640080" y="5120640"/>
            <a:ext cx="10908792" cy="0"/>
          </a:xfrm>
          <a:prstGeom prst="line">
            <a:avLst/>
          </a:prstGeom>
          <a:noFill/>
          <a:ln w="12700">
            <a:solidFill>
              <a:srgbClr val="1D365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" y="5285232"/>
            <a:ext cx="10908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28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AI system must know when not to guess.</a:t>
            </a:r>
            <a:endParaRPr lang="en-US" sz="32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60807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Drashtant Mevada · Smit Rathod · Nirav Panwala · Krish Tandel · Ronak Solanki   |   Computer Engineering, SCET, Sarvajanik University, Surat · 2026–27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A8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steWise Dark">
  <a:themeElements>
    <a:clrScheme name="WasteWise Dark">
      <a:dk1>
        <a:srgbClr val="06101C"/>
      </a:dk1>
      <a:lt1>
        <a:srgbClr val="F5F8FC"/>
      </a:lt1>
      <a:dk2>
        <a:srgbClr val="0F1E30"/>
      </a:dk2>
      <a:lt2>
        <a:srgbClr val="9BB0C7"/>
      </a:lt2>
      <a:accent1>
        <a:srgbClr val="28DCC6"/>
      </a:accent1>
      <a:accent2>
        <a:srgbClr val="5897FF"/>
      </a:accent2>
      <a:accent3>
        <a:srgbClr val="F6BE43"/>
      </a:accent3>
      <a:accent4>
        <a:srgbClr val="5CE299"/>
      </a:accent4>
      <a:accent5>
        <a:srgbClr val="A674FF"/>
      </a:accent5>
      <a:accent6>
        <a:srgbClr val="F45B69"/>
      </a:accent6>
      <a:hlink>
        <a:srgbClr val="5897FF"/>
      </a:hlink>
      <a:folHlink>
        <a:srgbClr val="A674FF"/>
      </a:folHlink>
    </a:clrScheme>
    <a:fontScheme name="WasteWise Dar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Sarvajanik College of Engineering &amp;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WasteWise AI: Intelligent Multi-Class Waste Detection and Classification Using Neural Networks</dc:title>
  <dc:subject>Open Ended Assignment in Artificial Intelligence, 2026–27</dc:subject>
  <dc:creator>Drashtant Mevada, Smit Rathod, Nirav Panwala, Krish Tandel, Ronak Solanki</dc:creator>
  <cp:lastModifiedBy>Drashtant Mevada, Smit Rathod, Nirav Panwala, Krish Tandel, Ronak Solanki</cp:lastModifiedBy>
  <cp:revision>1</cp:revision>
  <dcterms:created xsi:type="dcterms:W3CDTF">2026-10-17T17:48:51Z</dcterms:created>
  <dcterms:modified xsi:type="dcterms:W3CDTF">2026-10-17T17:48:51Z</dcterms:modified>
</cp:coreProperties>
</file>